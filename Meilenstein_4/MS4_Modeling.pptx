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3" r:id="rId5"/>
    <p:sldId id="262" r:id="rId6"/>
    <p:sldId id="260" r:id="rId7"/>
    <p:sldId id="265" r:id="rId8"/>
    <p:sldId id="264" r:id="rId9"/>
    <p:sldId id="261" r:id="rId10"/>
    <p:sldId id="266" r:id="rId11"/>
    <p:sldId id="267" r:id="rId12"/>
    <p:sldId id="269" r:id="rId13"/>
    <p:sldId id="270" r:id="rId14"/>
    <p:sldId id="272" r:id="rId15"/>
    <p:sldId id="279" r:id="rId16"/>
    <p:sldId id="273" r:id="rId17"/>
    <p:sldId id="274" r:id="rId18"/>
    <p:sldId id="280" r:id="rId19"/>
    <p:sldId id="281" r:id="rId20"/>
    <p:sldId id="278" r:id="rId21"/>
    <p:sldId id="277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D"/>
    <a:srgbClr val="C9D4F3"/>
    <a:srgbClr val="1E3A8A"/>
    <a:srgbClr val="10B981"/>
    <a:srgbClr val="828282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AA9C5-D38E-EF85-5A34-7F4040459612}" v="32" dt="2026-07-06T15:46:15.255"/>
    <p1510:client id="{7066F53B-9DCC-E878-0CE4-3EF20F47067E}" v="3" dt="2026-07-06T18:37:30.857"/>
    <p1510:client id="{81B08835-B7AB-AF17-7E78-428AE2E76E29}" v="200" dt="2026-07-06T17:05:39.945"/>
    <p1510:client id="{831F3660-425A-430B-841E-A61E2790F2CF}" v="429" dt="2026-07-06T16:51:38.987"/>
    <p1510:client id="{8DDDE7CF-0279-7951-3D00-9D88D5483CF6}" v="25" dt="2026-07-06T15:43:01.315"/>
    <p1510:client id="{A72F635D-BC95-4159-9BB8-83F2005DC122}" v="432" dt="2026-07-06T17:02:28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6:28.5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50,'0'-2,"1"1,-1 0,0 0,1 0,0 0,-1 0,1 0,-1 0,1 1,0-1,0 0,0 0,-1 0,1 1,0-1,0 0,0 1,0-1,0 1,0-1,0 1,0 0,0-1,1 1,-1 0,0 0,2-1,36-3,-34 4,72-2,-48 2,-1-1,1-1,37-8,-37 5,0 1,1 2,51 3,-45-1,-15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6:31.2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0,'53'1,"1"2,61 12,-81-11,1-1,46-3,-45-1,-16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6:51.7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7:59.9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50,'0'-2,"1"0,-1 0,1-1,0 1,0 0,0 0,0 0,0 1,0-1,0 0,1 0,-1 1,1-1,-1 0,1 1,0 0,-1-1,1 1,0 0,0 0,0 0,0 0,0 0,0 0,0 1,1-1,-1 1,0-1,2 1,66-8,-69 8,337 2,-317-2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8:01.6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0,'648'0,"-628"0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8:06.6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1,'720'0,"-699"0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8:08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2,'109'-2,"119"5,-157 9,-50-8,0 0,33 1,42-6,-75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9:13.0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1,'75'1,"116"17,-91-9,15 2,-51-3,1-3,117-6,-61-2,213 3,-313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6:28.5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50,'0'-2,"1"1,-1 0,0 0,1 0,0 0,-1 0,1 0,-1 0,1 1,0-1,0 0,0 0,-1 0,1 1,0-1,0 0,0 1,0-1,0 1,0-1,0 1,0 0,0-1,1 1,-1 0,0 0,2-1,36-3,-34 4,72-2,-48 2,-1-1,1-1,37-8,-37 5,0 1,1 2,51 3,-45-1,-15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6:31.2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0,'53'1,"1"2,61 12,-81-11,1-1,46-3,-45-1,-16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6:51.7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8:06.6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1,'720'0,"-699"0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5T15:38:08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2,'109'-2,"119"5,-157 9,-50-8,0 0,33 1,42-6,-75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customXml" Target="../ink/ink2.xml"/><Relationship Id="rId15" Type="http://schemas.openxmlformats.org/officeDocument/2006/relationships/image" Target="../media/image9.png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8E83E4-FDFD-A8F2-A5DB-F30CCD3C5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Anfoderung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93B3C1-BE7B-E53A-814C-50FE3BBA73D8}"/>
              </a:ext>
            </a:extLst>
          </p:cNvPr>
          <p:cNvSpPr>
            <a:spLocks noGrp="1"/>
          </p:cNvSpPr>
          <p:nvPr>
            <p:ph idx="1"/>
          </p:nvPr>
        </p:nvSpPr>
        <p:spPr>
          <a:custGeom>
            <a:avLst/>
            <a:gdLst>
              <a:gd name="csX0" fmla="*/ 0 w 10515600"/>
              <a:gd name="csY0" fmla="*/ 0 h 4351338"/>
              <a:gd name="csX1" fmla="*/ 552069 w 10515600"/>
              <a:gd name="csY1" fmla="*/ 0 h 4351338"/>
              <a:gd name="csX2" fmla="*/ 998982 w 10515600"/>
              <a:gd name="csY2" fmla="*/ 0 h 4351338"/>
              <a:gd name="csX3" fmla="*/ 1445895 w 10515600"/>
              <a:gd name="csY3" fmla="*/ 0 h 4351338"/>
              <a:gd name="csX4" fmla="*/ 1787652 w 10515600"/>
              <a:gd name="csY4" fmla="*/ 0 h 4351338"/>
              <a:gd name="csX5" fmla="*/ 2129409 w 10515600"/>
              <a:gd name="csY5" fmla="*/ 0 h 4351338"/>
              <a:gd name="csX6" fmla="*/ 2471166 w 10515600"/>
              <a:gd name="csY6" fmla="*/ 0 h 4351338"/>
              <a:gd name="csX7" fmla="*/ 3233547 w 10515600"/>
              <a:gd name="csY7" fmla="*/ 0 h 4351338"/>
              <a:gd name="csX8" fmla="*/ 3575304 w 10515600"/>
              <a:gd name="csY8" fmla="*/ 0 h 4351338"/>
              <a:gd name="csX9" fmla="*/ 4022217 w 10515600"/>
              <a:gd name="csY9" fmla="*/ 0 h 4351338"/>
              <a:gd name="csX10" fmla="*/ 4469130 w 10515600"/>
              <a:gd name="csY10" fmla="*/ 0 h 4351338"/>
              <a:gd name="csX11" fmla="*/ 5336667 w 10515600"/>
              <a:gd name="csY11" fmla="*/ 0 h 4351338"/>
              <a:gd name="csX12" fmla="*/ 5678424 w 10515600"/>
              <a:gd name="csY12" fmla="*/ 0 h 4351338"/>
              <a:gd name="csX13" fmla="*/ 6020181 w 10515600"/>
              <a:gd name="csY13" fmla="*/ 0 h 4351338"/>
              <a:gd name="csX14" fmla="*/ 6887718 w 10515600"/>
              <a:gd name="csY14" fmla="*/ 0 h 4351338"/>
              <a:gd name="csX15" fmla="*/ 7334631 w 10515600"/>
              <a:gd name="csY15" fmla="*/ 0 h 4351338"/>
              <a:gd name="csX16" fmla="*/ 7886700 w 10515600"/>
              <a:gd name="csY16" fmla="*/ 0 h 4351338"/>
              <a:gd name="csX17" fmla="*/ 8754237 w 10515600"/>
              <a:gd name="csY17" fmla="*/ 0 h 4351338"/>
              <a:gd name="csX18" fmla="*/ 9516618 w 10515600"/>
              <a:gd name="csY18" fmla="*/ 0 h 4351338"/>
              <a:gd name="csX19" fmla="*/ 10515600 w 10515600"/>
              <a:gd name="csY19" fmla="*/ 0 h 4351338"/>
              <a:gd name="csX20" fmla="*/ 10515600 w 10515600"/>
              <a:gd name="csY20" fmla="*/ 491080 h 4351338"/>
              <a:gd name="csX21" fmla="*/ 10515600 w 10515600"/>
              <a:gd name="csY21" fmla="*/ 1025673 h 4351338"/>
              <a:gd name="csX22" fmla="*/ 10515600 w 10515600"/>
              <a:gd name="csY22" fmla="*/ 1516752 h 4351338"/>
              <a:gd name="csX23" fmla="*/ 10515600 w 10515600"/>
              <a:gd name="csY23" fmla="*/ 2094858 h 4351338"/>
              <a:gd name="csX24" fmla="*/ 10515600 w 10515600"/>
              <a:gd name="csY24" fmla="*/ 2803505 h 4351338"/>
              <a:gd name="csX25" fmla="*/ 10515600 w 10515600"/>
              <a:gd name="csY25" fmla="*/ 3425125 h 4351338"/>
              <a:gd name="csX26" fmla="*/ 10515600 w 10515600"/>
              <a:gd name="csY26" fmla="*/ 4351338 h 4351338"/>
              <a:gd name="csX27" fmla="*/ 10173843 w 10515600"/>
              <a:gd name="csY27" fmla="*/ 4351338 h 4351338"/>
              <a:gd name="csX28" fmla="*/ 9306306 w 10515600"/>
              <a:gd name="csY28" fmla="*/ 4351338 h 4351338"/>
              <a:gd name="csX29" fmla="*/ 8964549 w 10515600"/>
              <a:gd name="csY29" fmla="*/ 4351338 h 4351338"/>
              <a:gd name="csX30" fmla="*/ 8622792 w 10515600"/>
              <a:gd name="csY30" fmla="*/ 4351338 h 4351338"/>
              <a:gd name="csX31" fmla="*/ 7860411 w 10515600"/>
              <a:gd name="csY31" fmla="*/ 4351338 h 4351338"/>
              <a:gd name="csX32" fmla="*/ 7518654 w 10515600"/>
              <a:gd name="csY32" fmla="*/ 4351338 h 4351338"/>
              <a:gd name="csX33" fmla="*/ 6966585 w 10515600"/>
              <a:gd name="csY33" fmla="*/ 4351338 h 4351338"/>
              <a:gd name="csX34" fmla="*/ 6624828 w 10515600"/>
              <a:gd name="csY34" fmla="*/ 4351338 h 4351338"/>
              <a:gd name="csX35" fmla="*/ 6283071 w 10515600"/>
              <a:gd name="csY35" fmla="*/ 4351338 h 4351338"/>
              <a:gd name="csX36" fmla="*/ 5520690 w 10515600"/>
              <a:gd name="csY36" fmla="*/ 4351338 h 4351338"/>
              <a:gd name="csX37" fmla="*/ 4758309 w 10515600"/>
              <a:gd name="csY37" fmla="*/ 4351338 h 4351338"/>
              <a:gd name="csX38" fmla="*/ 3890772 w 10515600"/>
              <a:gd name="csY38" fmla="*/ 4351338 h 4351338"/>
              <a:gd name="csX39" fmla="*/ 3233547 w 10515600"/>
              <a:gd name="csY39" fmla="*/ 4351338 h 4351338"/>
              <a:gd name="csX40" fmla="*/ 2786634 w 10515600"/>
              <a:gd name="csY40" fmla="*/ 4351338 h 4351338"/>
              <a:gd name="csX41" fmla="*/ 2024253 w 10515600"/>
              <a:gd name="csY41" fmla="*/ 4351338 h 4351338"/>
              <a:gd name="csX42" fmla="*/ 1156716 w 10515600"/>
              <a:gd name="csY42" fmla="*/ 4351338 h 4351338"/>
              <a:gd name="csX43" fmla="*/ 0 w 10515600"/>
              <a:gd name="csY43" fmla="*/ 4351338 h 4351338"/>
              <a:gd name="csX44" fmla="*/ 0 w 10515600"/>
              <a:gd name="csY44" fmla="*/ 3860258 h 4351338"/>
              <a:gd name="csX45" fmla="*/ 0 w 10515600"/>
              <a:gd name="csY45" fmla="*/ 3282152 h 4351338"/>
              <a:gd name="csX46" fmla="*/ 0 w 10515600"/>
              <a:gd name="csY46" fmla="*/ 2791073 h 4351338"/>
              <a:gd name="csX47" fmla="*/ 0 w 10515600"/>
              <a:gd name="csY47" fmla="*/ 2082426 h 4351338"/>
              <a:gd name="csX48" fmla="*/ 0 w 10515600"/>
              <a:gd name="csY48" fmla="*/ 1547833 h 4351338"/>
              <a:gd name="csX49" fmla="*/ 0 w 10515600"/>
              <a:gd name="csY49" fmla="*/ 969727 h 4351338"/>
              <a:gd name="csX50" fmla="*/ 0 w 10515600"/>
              <a:gd name="csY50" fmla="*/ 0 h 4351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4351338" extrusionOk="0">
                <a:moveTo>
                  <a:pt x="0" y="0"/>
                </a:moveTo>
                <a:cubicBezTo>
                  <a:pt x="173684" y="9840"/>
                  <a:pt x="431964" y="7205"/>
                  <a:pt x="552069" y="0"/>
                </a:cubicBezTo>
                <a:cubicBezTo>
                  <a:pt x="672174" y="-7205"/>
                  <a:pt x="851106" y="-1535"/>
                  <a:pt x="998982" y="0"/>
                </a:cubicBezTo>
                <a:cubicBezTo>
                  <a:pt x="1146858" y="1535"/>
                  <a:pt x="1224902" y="10410"/>
                  <a:pt x="1445895" y="0"/>
                </a:cubicBezTo>
                <a:cubicBezTo>
                  <a:pt x="1666888" y="-10410"/>
                  <a:pt x="1627632" y="-2999"/>
                  <a:pt x="1787652" y="0"/>
                </a:cubicBezTo>
                <a:cubicBezTo>
                  <a:pt x="1947672" y="2999"/>
                  <a:pt x="2007129" y="6836"/>
                  <a:pt x="2129409" y="0"/>
                </a:cubicBezTo>
                <a:cubicBezTo>
                  <a:pt x="2251689" y="-6836"/>
                  <a:pt x="2328212" y="-7182"/>
                  <a:pt x="2471166" y="0"/>
                </a:cubicBezTo>
                <a:cubicBezTo>
                  <a:pt x="2614120" y="7182"/>
                  <a:pt x="3064542" y="-19263"/>
                  <a:pt x="3233547" y="0"/>
                </a:cubicBezTo>
                <a:cubicBezTo>
                  <a:pt x="3402552" y="19263"/>
                  <a:pt x="3431988" y="-8478"/>
                  <a:pt x="3575304" y="0"/>
                </a:cubicBezTo>
                <a:cubicBezTo>
                  <a:pt x="3718620" y="8478"/>
                  <a:pt x="3899481" y="20547"/>
                  <a:pt x="4022217" y="0"/>
                </a:cubicBezTo>
                <a:cubicBezTo>
                  <a:pt x="4144953" y="-20547"/>
                  <a:pt x="4298660" y="18577"/>
                  <a:pt x="4469130" y="0"/>
                </a:cubicBezTo>
                <a:cubicBezTo>
                  <a:pt x="4639600" y="-18577"/>
                  <a:pt x="5039326" y="-20424"/>
                  <a:pt x="5336667" y="0"/>
                </a:cubicBezTo>
                <a:cubicBezTo>
                  <a:pt x="5634008" y="20424"/>
                  <a:pt x="5511118" y="13388"/>
                  <a:pt x="5678424" y="0"/>
                </a:cubicBezTo>
                <a:cubicBezTo>
                  <a:pt x="5845730" y="-13388"/>
                  <a:pt x="5943982" y="-8604"/>
                  <a:pt x="6020181" y="0"/>
                </a:cubicBezTo>
                <a:cubicBezTo>
                  <a:pt x="6096380" y="8604"/>
                  <a:pt x="6630199" y="4557"/>
                  <a:pt x="6887718" y="0"/>
                </a:cubicBezTo>
                <a:cubicBezTo>
                  <a:pt x="7145237" y="-4557"/>
                  <a:pt x="7146250" y="-21957"/>
                  <a:pt x="7334631" y="0"/>
                </a:cubicBezTo>
                <a:cubicBezTo>
                  <a:pt x="7523012" y="21957"/>
                  <a:pt x="7749338" y="-21676"/>
                  <a:pt x="7886700" y="0"/>
                </a:cubicBezTo>
                <a:cubicBezTo>
                  <a:pt x="8024062" y="21676"/>
                  <a:pt x="8550837" y="14693"/>
                  <a:pt x="8754237" y="0"/>
                </a:cubicBezTo>
                <a:cubicBezTo>
                  <a:pt x="8957637" y="-14693"/>
                  <a:pt x="9289298" y="35117"/>
                  <a:pt x="9516618" y="0"/>
                </a:cubicBezTo>
                <a:cubicBezTo>
                  <a:pt x="9743938" y="-35117"/>
                  <a:pt x="10268262" y="31106"/>
                  <a:pt x="10515600" y="0"/>
                </a:cubicBezTo>
                <a:cubicBezTo>
                  <a:pt x="10504335" y="137558"/>
                  <a:pt x="10497839" y="264398"/>
                  <a:pt x="10515600" y="491080"/>
                </a:cubicBezTo>
                <a:cubicBezTo>
                  <a:pt x="10533361" y="717762"/>
                  <a:pt x="10501351" y="758526"/>
                  <a:pt x="10515600" y="1025673"/>
                </a:cubicBezTo>
                <a:cubicBezTo>
                  <a:pt x="10529849" y="1292820"/>
                  <a:pt x="10527341" y="1361651"/>
                  <a:pt x="10515600" y="1516752"/>
                </a:cubicBezTo>
                <a:cubicBezTo>
                  <a:pt x="10503859" y="1671853"/>
                  <a:pt x="10530142" y="1961935"/>
                  <a:pt x="10515600" y="2094858"/>
                </a:cubicBezTo>
                <a:cubicBezTo>
                  <a:pt x="10501058" y="2227781"/>
                  <a:pt x="10514494" y="2548670"/>
                  <a:pt x="10515600" y="2803505"/>
                </a:cubicBezTo>
                <a:cubicBezTo>
                  <a:pt x="10516706" y="3058340"/>
                  <a:pt x="10488877" y="3183222"/>
                  <a:pt x="10515600" y="3425125"/>
                </a:cubicBezTo>
                <a:cubicBezTo>
                  <a:pt x="10542323" y="3667028"/>
                  <a:pt x="10523730" y="4140555"/>
                  <a:pt x="10515600" y="4351338"/>
                </a:cubicBezTo>
                <a:cubicBezTo>
                  <a:pt x="10426724" y="4335284"/>
                  <a:pt x="10300775" y="4338148"/>
                  <a:pt x="10173843" y="4351338"/>
                </a:cubicBezTo>
                <a:cubicBezTo>
                  <a:pt x="10046911" y="4364528"/>
                  <a:pt x="9481551" y="4354721"/>
                  <a:pt x="9306306" y="4351338"/>
                </a:cubicBezTo>
                <a:cubicBezTo>
                  <a:pt x="9131061" y="4347955"/>
                  <a:pt x="9086507" y="4352958"/>
                  <a:pt x="8964549" y="4351338"/>
                </a:cubicBezTo>
                <a:cubicBezTo>
                  <a:pt x="8842591" y="4349718"/>
                  <a:pt x="8781693" y="4341149"/>
                  <a:pt x="8622792" y="4351338"/>
                </a:cubicBezTo>
                <a:cubicBezTo>
                  <a:pt x="8463891" y="4361527"/>
                  <a:pt x="8015665" y="4333667"/>
                  <a:pt x="7860411" y="4351338"/>
                </a:cubicBezTo>
                <a:cubicBezTo>
                  <a:pt x="7705157" y="4369009"/>
                  <a:pt x="7669755" y="4347282"/>
                  <a:pt x="7518654" y="4351338"/>
                </a:cubicBezTo>
                <a:cubicBezTo>
                  <a:pt x="7367553" y="4355394"/>
                  <a:pt x="7161462" y="4325325"/>
                  <a:pt x="6966585" y="4351338"/>
                </a:cubicBezTo>
                <a:cubicBezTo>
                  <a:pt x="6771708" y="4377351"/>
                  <a:pt x="6751807" y="4352853"/>
                  <a:pt x="6624828" y="4351338"/>
                </a:cubicBezTo>
                <a:cubicBezTo>
                  <a:pt x="6497849" y="4349823"/>
                  <a:pt x="6372702" y="4343206"/>
                  <a:pt x="6283071" y="4351338"/>
                </a:cubicBezTo>
                <a:cubicBezTo>
                  <a:pt x="6193440" y="4359470"/>
                  <a:pt x="5754002" y="4330939"/>
                  <a:pt x="5520690" y="4351338"/>
                </a:cubicBezTo>
                <a:cubicBezTo>
                  <a:pt x="5287378" y="4371737"/>
                  <a:pt x="5012980" y="4329709"/>
                  <a:pt x="4758309" y="4351338"/>
                </a:cubicBezTo>
                <a:cubicBezTo>
                  <a:pt x="4503638" y="4372967"/>
                  <a:pt x="4205775" y="4394047"/>
                  <a:pt x="3890772" y="4351338"/>
                </a:cubicBezTo>
                <a:cubicBezTo>
                  <a:pt x="3575769" y="4308629"/>
                  <a:pt x="3426091" y="4363472"/>
                  <a:pt x="3233547" y="4351338"/>
                </a:cubicBezTo>
                <a:cubicBezTo>
                  <a:pt x="3041004" y="4339204"/>
                  <a:pt x="2890449" y="4364855"/>
                  <a:pt x="2786634" y="4351338"/>
                </a:cubicBezTo>
                <a:cubicBezTo>
                  <a:pt x="2682819" y="4337821"/>
                  <a:pt x="2205651" y="4346612"/>
                  <a:pt x="2024253" y="4351338"/>
                </a:cubicBezTo>
                <a:cubicBezTo>
                  <a:pt x="1842855" y="4356064"/>
                  <a:pt x="1391474" y="4354558"/>
                  <a:pt x="1156716" y="4351338"/>
                </a:cubicBezTo>
                <a:cubicBezTo>
                  <a:pt x="921958" y="4348118"/>
                  <a:pt x="400098" y="4338524"/>
                  <a:pt x="0" y="4351338"/>
                </a:cubicBezTo>
                <a:cubicBezTo>
                  <a:pt x="10673" y="4137213"/>
                  <a:pt x="6022" y="3965086"/>
                  <a:pt x="0" y="3860258"/>
                </a:cubicBezTo>
                <a:cubicBezTo>
                  <a:pt x="-6022" y="3755430"/>
                  <a:pt x="21064" y="3558507"/>
                  <a:pt x="0" y="3282152"/>
                </a:cubicBezTo>
                <a:cubicBezTo>
                  <a:pt x="-21064" y="3005797"/>
                  <a:pt x="-14930" y="2983089"/>
                  <a:pt x="0" y="2791073"/>
                </a:cubicBezTo>
                <a:cubicBezTo>
                  <a:pt x="14930" y="2599057"/>
                  <a:pt x="-14574" y="2256964"/>
                  <a:pt x="0" y="2082426"/>
                </a:cubicBezTo>
                <a:cubicBezTo>
                  <a:pt x="14574" y="1907888"/>
                  <a:pt x="-13995" y="1790767"/>
                  <a:pt x="0" y="1547833"/>
                </a:cubicBezTo>
                <a:cubicBezTo>
                  <a:pt x="13995" y="1304899"/>
                  <a:pt x="-9677" y="1148407"/>
                  <a:pt x="0" y="969727"/>
                </a:cubicBezTo>
                <a:cubicBezTo>
                  <a:pt x="9677" y="791047"/>
                  <a:pt x="-9606" y="277104"/>
                  <a:pt x="0" y="0"/>
                </a:cubicBezTo>
                <a:close/>
              </a:path>
            </a:pathLst>
          </a:custGeom>
          <a:noFill/>
          <a:ln w="57150">
            <a:solidFill>
              <a:srgbClr val="4472C4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curvedUp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für den Modeling und Evaluation Milestone nächste Woche bereiten Sie bitte Folgendes vor:</a:t>
            </a:r>
            <a:br>
              <a:rPr lang="de-DE"/>
            </a:br>
            <a:r>
              <a:rPr lang="de-DE"/>
              <a:t>- Wählen Sie 2-3 Clustering-Verfahren aus und wenden Sie sie auf Ihren Datensatz aus dem letzten Meilenstein an ✅</a:t>
            </a:r>
            <a:br>
              <a:rPr lang="de-DE"/>
            </a:br>
            <a:r>
              <a:rPr lang="de-DE"/>
              <a:t>- Bewerten und vergleichen Sie die Ergebnisse mittels ausgewählter Evaluationsmaße </a:t>
            </a:r>
            <a:r>
              <a:rPr lang="de-DE">
                <a:solidFill>
                  <a:srgbClr val="FF0000"/>
                </a:solidFill>
              </a:rPr>
              <a:t>✅</a:t>
            </a:r>
            <a:br>
              <a:rPr lang="de-DE"/>
            </a:br>
            <a:r>
              <a:rPr lang="de-DE"/>
              <a:t>- Visualisieren Sie die beiden besten </a:t>
            </a:r>
            <a:r>
              <a:rPr lang="de-DE" err="1"/>
              <a:t>Clusterings</a:t>
            </a:r>
            <a:r>
              <a:rPr lang="de-DE"/>
              <a:t> z.B. mit UMAP oder t-SNE oder auf der Karte (je nach Hypothese) ✅</a:t>
            </a:r>
            <a:br>
              <a:rPr lang="de-DE"/>
            </a:br>
            <a:r>
              <a:rPr lang="de-DE"/>
              <a:t>- Machen Sie einen Vorschlag, welches </a:t>
            </a:r>
            <a:r>
              <a:rPr lang="de-DE" err="1"/>
              <a:t>Clusteringergebnis</a:t>
            </a:r>
            <a:r>
              <a:rPr lang="de-DE"/>
              <a:t> Sie genauer (mit Blick auf die Hypothesen) analysieren wollen ✅</a:t>
            </a:r>
          </a:p>
        </p:txBody>
      </p:sp>
    </p:spTree>
    <p:extLst>
      <p:ext uri="{BB962C8B-B14F-4D97-AF65-F5344CB8AC3E}">
        <p14:creationId xmlns:p14="http://schemas.microsoft.com/office/powerpoint/2010/main" val="2105039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ideo 14" descr="Wolkenkratzer und Ortssymbole">
            <a:extLst>
              <a:ext uri="{FF2B5EF4-FFF2-40B4-BE49-F238E27FC236}">
                <a16:creationId xmlns:a16="http://schemas.microsoft.com/office/drawing/2014/main" id="{04690D7A-BD39-F392-FAAD-AA8B89FE71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3466" y="643467"/>
            <a:ext cx="9804401" cy="3569242"/>
          </a:xfr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algn="l"/>
            <a:r>
              <a:rPr lang="de-DE" sz="5200" err="1">
                <a:solidFill>
                  <a:srgbClr val="FFFFFF"/>
                </a:solidFill>
              </a:rPr>
              <a:t>Unsupervised</a:t>
            </a:r>
            <a:r>
              <a:rPr lang="de-DE" sz="5200">
                <a:solidFill>
                  <a:srgbClr val="FFFFFF"/>
                </a:solidFill>
              </a:rPr>
              <a:t> Learning Clustering Evaluation M4</a:t>
            </a:r>
            <a:br>
              <a:rPr lang="de-DE" sz="5400" b="1"/>
            </a:br>
            <a:endParaRPr lang="de-DE" sz="5200">
              <a:solidFill>
                <a:srgbClr val="FFFFFF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3467" y="5706533"/>
            <a:ext cx="7713134" cy="422558"/>
          </a:xfrm>
          <a:solidFill>
            <a:srgbClr val="828282">
              <a:alpha val="40000"/>
            </a:srgbClr>
          </a:solidFill>
          <a:ln>
            <a:noFill/>
          </a:ln>
          <a:effectLst>
            <a:outerShdw blurRad="107950" dist="12700" dir="5400000" algn="ctr">
              <a:srgbClr val="000000"/>
            </a:outerShdw>
            <a:softEdge rad="31750"/>
          </a:effectLst>
        </p:spPr>
        <p:txBody>
          <a:bodyPr anchor="b">
            <a:normAutofit lnSpcReduction="10000"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Joshua Schulz-Andres · Marian Kästner · David Schneider </a:t>
            </a:r>
            <a:endParaRPr lang="de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F5B1A719-6B35-5C02-6365-8B08BFB2C39A}"/>
              </a:ext>
            </a:extLst>
          </p:cNvPr>
          <p:cNvSpPr txBox="1"/>
          <p:nvPr/>
        </p:nvSpPr>
        <p:spPr>
          <a:xfrm>
            <a:off x="491067" y="541867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t>01 | RECAP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F399698E-AC2D-0B7D-8047-4B3B58ACD9C6}"/>
              </a:ext>
            </a:extLst>
          </p:cNvPr>
          <p:cNvSpPr txBox="1"/>
          <p:nvPr/>
        </p:nvSpPr>
        <p:spPr>
          <a:xfrm>
            <a:off x="491067" y="724747"/>
            <a:ext cx="52045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sz="2800" err="1">
                <a:latin typeface="Bahnschrift" panose="020B0502040204020203" pitchFamily="34" charset="0"/>
              </a:rPr>
              <a:t>Ausgangslage</a:t>
            </a:r>
            <a:r>
              <a:rPr lang="de-DE" sz="2800">
                <a:latin typeface="Bahnschrift" panose="020B0502040204020203" pitchFamily="34" charset="0"/>
              </a:rPr>
              <a:t> und Hypothesen</a:t>
            </a:r>
            <a:endParaRPr sz="2800">
              <a:latin typeface="Bahnschrift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751687D-5CCE-5547-579C-6555FA56E2A2}"/>
              </a:ext>
            </a:extLst>
          </p:cNvPr>
          <p:cNvSpPr txBox="1"/>
          <p:nvPr/>
        </p:nvSpPr>
        <p:spPr>
          <a:xfrm>
            <a:off x="536275" y="1453734"/>
            <a:ext cx="111194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>
                <a:latin typeface="+mj-lt"/>
              </a:rPr>
              <a:t>Status des bereinigten Datensatzes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Datenbasis: 21,420 bereinigte Datensätze, frei von Duplikaten und unplausiblen Ausreißern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Feature </a:t>
            </a:r>
            <a:r>
              <a:rPr lang="de-DE" err="1"/>
              <a:t>Selection</a:t>
            </a:r>
            <a:r>
              <a:rPr lang="de-DE"/>
              <a:t>: Reduktion auf 8 relevante Kern-Features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Transformationen: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/>
              <a:t>Schiefe Verteilungen wurden log-transformiert (z. B. Preis, Wohnfläche)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/>
              <a:t>Alle Variablen sind standardisiert (Mittelwert = 0, Standardabweichung = 1), um Distanzverzerrungen zu verhindern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4 strategischen Käufersegmente (Urbane Singles, Familien, Erstkäufer, Luxuskäufer)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4 Hypothesen</a:t>
            </a: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E8F0B6BC-B041-2CE7-2C24-F99A1F1B9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215255"/>
              </p:ext>
            </p:extLst>
          </p:nvPr>
        </p:nvGraphicFramePr>
        <p:xfrm>
          <a:off x="897588" y="4623833"/>
          <a:ext cx="9825046" cy="1854199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870121">
                  <a:extLst>
                    <a:ext uri="{9D8B030D-6E8A-4147-A177-3AD203B41FA5}">
                      <a16:colId xmlns:a16="http://schemas.microsoft.com/office/drawing/2014/main" val="1898218843"/>
                    </a:ext>
                  </a:extLst>
                </a:gridCol>
                <a:gridCol w="2825859">
                  <a:extLst>
                    <a:ext uri="{9D8B030D-6E8A-4147-A177-3AD203B41FA5}">
                      <a16:colId xmlns:a16="http://schemas.microsoft.com/office/drawing/2014/main" val="1309150528"/>
                    </a:ext>
                  </a:extLst>
                </a:gridCol>
                <a:gridCol w="6129066">
                  <a:extLst>
                    <a:ext uri="{9D8B030D-6E8A-4147-A177-3AD203B41FA5}">
                      <a16:colId xmlns:a16="http://schemas.microsoft.com/office/drawing/2014/main" val="3048319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Hyp.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Segment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Profil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332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H1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Familien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viel Wohn-/Grundstücksfläche, mehr Schlaf-/Badezimmer, eher außerhalb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15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H2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urbane Singles/Paare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kleinere Fläche, wenige Zimmer, zentrumsnah 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275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H3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Luxus-Käufer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hoher Preis, hoher `</a:t>
                      </a:r>
                      <a:r>
                        <a:rPr lang="de-DE" sz="1400" err="1">
                          <a:solidFill>
                            <a:schemeClr val="tx1"/>
                          </a:solidFill>
                        </a:rPr>
                        <a:t>luxury_score</a:t>
                      </a:r>
                      <a:r>
                        <a:rPr lang="de-DE" sz="1400">
                          <a:solidFill>
                            <a:schemeClr val="tx1"/>
                          </a:solidFill>
                        </a:rPr>
                        <a:t>`, viel Fläche 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18956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de-DE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>
                          <a:solidFill>
                            <a:srgbClr val="222222"/>
                          </a:solidFill>
                          <a:latin typeface="Calibri"/>
                        </a:rPr>
                        <a:t>Erstkäufer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>
                          <a:solidFill>
                            <a:srgbClr val="222222"/>
                          </a:solidFill>
                          <a:latin typeface="Calibri"/>
                        </a:rPr>
                        <a:t>niedriger Preis, klein, wenige Zimmer, Einstiegssegment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050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891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9B734-BD4B-1941-EA21-E52C4278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9E5D2A77-F3DC-839A-8564-BCA7C4874E82}"/>
              </a:ext>
            </a:extLst>
          </p:cNvPr>
          <p:cNvSpPr txBox="1"/>
          <p:nvPr/>
        </p:nvSpPr>
        <p:spPr>
          <a:xfrm>
            <a:off x="491067" y="724747"/>
            <a:ext cx="4961615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Anforderungen an das Modell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265C4DD-C2E6-5F56-9755-5B4115DF34B4}"/>
              </a:ext>
            </a:extLst>
          </p:cNvPr>
          <p:cNvSpPr txBox="1"/>
          <p:nvPr/>
        </p:nvSpPr>
        <p:spPr>
          <a:xfrm>
            <a:off x="491067" y="541867"/>
            <a:ext cx="1167307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02</a:t>
            </a:r>
            <a:r>
              <a:t> | </a:t>
            </a:r>
            <a:r>
              <a:rPr lang="de-DE"/>
              <a:t>Vorbereitung</a:t>
            </a:r>
            <a:endParaRPr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1EC469E-B4C6-C4B3-33EF-68DC6587ED0F}"/>
              </a:ext>
            </a:extLst>
          </p:cNvPr>
          <p:cNvSpPr txBox="1"/>
          <p:nvPr/>
        </p:nvSpPr>
        <p:spPr>
          <a:xfrm>
            <a:off x="808486" y="1637644"/>
            <a:ext cx="1111944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>
                <a:latin typeface="+mj-lt"/>
              </a:rPr>
              <a:t>Erklärbarkeit: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Das gewählte Modell muss für unsere Stakeholder (Makler und Management) nachvollziehbar sein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r>
              <a:rPr lang="de-DE" sz="2000" b="1">
                <a:latin typeface="+mj-lt"/>
              </a:rPr>
              <a:t>Kein Data Leakage: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Data Leakage: Modell "lernt" ungewollt Informationen über das Zielattribut, die zum Vorhersagezeitpunkt nicht verfügbar wären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err="1"/>
              <a:t>Unsupervised</a:t>
            </a:r>
            <a:r>
              <a:rPr lang="de-DE"/>
              <a:t> Learning hat kein Zielattribut =&gt; Leakage strukturell ausgeschlossen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Es gibt keine vorherzusagende Variable, wir suchen die Gruppen statt sie vorherzusagen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r>
              <a:rPr lang="de-DE" sz="2000" b="1">
                <a:latin typeface="+mj-lt"/>
              </a:rPr>
              <a:t>Harte Zuweisung: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Jedes Haus/jeder Kunde gehört zu genau einem Cluster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Beispiel Eindeutige Entscheidung: Kunde XYZ =&gt; Segment Luxus;  Kunde ABC =&gt; Segment Familie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852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F2C8-7F7B-7432-3843-1656F35A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1D96BDFE-B299-F6F1-04D3-62D95BADA26C}"/>
              </a:ext>
            </a:extLst>
          </p:cNvPr>
          <p:cNvSpPr txBox="1"/>
          <p:nvPr/>
        </p:nvSpPr>
        <p:spPr>
          <a:xfrm>
            <a:off x="491067" y="541867"/>
            <a:ext cx="910827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03</a:t>
            </a:r>
            <a:r>
              <a:t> | </a:t>
            </a:r>
            <a:r>
              <a:rPr lang="de-DE"/>
              <a:t>Auswahl</a:t>
            </a:r>
            <a:endParaRPr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A05775C-4513-4C79-F4FE-202369A5630A}"/>
              </a:ext>
            </a:extLst>
          </p:cNvPr>
          <p:cNvSpPr txBox="1"/>
          <p:nvPr/>
        </p:nvSpPr>
        <p:spPr>
          <a:xfrm>
            <a:off x="536275" y="1453734"/>
            <a:ext cx="1111944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>
                <a:latin typeface="+mj-lt"/>
              </a:rPr>
              <a:t>K-Means: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Distanzbasiert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Weist Datenpunkte fest dem nächsten </a:t>
            </a:r>
            <a:r>
              <a:rPr lang="de-DE" err="1"/>
              <a:t>Centroids</a:t>
            </a:r>
            <a:r>
              <a:rPr lang="de-DE"/>
              <a:t> zu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K-Means erlaubt es, die Anzahl der Gruppen (k=4) direkt vorzugeben (geschäftlich interpretierbar)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Einfachste, am weitesten verbreitete Standardverfahren 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r>
              <a:rPr lang="de-DE" sz="2000" b="1" err="1"/>
              <a:t>Hierarchical</a:t>
            </a:r>
            <a:r>
              <a:rPr lang="de-DE" sz="2000" b="1"/>
              <a:t> (Ward):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Hierarchisch, </a:t>
            </a:r>
            <a:r>
              <a:rPr lang="de-DE" err="1"/>
              <a:t>bottom-up</a:t>
            </a: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Jeder Punkt startet als eigenes Cluster, die ähnlichsten Gruppen werden schrittweise verschmolzen (bis k=4)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Ward-Kriterium minimiert die Varianz innerhalb der Cluster =&gt; gleiches Ziel wie K-Means, aber anderer Rechenweg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r>
              <a:rPr lang="de-DE" sz="2000" b="1">
                <a:latin typeface="+mj-lt"/>
              </a:rPr>
              <a:t>DBSCAN: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Dichtebasiert statt distanzbasiert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Sucht natürliche dichte Inseln statt fester Gruppenzahl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Dient als Gegenprobe: Prüft, ob überhaupt natürliche Clustergrenzen existieren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Ergebnis (97 % Noise) rechtfertigt im Nachhinein die Wahl eines partitionierenden Verfahrens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37225A6-7EE6-8DC0-AC83-C4507F6A354D}"/>
              </a:ext>
            </a:extLst>
          </p:cNvPr>
          <p:cNvSpPr txBox="1"/>
          <p:nvPr/>
        </p:nvSpPr>
        <p:spPr>
          <a:xfrm>
            <a:off x="491067" y="724747"/>
            <a:ext cx="574497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Auswahl der Clustering-Verfahren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47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56950-192E-D354-F3CD-D036922E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413319E7-4133-9720-9414-2DA11D4A35BD}"/>
              </a:ext>
            </a:extLst>
          </p:cNvPr>
          <p:cNvSpPr txBox="1"/>
          <p:nvPr/>
        </p:nvSpPr>
        <p:spPr>
          <a:xfrm>
            <a:off x="491067" y="724747"/>
            <a:ext cx="5756704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>
                <a:latin typeface="Bahnschrift"/>
              </a:rPr>
              <a:t>Herleitung Clusteranzahl K-Means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4942A6A-D0F3-69EE-8422-C3BB62E9DA47}"/>
              </a:ext>
            </a:extLst>
          </p:cNvPr>
          <p:cNvSpPr txBox="1"/>
          <p:nvPr/>
        </p:nvSpPr>
        <p:spPr>
          <a:xfrm>
            <a:off x="491067" y="541867"/>
            <a:ext cx="1962397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04</a:t>
            </a:r>
            <a:r>
              <a:t> | </a:t>
            </a:r>
            <a:r>
              <a:rPr lang="de-DE"/>
              <a:t>Vorbereitung Modellierung</a:t>
            </a:r>
            <a:endParaRPr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0F007E8-6286-C31D-0D72-65C3BEC64D3F}"/>
              </a:ext>
            </a:extLst>
          </p:cNvPr>
          <p:cNvSpPr txBox="1"/>
          <p:nvPr/>
        </p:nvSpPr>
        <p:spPr>
          <a:xfrm>
            <a:off x="632126" y="1453734"/>
            <a:ext cx="36095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>
                <a:latin typeface="Aptos Display"/>
              </a:rPr>
              <a:t>Elbow     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E62B7B6-9F92-D60E-D509-58F36B572A95}"/>
              </a:ext>
            </a:extLst>
          </p:cNvPr>
          <p:cNvSpPr txBox="1"/>
          <p:nvPr/>
        </p:nvSpPr>
        <p:spPr>
          <a:xfrm>
            <a:off x="4241641" y="1453734"/>
            <a:ext cx="36095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>
                <a:latin typeface="Aptos Display"/>
              </a:rPr>
              <a:t>Silhouette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D20079A-1153-B1DF-4424-5F32FC2795F0}"/>
              </a:ext>
            </a:extLst>
          </p:cNvPr>
          <p:cNvSpPr txBox="1"/>
          <p:nvPr/>
        </p:nvSpPr>
        <p:spPr>
          <a:xfrm>
            <a:off x="7851156" y="1453734"/>
            <a:ext cx="36095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>
                <a:latin typeface="Aptos Display"/>
              </a:rPr>
              <a:t>Davies-Bouldin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721BE4F-5BCD-B2AA-D785-A205F3A29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571"/>
          <a:stretch>
            <a:fillRect/>
          </a:stretch>
        </p:blipFill>
        <p:spPr>
          <a:xfrm>
            <a:off x="640752" y="1861332"/>
            <a:ext cx="3600890" cy="28000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DE00EB7-8028-A793-732B-E8AEADF8D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59" r="32708"/>
          <a:stretch>
            <a:fillRect/>
          </a:stretch>
        </p:blipFill>
        <p:spPr>
          <a:xfrm>
            <a:off x="4250267" y="1861332"/>
            <a:ext cx="3600890" cy="28000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33FD7B1-369C-6E0F-E8B9-BBF202DEF3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64"/>
          <a:stretch>
            <a:fillRect/>
          </a:stretch>
        </p:blipFill>
        <p:spPr>
          <a:xfrm>
            <a:off x="7859782" y="1862470"/>
            <a:ext cx="3600890" cy="27988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7046FD23-C2BF-C27B-3B12-85B64BCC5447}"/>
              </a:ext>
            </a:extLst>
          </p:cNvPr>
          <p:cNvSpPr txBox="1"/>
          <p:nvPr/>
        </p:nvSpPr>
        <p:spPr>
          <a:xfrm>
            <a:off x="536275" y="4824736"/>
            <a:ext cx="1111944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/>
              <a:t>Auswertung: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Elbow (SSE) hat keinen scharfen Knick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Die Silhouette-Kurve ist ab k=4 flach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Davies-Bouldin ist zwar bei k=7 minimal besser, aber der Unterschied zu k=4 ist klein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4 Cluster bilden fachlich hergeleiteten Käufer-Segmente am besten 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74585006-E43D-C261-64E6-3EF1D4C92E0B}"/>
                  </a:ext>
                </a:extLst>
              </p14:cNvPr>
              <p14:cNvContentPartPr/>
              <p14:nvPr/>
            </p14:nvContentPartPr>
            <p14:xfrm>
              <a:off x="4752998" y="4364511"/>
              <a:ext cx="189000" cy="1800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74585006-E43D-C261-64E6-3EF1D4C92E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98998" y="4258629"/>
                <a:ext cx="296640" cy="2294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CBF4EF82-2E1C-6F6A-D8A8-CC58959234DE}"/>
                  </a:ext>
                </a:extLst>
              </p14:cNvPr>
              <p14:cNvContentPartPr/>
              <p14:nvPr/>
            </p14:nvContentPartPr>
            <p14:xfrm>
              <a:off x="10127078" y="4338951"/>
              <a:ext cx="154440" cy="972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CBF4EF82-2E1C-6F6A-D8A8-CC58959234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73078" y="4230951"/>
                <a:ext cx="2620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043D0EAD-31CA-2C2C-E07A-1927975A3CC3}"/>
                  </a:ext>
                </a:extLst>
              </p14:cNvPr>
              <p14:cNvContentPartPr/>
              <p14:nvPr/>
            </p14:nvContentPartPr>
            <p14:xfrm>
              <a:off x="1621358" y="4356231"/>
              <a:ext cx="360" cy="36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043D0EAD-31CA-2C2C-E07A-1927975A3C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67358" y="4248231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Grafik 27">
            <a:extLst>
              <a:ext uri="{FF2B5EF4-FFF2-40B4-BE49-F238E27FC236}">
                <a16:creationId xmlns:a16="http://schemas.microsoft.com/office/drawing/2014/main" id="{1BE1F74F-07D6-9DE9-9634-2921F30FBD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6637" y="4747720"/>
            <a:ext cx="5104034" cy="9256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A173F839-F636-515C-A237-617E6B460AA6}"/>
                  </a:ext>
                </a:extLst>
              </p14:cNvPr>
              <p14:cNvContentPartPr/>
              <p14:nvPr/>
            </p14:nvContentPartPr>
            <p14:xfrm>
              <a:off x="7383878" y="5261271"/>
              <a:ext cx="172080" cy="1836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A173F839-F636-515C-A237-617E6B460AA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29878" y="5153271"/>
                <a:ext cx="2797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EF8554B9-C1E8-FF22-8755-E439EE13B369}"/>
                  </a:ext>
                </a:extLst>
              </p14:cNvPr>
              <p14:cNvContentPartPr/>
              <p14:nvPr/>
            </p14:nvContentPartPr>
            <p14:xfrm>
              <a:off x="7349318" y="5313831"/>
              <a:ext cx="241200" cy="360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EF8554B9-C1E8-FF22-8755-E439EE13B3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95237" y="5205831"/>
                <a:ext cx="349001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877C7B74-279A-3811-3D4B-23DB0F8E85C9}"/>
                  </a:ext>
                </a:extLst>
              </p14:cNvPr>
              <p14:cNvContentPartPr/>
              <p14:nvPr/>
            </p14:nvContentPartPr>
            <p14:xfrm>
              <a:off x="9721718" y="5494911"/>
              <a:ext cx="267120" cy="360"/>
            </p14:xfrm>
          </p:contentPart>
        </mc:Choice>
        <mc:Fallback xmlns=""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877C7B74-279A-3811-3D4B-23DB0F8E85C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67718" y="5386911"/>
                <a:ext cx="374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Freihand 31">
                <a:extLst>
                  <a:ext uri="{FF2B5EF4-FFF2-40B4-BE49-F238E27FC236}">
                    <a16:creationId xmlns:a16="http://schemas.microsoft.com/office/drawing/2014/main" id="{E9C0192B-52D2-398D-4376-440C5C256DEB}"/>
                  </a:ext>
                </a:extLst>
              </p14:cNvPr>
              <p14:cNvContentPartPr/>
              <p14:nvPr/>
            </p14:nvContentPartPr>
            <p14:xfrm>
              <a:off x="9773558" y="5485551"/>
              <a:ext cx="223560" cy="10080"/>
            </p14:xfrm>
          </p:contentPart>
        </mc:Choice>
        <mc:Fallback xmlns="">
          <p:pic>
            <p:nvPicPr>
              <p:cNvPr id="32" name="Freihand 31">
                <a:extLst>
                  <a:ext uri="{FF2B5EF4-FFF2-40B4-BE49-F238E27FC236}">
                    <a16:creationId xmlns:a16="http://schemas.microsoft.com/office/drawing/2014/main" id="{E9C0192B-52D2-398D-4376-440C5C256DE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9645" y="5381275"/>
                <a:ext cx="331027" cy="218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" name="Freihand 33">
                <a:extLst>
                  <a:ext uri="{FF2B5EF4-FFF2-40B4-BE49-F238E27FC236}">
                    <a16:creationId xmlns:a16="http://schemas.microsoft.com/office/drawing/2014/main" id="{E5A5B4B2-FFC7-A5F3-4238-296F632F1900}"/>
                  </a:ext>
                </a:extLst>
              </p14:cNvPr>
              <p14:cNvContentPartPr/>
              <p14:nvPr/>
            </p14:nvContentPartPr>
            <p14:xfrm>
              <a:off x="7651358" y="5054631"/>
              <a:ext cx="456840" cy="19080"/>
            </p14:xfrm>
          </p:contentPart>
        </mc:Choice>
        <mc:Fallback xmlns="">
          <p:pic>
            <p:nvPicPr>
              <p:cNvPr id="34" name="Freihand 33">
                <a:extLst>
                  <a:ext uri="{FF2B5EF4-FFF2-40B4-BE49-F238E27FC236}">
                    <a16:creationId xmlns:a16="http://schemas.microsoft.com/office/drawing/2014/main" id="{E5A5B4B2-FFC7-A5F3-4238-296F632F190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97358" y="4946631"/>
                <a:ext cx="564480" cy="23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567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3F34-DB2D-0E52-BCB5-0437F7CE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A0B09ADF-F978-4009-00E9-BF48D8A27273}"/>
              </a:ext>
            </a:extLst>
          </p:cNvPr>
          <p:cNvSpPr txBox="1"/>
          <p:nvPr/>
        </p:nvSpPr>
        <p:spPr>
          <a:xfrm>
            <a:off x="491067" y="724747"/>
            <a:ext cx="706206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>
                <a:latin typeface="Bahnschrift"/>
              </a:rPr>
              <a:t>Herleitung Clusteranzahl </a:t>
            </a:r>
            <a:r>
              <a:rPr lang="de-DE" sz="2800" err="1">
                <a:latin typeface="Bahnschrift"/>
              </a:rPr>
              <a:t>Hieraricahl</a:t>
            </a:r>
            <a:r>
              <a:rPr lang="de-DE" sz="2800">
                <a:latin typeface="Bahnschrift"/>
              </a:rPr>
              <a:t>/Ward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1DE1A90-0608-9C32-FBE5-B30104865DD2}"/>
              </a:ext>
            </a:extLst>
          </p:cNvPr>
          <p:cNvSpPr txBox="1"/>
          <p:nvPr/>
        </p:nvSpPr>
        <p:spPr>
          <a:xfrm>
            <a:off x="491067" y="541867"/>
            <a:ext cx="1962397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05</a:t>
            </a:r>
            <a:r>
              <a:t> | </a:t>
            </a:r>
            <a:r>
              <a:rPr lang="de-DE"/>
              <a:t>Vorbereitung Modellierung</a:t>
            </a:r>
            <a:endParaRPr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647E229-AED2-FB7F-7CFC-44DEF96E36D8}"/>
              </a:ext>
            </a:extLst>
          </p:cNvPr>
          <p:cNvSpPr txBox="1"/>
          <p:nvPr/>
        </p:nvSpPr>
        <p:spPr>
          <a:xfrm>
            <a:off x="632126" y="1453734"/>
            <a:ext cx="36095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>
                <a:latin typeface="Aptos Display"/>
              </a:rPr>
              <a:t>Elbow     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EF41B3D-9983-92CD-232A-6395B02B5256}"/>
              </a:ext>
            </a:extLst>
          </p:cNvPr>
          <p:cNvSpPr txBox="1"/>
          <p:nvPr/>
        </p:nvSpPr>
        <p:spPr>
          <a:xfrm>
            <a:off x="4241641" y="1453734"/>
            <a:ext cx="36095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>
                <a:latin typeface="Aptos Display"/>
              </a:rPr>
              <a:t>Silhouette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F6BA4EE-3420-0312-3126-2D50176BAEF2}"/>
              </a:ext>
            </a:extLst>
          </p:cNvPr>
          <p:cNvSpPr txBox="1"/>
          <p:nvPr/>
        </p:nvSpPr>
        <p:spPr>
          <a:xfrm>
            <a:off x="7851156" y="1453734"/>
            <a:ext cx="36095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>
                <a:latin typeface="Aptos Display"/>
              </a:rPr>
              <a:t>Davies-Bouldin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09DD73E-27C0-683C-C232-3E9AE8AA5E20}"/>
              </a:ext>
            </a:extLst>
          </p:cNvPr>
          <p:cNvSpPr txBox="1"/>
          <p:nvPr/>
        </p:nvSpPr>
        <p:spPr>
          <a:xfrm>
            <a:off x="536275" y="4824736"/>
            <a:ext cx="1111944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>
                <a:latin typeface="+mj-lt"/>
              </a:rPr>
              <a:t>Auswertung: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Merge-Distanz hat einen scharfen Knick bei k=4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Die Silhouette-Kurve hat höchsten Punkt bei k=7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Davies-Bouldin ist bei k=7 besser im Vergleich zu k=4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4 Cluster bilden fachlich hergeleiteten Käufer-Segmente am besten 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C5B0B2BC-9C9D-DC80-64E2-B9F3706A445C}"/>
                  </a:ext>
                </a:extLst>
              </p14:cNvPr>
              <p14:cNvContentPartPr/>
              <p14:nvPr/>
            </p14:nvContentPartPr>
            <p14:xfrm>
              <a:off x="4752998" y="4364511"/>
              <a:ext cx="189000" cy="1800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C5B0B2BC-9C9D-DC80-64E2-B9F3706A44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8998" y="4258629"/>
                <a:ext cx="296640" cy="2294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1FFE2926-A597-823B-2767-CF5F70FA5563}"/>
                  </a:ext>
                </a:extLst>
              </p14:cNvPr>
              <p14:cNvContentPartPr/>
              <p14:nvPr/>
            </p14:nvContentPartPr>
            <p14:xfrm>
              <a:off x="10127078" y="4338951"/>
              <a:ext cx="154440" cy="972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1FFE2926-A597-823B-2767-CF5F70FA55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73078" y="4230951"/>
                <a:ext cx="2620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886FA2E3-511A-DA76-1C71-55FD7200F1D0}"/>
                  </a:ext>
                </a:extLst>
              </p14:cNvPr>
              <p14:cNvContentPartPr/>
              <p14:nvPr/>
            </p14:nvContentPartPr>
            <p14:xfrm>
              <a:off x="1621358" y="4356231"/>
              <a:ext cx="360" cy="36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886FA2E3-511A-DA76-1C71-55FD7200F1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7358" y="424823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9CA260A1-35A9-8381-08D5-AFC3473D49FF}"/>
                  </a:ext>
                </a:extLst>
              </p14:cNvPr>
              <p14:cNvContentPartPr/>
              <p14:nvPr/>
            </p14:nvContentPartPr>
            <p14:xfrm>
              <a:off x="9721718" y="5494911"/>
              <a:ext cx="267120" cy="360"/>
            </p14:xfrm>
          </p:contentPart>
        </mc:Choice>
        <mc:Fallback xmlns=""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9CA260A1-35A9-8381-08D5-AFC3473D49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67718" y="5386911"/>
                <a:ext cx="374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Freihand 31">
                <a:extLst>
                  <a:ext uri="{FF2B5EF4-FFF2-40B4-BE49-F238E27FC236}">
                    <a16:creationId xmlns:a16="http://schemas.microsoft.com/office/drawing/2014/main" id="{46C68F6E-A643-ADDD-E2FF-96A3E1E2B8F6}"/>
                  </a:ext>
                </a:extLst>
              </p14:cNvPr>
              <p14:cNvContentPartPr/>
              <p14:nvPr/>
            </p14:nvContentPartPr>
            <p14:xfrm>
              <a:off x="9773558" y="5485551"/>
              <a:ext cx="223560" cy="10080"/>
            </p14:xfrm>
          </p:contentPart>
        </mc:Choice>
        <mc:Fallback xmlns="">
          <p:pic>
            <p:nvPicPr>
              <p:cNvPr id="32" name="Freihand 31">
                <a:extLst>
                  <a:ext uri="{FF2B5EF4-FFF2-40B4-BE49-F238E27FC236}">
                    <a16:creationId xmlns:a16="http://schemas.microsoft.com/office/drawing/2014/main" id="{46C68F6E-A643-ADDD-E2FF-96A3E1E2B8F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19645" y="5381275"/>
                <a:ext cx="331027" cy="218284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F458A130-BC9C-E163-C488-717DA790209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739"/>
          <a:stretch>
            <a:fillRect/>
          </a:stretch>
        </p:blipFill>
        <p:spPr>
          <a:xfrm>
            <a:off x="640593" y="1863023"/>
            <a:ext cx="3601048" cy="27297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69F5119-B11D-37A1-9FC1-D7AC1EDFBF7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3548" r="33197"/>
          <a:stretch>
            <a:fillRect/>
          </a:stretch>
        </p:blipFill>
        <p:spPr>
          <a:xfrm>
            <a:off x="4250784" y="1862311"/>
            <a:ext cx="3600372" cy="27305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D22FBA8-BAF7-7D37-D6D6-7F7A65D6DF1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6739"/>
          <a:stretch>
            <a:fillRect/>
          </a:stretch>
        </p:blipFill>
        <p:spPr>
          <a:xfrm>
            <a:off x="7860299" y="1863022"/>
            <a:ext cx="3600372" cy="27297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05EB4E0-AFF7-3659-0A6E-282E9D0BAA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6638" y="4790867"/>
            <a:ext cx="5104034" cy="100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1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1067" y="541867"/>
            <a:ext cx="1962397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de-DE" sz="1000" b="1">
                <a:solidFill>
                  <a:srgbClr val="10B981"/>
                </a:solidFill>
              </a:rPr>
              <a:t>06</a:t>
            </a:r>
            <a:r>
              <a:rPr sz="1000" b="1">
                <a:solidFill>
                  <a:srgbClr val="10B981"/>
                </a:solidFill>
              </a:rPr>
              <a:t> | </a:t>
            </a:r>
            <a:r>
              <a:rPr lang="de-DE" sz="1000" b="1">
                <a:solidFill>
                  <a:srgbClr val="10B981"/>
                </a:solidFill>
              </a:rPr>
              <a:t>Vorbereitung Modellierung</a:t>
            </a:r>
            <a:endParaRPr sz="1000" b="1">
              <a:solidFill>
                <a:srgbClr val="10B98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1067" y="724747"/>
            <a:ext cx="70441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err="1">
                <a:solidFill>
                  <a:srgbClr val="1E3A8A"/>
                </a:solidFill>
              </a:rPr>
              <a:t>Vergleich</a:t>
            </a:r>
            <a:r>
              <a:rPr sz="2800" b="1">
                <a:solidFill>
                  <a:srgbClr val="1E3A8A"/>
                </a:solidFill>
              </a:rPr>
              <a:t> </a:t>
            </a:r>
            <a:r>
              <a:rPr lang="de-DE" sz="2800" b="1">
                <a:solidFill>
                  <a:srgbClr val="1E3A8A"/>
                </a:solidFill>
              </a:rPr>
              <a:t>Clusteranzahl </a:t>
            </a:r>
            <a:r>
              <a:rPr sz="2800" b="1">
                <a:solidFill>
                  <a:srgbClr val="1E3A8A"/>
                </a:solidFill>
              </a:rPr>
              <a:t>der </a:t>
            </a:r>
            <a:r>
              <a:rPr sz="2800" b="1" err="1">
                <a:solidFill>
                  <a:srgbClr val="1E3A8A"/>
                </a:solidFill>
              </a:rPr>
              <a:t>drei</a:t>
            </a:r>
            <a:r>
              <a:rPr sz="2800" b="1">
                <a:solidFill>
                  <a:srgbClr val="1E3A8A"/>
                </a:solidFill>
              </a:rPr>
              <a:t> </a:t>
            </a:r>
            <a:r>
              <a:rPr sz="2800" b="1" err="1">
                <a:solidFill>
                  <a:srgbClr val="1E3A8A"/>
                </a:solidFill>
              </a:rPr>
              <a:t>Verfahren</a:t>
            </a:r>
            <a:endParaRPr sz="2800" b="1">
              <a:solidFill>
                <a:srgbClr val="1E3A8A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97257"/>
              </p:ext>
            </p:extLst>
          </p:nvPr>
        </p:nvGraphicFramePr>
        <p:xfrm>
          <a:off x="897588" y="1600000"/>
          <a:ext cx="9825040" cy="1986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5888">
                <a:tc>
                  <a:txBody>
                    <a:bodyPr/>
                    <a:lstStyle/>
                    <a:p>
                      <a:r>
                        <a:rPr b="1" err="1">
                          <a:solidFill>
                            <a:srgbClr val="FFFFFF"/>
                          </a:solidFill>
                        </a:rPr>
                        <a:t>Verfahren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Noise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Silhouette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Davies-Bouldin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88">
                <a:tc>
                  <a:txBody>
                    <a:bodyPr/>
                    <a:lstStyle/>
                    <a:p>
                      <a:r>
                        <a:t>K-Means (k=4)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063">
                <a:tc>
                  <a:txBody>
                    <a:bodyPr/>
                    <a:lstStyle/>
                    <a:p>
                      <a:r>
                        <a:t>Hierarchical / Ward (k=4)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err="1"/>
                        <a:t>Hierarchical</a:t>
                      </a:r>
                      <a:r>
                        <a:rPr lang="de-DE"/>
                        <a:t> / Ward (k=7)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0.159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1.488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265913"/>
                  </a:ext>
                </a:extLst>
              </a:tr>
              <a:tr h="295888">
                <a:tc>
                  <a:txBody>
                    <a:bodyPr/>
                    <a:lstStyle/>
                    <a:p>
                      <a:r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20.883 (97%)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41C6B154-F162-9CF1-F598-7BC444D00831}"/>
              </a:ext>
            </a:extLst>
          </p:cNvPr>
          <p:cNvSpPr txBox="1"/>
          <p:nvPr/>
        </p:nvSpPr>
        <p:spPr>
          <a:xfrm>
            <a:off x="897588" y="3842643"/>
            <a:ext cx="9825046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b="1"/>
              <a:t>Die Statistik bestimmt kein eindeutiges 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Silhouette bevorzugt k=2, Davies-Bouldin k=7 =&gt; widersprechen sich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Kurven flach (Silhouette ~0.18–0.20 über k=4…10) =&gt; kein k drängt sich auf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DBSCAN „glänzt" nur, weil es 97 % als Noise wegwirft und nur die dichtesten Kerne bewertet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r>
              <a:rPr lang="de-DE" b="1"/>
              <a:t>Was ist das beste k (2 … 7)?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k=2: trennt am saubersten aber nur „teuer vs. günstig" =&gt; Singles/Erstkäufer/Familien nicht unterscheidbar =&gt; fürs Business wertlos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k=7: nur </a:t>
            </a:r>
            <a:r>
              <a:rPr lang="de-DE" err="1"/>
              <a:t>unbenennbare</a:t>
            </a:r>
            <a:r>
              <a:rPr lang="de-DE"/>
              <a:t> Unterteilungen („Familien groß/klein") =&gt; keine neuen Käufertypen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k=4: kleinste Auflösung, die alle vier Käufergruppen sichtbar macht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D79B-6AC8-80BE-A3B4-4B09F6A15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DE138834-341C-2F4A-DF1D-5E8E17DFF1FB}"/>
              </a:ext>
            </a:extLst>
          </p:cNvPr>
          <p:cNvSpPr txBox="1"/>
          <p:nvPr/>
        </p:nvSpPr>
        <p:spPr>
          <a:xfrm>
            <a:off x="491067" y="724747"/>
            <a:ext cx="657866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Clustering-Verfahren K-Means PCA (2D)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8B1E8CFE-B61A-B728-3CA4-1282C008E6D2}"/>
              </a:ext>
            </a:extLst>
          </p:cNvPr>
          <p:cNvSpPr txBox="1"/>
          <p:nvPr/>
        </p:nvSpPr>
        <p:spPr>
          <a:xfrm>
            <a:off x="491067" y="541867"/>
            <a:ext cx="1713931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07</a:t>
            </a:r>
            <a:r>
              <a:t> | </a:t>
            </a:r>
            <a:r>
              <a:rPr lang="de-DE"/>
              <a:t>Modellierung K-Means</a:t>
            </a:r>
            <a:endParaRPr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5B013089-39B2-8369-2CC3-B80FF5D87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70" y="3989161"/>
            <a:ext cx="316766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B8BB4501-C18E-E1F8-2D85-4C171773F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934" y="1469161"/>
            <a:ext cx="316766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39996EA4-F060-8AA6-697C-BC386DBAE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71" y="1469161"/>
            <a:ext cx="3167663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5DA73A3C-0DB7-618C-A2D2-FE8D55581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597" y="1469161"/>
            <a:ext cx="316766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6B93CB62-BA5D-5439-B853-2C29DEC65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1401" y="3997628"/>
            <a:ext cx="3159196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5A9F5432-3867-6F4A-F6D5-8C811D714F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0597" y="3997628"/>
            <a:ext cx="316766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32967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8FB6B-4A28-12EF-7C2E-B6514DBD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3AF0727C-563E-5D8C-B236-1C2CBCED1B4F}"/>
              </a:ext>
            </a:extLst>
          </p:cNvPr>
          <p:cNvSpPr txBox="1"/>
          <p:nvPr/>
        </p:nvSpPr>
        <p:spPr>
          <a:xfrm>
            <a:off x="491067" y="724747"/>
            <a:ext cx="7164205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Clustering-Verfahren </a:t>
            </a:r>
            <a:r>
              <a:rPr lang="de-DE" sz="2800" err="1"/>
              <a:t>Hierarchical</a:t>
            </a:r>
            <a:r>
              <a:rPr lang="de-DE" sz="2800"/>
              <a:t> PCA (2D)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BE67E8E-3924-EB5B-921B-A37E3FEA48DE}"/>
              </a:ext>
            </a:extLst>
          </p:cNvPr>
          <p:cNvSpPr txBox="1"/>
          <p:nvPr/>
        </p:nvSpPr>
        <p:spPr>
          <a:xfrm>
            <a:off x="491067" y="541867"/>
            <a:ext cx="1925527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08</a:t>
            </a:r>
            <a:r>
              <a:t> | </a:t>
            </a:r>
            <a:r>
              <a:rPr lang="de-DE"/>
              <a:t>Modellierung Hierarchical</a:t>
            </a:r>
            <a:endParaRPr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19AE8AC-4323-C915-BBE2-1514A2B49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397" y="1479435"/>
            <a:ext cx="316766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08F7F99-4DA3-BC08-5B0C-C4BE97B9E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95" y="3999435"/>
            <a:ext cx="316766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B99D3FA-18E0-4C38-02FD-13E3F432C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864" y="3999435"/>
            <a:ext cx="316766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0225573-0CBB-6C63-D400-2DCE3B599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988" y="3982501"/>
            <a:ext cx="316766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D7DE0C7-9B29-4EDE-D1F2-E60ACDC8C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6528" y="1470968"/>
            <a:ext cx="3178591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42EE1B9-5C54-E252-E048-A04296143A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95" y="1479435"/>
            <a:ext cx="316766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7039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948A8-2FDD-6191-35D2-0846E266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9A265529-4852-F04F-ABB3-BDA5F4744921}"/>
              </a:ext>
            </a:extLst>
          </p:cNvPr>
          <p:cNvSpPr txBox="1"/>
          <p:nvPr/>
        </p:nvSpPr>
        <p:spPr>
          <a:xfrm>
            <a:off x="491067" y="724747"/>
            <a:ext cx="657943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Clustering-Verfahren DBSCAN PCA (2D)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AAC4AF0-B4BD-EECF-091B-E75B375EE216}"/>
              </a:ext>
            </a:extLst>
          </p:cNvPr>
          <p:cNvSpPr txBox="1"/>
          <p:nvPr/>
        </p:nvSpPr>
        <p:spPr>
          <a:xfrm>
            <a:off x="491067" y="541867"/>
            <a:ext cx="1742785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09</a:t>
            </a:r>
            <a:r>
              <a:t> | </a:t>
            </a:r>
            <a:r>
              <a:rPr lang="de-DE"/>
              <a:t>Modellierung  DBSCAN</a:t>
            </a:r>
            <a:endParaRPr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1AC34A-1AD7-6D1E-B634-D685BA63938D}"/>
              </a:ext>
            </a:extLst>
          </p:cNvPr>
          <p:cNvSpPr txBox="1"/>
          <p:nvPr/>
        </p:nvSpPr>
        <p:spPr>
          <a:xfrm>
            <a:off x="573016" y="1313741"/>
            <a:ext cx="11441184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b="1" err="1"/>
              <a:t>min_samples</a:t>
            </a:r>
            <a:r>
              <a:rPr lang="de-DE" b="1"/>
              <a:t> =&gt; </a:t>
            </a:r>
            <a:r>
              <a:rPr lang="de-DE"/>
              <a:t>2 * Feature Anzahl = 16 &amp; Untergrenze Feature Anzahl + 1 = 9 </a:t>
            </a:r>
          </a:p>
          <a:p>
            <a:r>
              <a:rPr lang="de-DE" b="1"/>
              <a:t>Ergebnis</a:t>
            </a:r>
            <a:r>
              <a:rPr lang="de-DE"/>
              <a:t> 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Der Noise-Anteil bleibt in allen Varianten sehr hoch (~90–98 %) und zerfällt in noch mehr Kleinstcluster.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Der hohe Noise ist kein Parameter-Artefakt, sondern Folge der fehlenden Dichtestruktur der Daten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DBSCAN kann hier keine vollständige Segmentierung liefern, egal wie man </a:t>
            </a:r>
            <a:r>
              <a:rPr lang="de-DE" err="1"/>
              <a:t>min_samples</a:t>
            </a:r>
            <a:r>
              <a:rPr lang="de-DE"/>
              <a:t> wählt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5AC3833-7BE9-34AD-30A6-696614601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683" y="3147669"/>
            <a:ext cx="9204086" cy="35363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499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7E11-86C7-4314-5388-5DA0E13E9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CB280684-3418-BF81-3AB8-A32A0F18A72C}"/>
              </a:ext>
            </a:extLst>
          </p:cNvPr>
          <p:cNvSpPr txBox="1"/>
          <p:nvPr/>
        </p:nvSpPr>
        <p:spPr>
          <a:xfrm>
            <a:off x="491067" y="724747"/>
            <a:ext cx="5337167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Clustering-Verfahren Alle T-SNE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E36A6E1-52CD-9269-6302-D7EE033D81D6}"/>
              </a:ext>
            </a:extLst>
          </p:cNvPr>
          <p:cNvSpPr txBox="1"/>
          <p:nvPr/>
        </p:nvSpPr>
        <p:spPr>
          <a:xfrm>
            <a:off x="491067" y="541867"/>
            <a:ext cx="1555234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10</a:t>
            </a:r>
            <a:r>
              <a:t> | </a:t>
            </a:r>
            <a:r>
              <a:rPr lang="de-DE"/>
              <a:t>Modellierung T-SNE</a:t>
            </a:r>
            <a:endParaRPr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8FD15A0-ED9E-206C-38CC-6A62F7C44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015"/>
          <a:stretch>
            <a:fillRect/>
          </a:stretch>
        </p:blipFill>
        <p:spPr>
          <a:xfrm>
            <a:off x="573016" y="2657867"/>
            <a:ext cx="11101812" cy="35651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E4DBBEC8-5E55-DA15-17C2-B3E4CB7664B1}"/>
              </a:ext>
            </a:extLst>
          </p:cNvPr>
          <p:cNvSpPr txBox="1"/>
          <p:nvPr/>
        </p:nvSpPr>
        <p:spPr>
          <a:xfrm>
            <a:off x="573016" y="1313741"/>
            <a:ext cx="114411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t-SNE dient nur der Visualisierung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geclustert wird weiterhin auf allen 8 Features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t-SNE-Achsen und -Abstände sind nicht quantitativ interpretierbar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keine feste Bedeutung, kein größer = teurer , sie zeigen nur, ob sich Gruppen sauber separieren lassen</a:t>
            </a:r>
          </a:p>
        </p:txBody>
      </p:sp>
    </p:spTree>
    <p:extLst>
      <p:ext uri="{BB962C8B-B14F-4D97-AF65-F5344CB8AC3E}">
        <p14:creationId xmlns:p14="http://schemas.microsoft.com/office/powerpoint/2010/main" val="3464725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A4F9B-4188-C1D8-7317-F1A1A6BD5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8C89FAA9-2B97-EF8B-48EB-AF0937082994}"/>
              </a:ext>
            </a:extLst>
          </p:cNvPr>
          <p:cNvSpPr txBox="1"/>
          <p:nvPr/>
        </p:nvSpPr>
        <p:spPr>
          <a:xfrm>
            <a:off x="491067" y="724747"/>
            <a:ext cx="535422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Clustering-Verfahren Alle UMAP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580A35A-D8E3-6574-72D4-1CAB95EA657E}"/>
              </a:ext>
            </a:extLst>
          </p:cNvPr>
          <p:cNvSpPr txBox="1"/>
          <p:nvPr/>
        </p:nvSpPr>
        <p:spPr>
          <a:xfrm>
            <a:off x="491067" y="541867"/>
            <a:ext cx="1556836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11</a:t>
            </a:r>
            <a:r>
              <a:t> | </a:t>
            </a:r>
            <a:r>
              <a:rPr lang="de-DE"/>
              <a:t>Modellierung UMAP</a:t>
            </a:r>
            <a:endParaRPr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2CC42DD-9F9F-75C4-EF84-9F23E77FD3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272"/>
          <a:stretch>
            <a:fillRect/>
          </a:stretch>
        </p:blipFill>
        <p:spPr>
          <a:xfrm>
            <a:off x="491067" y="2768600"/>
            <a:ext cx="11101812" cy="3547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A7F1E7C-6155-5F39-E4B8-44B2FE95F94B}"/>
              </a:ext>
            </a:extLst>
          </p:cNvPr>
          <p:cNvSpPr txBox="1"/>
          <p:nvPr/>
        </p:nvSpPr>
        <p:spPr>
          <a:xfrm>
            <a:off x="573016" y="1313741"/>
            <a:ext cx="114411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UMAP dient nur der Visualisierung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geclustert wird weiterhin auf allen 8 Features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UMAP -Achsen und -Abstände sind nicht quantitativ interpretierbar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keine feste Bedeutung, kein größer = teurer , sie zeigen nur, ob sich Gruppen sauber separieren lassen</a:t>
            </a:r>
          </a:p>
        </p:txBody>
      </p:sp>
    </p:spTree>
    <p:extLst>
      <p:ext uri="{BB962C8B-B14F-4D97-AF65-F5344CB8AC3E}">
        <p14:creationId xmlns:p14="http://schemas.microsoft.com/office/powerpoint/2010/main" val="3406465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198AF-6A5C-CC07-31E2-67675A00A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2F72745C-EA6F-243A-8F9A-3D543568D046}"/>
              </a:ext>
            </a:extLst>
          </p:cNvPr>
          <p:cNvSpPr txBox="1"/>
          <p:nvPr/>
        </p:nvSpPr>
        <p:spPr>
          <a:xfrm>
            <a:off x="491067" y="724747"/>
            <a:ext cx="7343742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Clustering-Verfahren zwei beste </a:t>
            </a:r>
            <a:r>
              <a:rPr lang="de-DE" sz="2800" err="1"/>
              <a:t>Clusterings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A7CD559-F611-B4D1-F224-37D67E931218}"/>
              </a:ext>
            </a:extLst>
          </p:cNvPr>
          <p:cNvSpPr txBox="1"/>
          <p:nvPr/>
        </p:nvSpPr>
        <p:spPr>
          <a:xfrm>
            <a:off x="491067" y="541867"/>
            <a:ext cx="1754006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12</a:t>
            </a:r>
            <a:r>
              <a:t> | </a:t>
            </a:r>
            <a:r>
              <a:rPr lang="de-DE"/>
              <a:t>Modellierung Vergleich</a:t>
            </a:r>
            <a:endParaRPr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DC145B8-EE50-7F9F-3797-6431ABEBF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225" y="1349217"/>
            <a:ext cx="5485918" cy="51362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5048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571DF18-CA1E-F4BC-998C-800516307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0738" y="1961572"/>
            <a:ext cx="8013834" cy="4811974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64BB5791-B630-68C4-A7FF-241BFE8284F6}"/>
              </a:ext>
            </a:extLst>
          </p:cNvPr>
          <p:cNvSpPr txBox="1"/>
          <p:nvPr/>
        </p:nvSpPr>
        <p:spPr>
          <a:xfrm>
            <a:off x="491067" y="724747"/>
            <a:ext cx="5552867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K-Means Clustering auf der Karte</a:t>
            </a:r>
            <a:endParaRPr lang="de-DE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5C66A55D-0077-565C-E981-B5F092D460D2}"/>
              </a:ext>
            </a:extLst>
          </p:cNvPr>
          <p:cNvSpPr txBox="1"/>
          <p:nvPr/>
        </p:nvSpPr>
        <p:spPr>
          <a:xfrm>
            <a:off x="491067" y="541867"/>
            <a:ext cx="1661032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13</a:t>
            </a:r>
            <a:r>
              <a:t> | </a:t>
            </a:r>
            <a:r>
              <a:rPr lang="de-DE"/>
              <a:t>Vergleich Kartensicht</a:t>
            </a:r>
            <a:endParaRPr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9DA6A94D-23CC-BA79-CACD-74BD26F00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761" y="1961572"/>
            <a:ext cx="8013811" cy="481197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3A756EE-E444-1610-D440-8A56C9E93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30847"/>
            <a:ext cx="5882241" cy="4084429"/>
          </a:xfrm>
          <a:prstGeom prst="rect">
            <a:avLst/>
          </a:prstGeom>
          <a:ln w="22225">
            <a:solidFill>
              <a:schemeClr val="tx1"/>
            </a:solidFill>
          </a:ln>
          <a:effectLst/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E8A464DA-809E-D82A-E727-FE841F10896C}"/>
              </a:ext>
            </a:extLst>
          </p:cNvPr>
          <p:cNvSpPr/>
          <p:nvPr/>
        </p:nvSpPr>
        <p:spPr>
          <a:xfrm>
            <a:off x="6636470" y="2818614"/>
            <a:ext cx="2036190" cy="13386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D3C775C-8143-6439-7625-FAC5DE127B60}"/>
              </a:ext>
            </a:extLst>
          </p:cNvPr>
          <p:cNvCxnSpPr/>
          <p:nvPr/>
        </p:nvCxnSpPr>
        <p:spPr>
          <a:xfrm flipH="1" flipV="1">
            <a:off x="5882241" y="1430847"/>
            <a:ext cx="2790419" cy="13877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68EEE66-77F2-3BB4-7757-9190EC7D7D99}"/>
              </a:ext>
            </a:extLst>
          </p:cNvPr>
          <p:cNvCxnSpPr/>
          <p:nvPr/>
        </p:nvCxnSpPr>
        <p:spPr>
          <a:xfrm flipH="1">
            <a:off x="5882241" y="4157221"/>
            <a:ext cx="2790419" cy="13580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6EE6ED1-C1D7-A407-8349-6B1A696EE1F1}"/>
              </a:ext>
            </a:extLst>
          </p:cNvPr>
          <p:cNvCxnSpPr/>
          <p:nvPr/>
        </p:nvCxnSpPr>
        <p:spPr>
          <a:xfrm flipH="1">
            <a:off x="5882241" y="4157221"/>
            <a:ext cx="754229" cy="169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20ADC9B-0252-0082-8E77-6E99F740330A}"/>
              </a:ext>
            </a:extLst>
          </p:cNvPr>
          <p:cNvCxnSpPr/>
          <p:nvPr/>
        </p:nvCxnSpPr>
        <p:spPr>
          <a:xfrm flipH="1" flipV="1">
            <a:off x="5882241" y="2650836"/>
            <a:ext cx="754229" cy="16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fik 27">
            <a:extLst>
              <a:ext uri="{FF2B5EF4-FFF2-40B4-BE49-F238E27FC236}">
                <a16:creationId xmlns:a16="http://schemas.microsoft.com/office/drawing/2014/main" id="{5B2389D4-2419-68A9-0683-F4BB7DA49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" y="1430847"/>
            <a:ext cx="5868475" cy="408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93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ADCE-E30E-8750-9213-22ED35A6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7C5EE00D-71EA-68E5-7A4C-00A7E18EF8DF}"/>
              </a:ext>
            </a:extLst>
          </p:cNvPr>
          <p:cNvSpPr txBox="1"/>
          <p:nvPr/>
        </p:nvSpPr>
        <p:spPr>
          <a:xfrm>
            <a:off x="491067" y="724747"/>
            <a:ext cx="5092869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Welches Clustering vertiefen?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8E4B5BE-775D-B864-C768-95059D733E3B}"/>
              </a:ext>
            </a:extLst>
          </p:cNvPr>
          <p:cNvSpPr txBox="1"/>
          <p:nvPr/>
        </p:nvSpPr>
        <p:spPr>
          <a:xfrm>
            <a:off x="491067" y="541867"/>
            <a:ext cx="1013419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14 </a:t>
            </a:r>
            <a:r>
              <a:t>| </a:t>
            </a:r>
            <a:r>
              <a:rPr lang="de-DE"/>
              <a:t>Vertiefung</a:t>
            </a:r>
            <a:endParaRPr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7659945-EF71-FE1C-FCB6-5A313AE4D92C}"/>
              </a:ext>
            </a:extLst>
          </p:cNvPr>
          <p:cNvSpPr txBox="1"/>
          <p:nvPr/>
        </p:nvSpPr>
        <p:spPr>
          <a:xfrm>
            <a:off x="573016" y="1313741"/>
            <a:ext cx="114411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/>
              <a:t>K-Means (k=4) für hypothesengeleitete Vertiefung:</a:t>
            </a:r>
            <a:br>
              <a:rPr lang="de-DE"/>
            </a:b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beste Silhouette unter den vollständigen Segmentierungen, und k=4 entspricht genau unseren vier Käufersegmenten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disjunkte, interpretierbare Cluster (jedes Objekt genau einem Segment zugeordnet), ideal, um Segment-Profile zu lesen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in t-SNE und UMAP zeigen sich dieselben Gruppen =&gt; die Segmente sind real, kein Projektionsartefakt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err="1"/>
              <a:t>Hierarchical</a:t>
            </a:r>
            <a:r>
              <a:rPr lang="de-DE"/>
              <a:t> (Ward, k=4) ist das Zweitplatzierte Clustering, danach DBSCAN</a:t>
            </a:r>
          </a:p>
        </p:txBody>
      </p:sp>
    </p:spTree>
    <p:extLst>
      <p:ext uri="{BB962C8B-B14F-4D97-AF65-F5344CB8AC3E}">
        <p14:creationId xmlns:p14="http://schemas.microsoft.com/office/powerpoint/2010/main" val="3870015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7600-EF2F-CBCF-A3D1-27AC6989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97A0F0C7-FAAE-80C7-AD21-A41DC76C9A05}"/>
              </a:ext>
            </a:extLst>
          </p:cNvPr>
          <p:cNvSpPr txBox="1"/>
          <p:nvPr/>
        </p:nvSpPr>
        <p:spPr>
          <a:xfrm>
            <a:off x="491067" y="724747"/>
            <a:ext cx="4979248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Abgleich mit den Hypothesen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71E0D2D-67D3-279A-C6EC-046E06E92556}"/>
              </a:ext>
            </a:extLst>
          </p:cNvPr>
          <p:cNvSpPr txBox="1"/>
          <p:nvPr/>
        </p:nvSpPr>
        <p:spPr>
          <a:xfrm>
            <a:off x="491067" y="541867"/>
            <a:ext cx="917239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15</a:t>
            </a:r>
            <a:r>
              <a:t> | </a:t>
            </a:r>
            <a:r>
              <a:rPr lang="de-DE"/>
              <a:t>Abgleich</a:t>
            </a:r>
            <a:endParaRPr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95C8CB1-C307-AF7C-D0DD-E2F3132D1E8C}"/>
              </a:ext>
            </a:extLst>
          </p:cNvPr>
          <p:cNvSpPr txBox="1"/>
          <p:nvPr/>
        </p:nvSpPr>
        <p:spPr>
          <a:xfrm>
            <a:off x="573016" y="1313741"/>
            <a:ext cx="114411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/>
              <a:t>K-Means (k=4) für hypothesengeleitete Vertiefung:</a:t>
            </a:r>
            <a:br>
              <a:rPr lang="de-DE"/>
            </a:b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Zuordnung des am besten interpretierbaren Verfahrens (K-Means, k=4)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mittlere (standardisierten) Feature-Werte je Cluster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Positiv = über Durchschnitt, negativ = darunter.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Daraus lesen wir ab, welches Cluster zu H1/H2/H3 /H4 passt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27AAAE-0251-2022-2524-39A6D90A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7" y="3068067"/>
            <a:ext cx="7634080" cy="155376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8D5F2D5-A47F-62BD-0EE9-A06B56812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87" y="4621836"/>
            <a:ext cx="5737546" cy="2114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03426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62B9F-E89A-8117-E591-B621F092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DFAD1A97-EE05-34AE-9654-DC6C22D0FEDB}"/>
              </a:ext>
            </a:extLst>
          </p:cNvPr>
          <p:cNvSpPr txBox="1"/>
          <p:nvPr/>
        </p:nvSpPr>
        <p:spPr>
          <a:xfrm>
            <a:off x="491067" y="724747"/>
            <a:ext cx="4979248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Abgleich mit den Hypothesen</a:t>
            </a:r>
            <a:endParaRPr lang="de-DE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DB2C5813-0EAA-92A7-D33C-0723A665268A}"/>
              </a:ext>
            </a:extLst>
          </p:cNvPr>
          <p:cNvSpPr txBox="1"/>
          <p:nvPr/>
        </p:nvSpPr>
        <p:spPr>
          <a:xfrm>
            <a:off x="491067" y="541867"/>
            <a:ext cx="917239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16</a:t>
            </a:r>
            <a:r>
              <a:t> | </a:t>
            </a:r>
            <a:r>
              <a:rPr lang="de-DE"/>
              <a:t>Abgleich</a:t>
            </a:r>
            <a:endParaRPr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1681EC4-38E0-BC3E-76EA-0F71AD07C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54" y="1349841"/>
            <a:ext cx="5371446" cy="52123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646AA8-77B4-4569-374A-78089953E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985" y="986357"/>
            <a:ext cx="5726454" cy="155376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61515F1-AF38-A37E-8092-B3C93C6FC163}"/>
              </a:ext>
            </a:extLst>
          </p:cNvPr>
          <p:cNvSpPr txBox="1"/>
          <p:nvPr/>
        </p:nvSpPr>
        <p:spPr>
          <a:xfrm>
            <a:off x="6096000" y="2642000"/>
            <a:ext cx="5988424" cy="43704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1400" b="1"/>
              <a:t>Cluster 0: H3 Luxus, n = 4679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/>
              <a:t>Preis +1.23, Fläche +1.15, Bäder +0.99, Luxus +1.02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/>
              <a:t>teuerstes, größtes, best-ausgestattetes Segment =&gt; </a:t>
            </a:r>
            <a:r>
              <a:rPr lang="de-DE" sz="1400" b="1"/>
              <a:t>sehr klarer Treffer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sz="1400" b="1"/>
          </a:p>
          <a:p>
            <a:r>
              <a:rPr lang="de-DE" sz="1400" b="1"/>
              <a:t>Cluster 1: H2 urbane Singles/Paare, n = 2084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/>
              <a:t>zentrumsnah −0.81, quasi kein Grundstück −1.62, klein −0.52, frisch renoviert −1.02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/>
              <a:t>Preis Durchschnitt =&gt; zentrale, moderne Kleinwohnungen =&gt; </a:t>
            </a:r>
            <a:r>
              <a:rPr lang="de-DE" sz="1400" b="1"/>
              <a:t>Treffer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sz="1400" b="1"/>
          </a:p>
          <a:p>
            <a:r>
              <a:rPr lang="de-DE" sz="1400" b="1"/>
              <a:t>Cluster 2: H1 Familien, n = 7804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/>
              <a:t>definierend: größte Distanz zum Zentrum +0.81, Grundstück +0.34, Fläche +0.21, Zimmer +0.15 (nur leicht über Ø)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/>
              <a:t>lage-getrieben (Distanz zum Zentrum +0.81), nicht größengetrieben  d. h. H1 („viel Fläche") stimmt nur teilweise =&gt; </a:t>
            </a:r>
            <a:r>
              <a:rPr lang="de-DE" sz="1400" b="1"/>
              <a:t>eingeschränkter Treffer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sz="1400" b="1"/>
          </a:p>
          <a:p>
            <a:r>
              <a:rPr lang="de-DE" sz="1400" b="1"/>
              <a:t>Cluster 3: H4 Erstkäufer, n = 6853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/>
              <a:t>günstigstes −0.48, klein −0.86, wenige Bäder −0.99, ältester/unrenoviert +0.99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/>
              <a:t>preiswertes Einstiegssegment =&gt; </a:t>
            </a:r>
            <a:r>
              <a:rPr lang="de-DE" sz="1400" b="1"/>
              <a:t>Treffer</a:t>
            </a:r>
          </a:p>
          <a:p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1581813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8663D-7685-1C98-FDA4-71414170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ideo 14" descr="Wolkenkratzer und Ortssymbole">
            <a:extLst>
              <a:ext uri="{FF2B5EF4-FFF2-40B4-BE49-F238E27FC236}">
                <a16:creationId xmlns:a16="http://schemas.microsoft.com/office/drawing/2014/main" id="{E419F5F0-9675-E097-8183-39042A8FE2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6D084E0-37C7-2BCA-F858-2BC3D300E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9804401" cy="3569242"/>
          </a:xfr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algn="l"/>
            <a:r>
              <a:rPr lang="de-DE" sz="5200">
                <a:solidFill>
                  <a:srgbClr val="FFFFFF"/>
                </a:solidFill>
              </a:rPr>
              <a:t>Vielen Dank für die Aufmerksamkeit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1A9F3D-7511-D8A0-95A6-9A48151DE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706533"/>
            <a:ext cx="7713134" cy="422558"/>
          </a:xfrm>
          <a:solidFill>
            <a:srgbClr val="828282">
              <a:alpha val="40000"/>
            </a:srgbClr>
          </a:solidFill>
          <a:ln>
            <a:noFill/>
          </a:ln>
          <a:effectLst>
            <a:outerShdw blurRad="107950" dist="12700" dir="5400000" algn="ctr">
              <a:srgbClr val="000000"/>
            </a:outerShdw>
            <a:softEdge rad="31750"/>
          </a:effectLst>
        </p:spPr>
        <p:txBody>
          <a:bodyPr anchor="b">
            <a:normAutofit lnSpcReduction="10000"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Joshua Schulz-Andres · Marian Kästner · David Schneider </a:t>
            </a:r>
            <a:endParaRPr lang="de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16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91067" y="724747"/>
            <a:ext cx="4429739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Bias &amp; Datenaufbereitung</a:t>
            </a:r>
            <a:endParaRPr lang="de-DE"/>
          </a:p>
        </p:txBody>
      </p:sp>
      <p:sp>
        <p:nvSpPr>
          <p:cNvPr id="3" name="TextBox 1"/>
          <p:cNvSpPr txBox="1"/>
          <p:nvPr/>
        </p:nvSpPr>
        <p:spPr>
          <a:xfrm>
            <a:off x="491067" y="541867"/>
            <a:ext cx="1015021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17 | Ergänzung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65470" y="1637644"/>
            <a:ext cx="11119449" cy="45858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>
                <a:latin typeface="+mj-lt"/>
              </a:rPr>
              <a:t>Potenzielle Verzerrungen (Bias)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/>
              <a:t>Feature-</a:t>
            </a:r>
            <a:r>
              <a:rPr lang="de-DE" b="1" err="1"/>
              <a:t>Selection</a:t>
            </a:r>
            <a:r>
              <a:rPr lang="de-DE" b="1"/>
              <a:t>-Bias: </a:t>
            </a:r>
            <a:br>
              <a:rPr lang="de-DE" b="1"/>
            </a:br>
            <a:r>
              <a:rPr lang="de-DE"/>
              <a:t>Die Wahl der 8 Features entscheidet, welche Segmente überhaupt sichtbar werden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/>
              <a:t>Gewichtungs-Bias: </a:t>
            </a:r>
            <a:br>
              <a:rPr lang="de-DE" b="1"/>
            </a:br>
            <a:r>
              <a:rPr lang="de-DE"/>
              <a:t>Stark korrelierte Größen (Preis, Fläche, Bäder) können die Distanz dominieren </a:t>
            </a:r>
            <a:br>
              <a:rPr lang="de-DE"/>
            </a:br>
            <a:r>
              <a:rPr lang="de-DE"/>
              <a:t>=&gt; Trennung  entlang „teuer/groß“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/>
              <a:t>Sampling-/geografischer Bias: </a:t>
            </a:r>
            <a:br>
              <a:rPr lang="de-DE" b="1"/>
            </a:br>
            <a:r>
              <a:rPr lang="de-DE"/>
              <a:t>Daten bilden nur eine Region und einen Zeitraum ab, nicht ungeprüft auf andere Märkte übertragbar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/>
              <a:t>Bestätigungs-Bias: </a:t>
            </a:r>
            <a:br>
              <a:rPr lang="de-DE" b="1"/>
            </a:br>
            <a:r>
              <a:rPr lang="de-DE"/>
              <a:t>k=4 wurde passend zu unseren vier Hypothesen gewählt → Gefahr, Cluster in die Hypothesen hineinzudeuten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r>
              <a:rPr lang="de-DE" sz="2000" b="1"/>
              <a:t>Muss die Datenaufbereitung angepasst werden?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Aufbereitung ist bereits auf distanzbasiertes Clustering ausgelegt.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Standardisierung (einheitliche Skala) + Log-Transformation schiefer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Feature </a:t>
            </a:r>
            <a:r>
              <a:rPr lang="de-DE" err="1"/>
              <a:t>Selection</a:t>
            </a:r>
            <a:r>
              <a:rPr lang="de-DE"/>
              <a:t> auf 8 Kern-Features reduziert Rauschen und den Fluch der Dimensionalität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Weitere Anpassung sind möglich, jedoch nicht unbedingt notwendig</a:t>
            </a:r>
            <a:endParaRPr lang="de-DE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38528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91067" y="724747"/>
            <a:ext cx="8461615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rPr lang="de-DE" sz="2800"/>
              <a:t>Skalierung, Laufzeit &amp; Datendynamik</a:t>
            </a:r>
            <a:endParaRPr lang="de-DE"/>
          </a:p>
        </p:txBody>
      </p:sp>
      <p:sp>
        <p:nvSpPr>
          <p:cNvPr id="3" name="TextBox 1"/>
          <p:cNvSpPr txBox="1"/>
          <p:nvPr/>
        </p:nvSpPr>
        <p:spPr>
          <a:xfrm>
            <a:off x="491067" y="541867"/>
            <a:ext cx="1741182" cy="2462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rPr lang="de-DE"/>
              <a:t>18 | Ergänzung </a:t>
            </a:r>
            <a:r>
              <a:rPr lang="de-DE" err="1"/>
              <a:t>Skalibarkeit</a:t>
            </a:r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808486" y="1637644"/>
            <a:ext cx="11119449" cy="43088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>
                <a:latin typeface="+mj-lt"/>
              </a:rPr>
              <a:t>Skalierung &amp; Laufzeit (Training / Anwendung)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Umfang 21.420 Zeilen × 8 Features: für K-Means und DBSCAN unkritisch; Ward (O(n²) Speicher) bei dieser Größe noch handhabbar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Training &lt; wenige Minuten (Notebook war nach 2-3 min durch)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Anwendung (Zuordnung neuer Objekte zum nächsten </a:t>
            </a:r>
            <a:r>
              <a:rPr lang="de-DE" err="1"/>
              <a:t>Centroid</a:t>
            </a:r>
            <a:r>
              <a:rPr lang="de-DE"/>
              <a:t>) in Millisekunden </a:t>
            </a:r>
            <a:br>
              <a:rPr lang="de-DE"/>
            </a:br>
            <a:r>
              <a:rPr lang="de-DE"/>
              <a:t>=&gt; keine harten Zeitrestriktionen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r>
              <a:rPr lang="de-DE" sz="2000" b="1">
                <a:latin typeface="+mj-lt"/>
              </a:rPr>
              <a:t>Wie dynamisch sind die Daten? (Concept Drift)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Der Immobilienmarkt verändert sich (Preise, Zinsen, Nachfrage) </a:t>
            </a:r>
            <a:br>
              <a:rPr lang="de-DE"/>
            </a:br>
            <a:r>
              <a:rPr lang="de-DE"/>
              <a:t>=&gt; Segmentgrenzen können mit der Zeit driften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/>
              <a:t>Das Modell ist eine Momentaufnahme des aktuellen Datenstands, kein selbstaktualisierendes System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/>
              <a:t>Empfehlung: </a:t>
            </a:r>
            <a:br>
              <a:rPr lang="de-DE" b="1"/>
            </a:br>
            <a:r>
              <a:rPr lang="de-DE"/>
              <a:t>periodisches Re-Clustering, ggf. jährlich und Monitoring der Cluster-Kennzahlen (Größe, Silhouette, Profile)</a:t>
            </a:r>
          </a:p>
        </p:txBody>
      </p:sp>
    </p:spTree>
    <p:extLst>
      <p:ext uri="{BB962C8B-B14F-4D97-AF65-F5344CB8AC3E}">
        <p14:creationId xmlns:p14="http://schemas.microsoft.com/office/powerpoint/2010/main" val="2638528011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0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Larissa</vt:lpstr>
      <vt:lpstr>Anfoderung</vt:lpstr>
      <vt:lpstr>Unsupervised Learning Clustering Evaluation M4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Vielen Dank für die Aufmerksamkeit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2026-07-04T20:27:22Z</dcterms:created>
  <dcterms:modified xsi:type="dcterms:W3CDTF">2026-07-21T10:45:16Z</dcterms:modified>
</cp:coreProperties>
</file>