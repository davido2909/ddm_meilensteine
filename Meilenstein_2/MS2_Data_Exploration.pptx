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70" r:id="rId2"/>
    <p:sldId id="257" r:id="rId3"/>
    <p:sldId id="266" r:id="rId4"/>
    <p:sldId id="263" r:id="rId5"/>
    <p:sldId id="262" r:id="rId6"/>
    <p:sldId id="271" r:id="rId7"/>
    <p:sldId id="276" r:id="rId8"/>
    <p:sldId id="275" r:id="rId9"/>
    <p:sldId id="272" r:id="rId10"/>
    <p:sldId id="277" r:id="rId11"/>
    <p:sldId id="278" r:id="rId12"/>
    <p:sldId id="279" r:id="rId13"/>
    <p:sldId id="281" r:id="rId14"/>
    <p:sldId id="273" r:id="rId15"/>
    <p:sldId id="282" r:id="rId16"/>
    <p:sldId id="264" r:id="rId17"/>
    <p:sldId id="274" r:id="rId18"/>
    <p:sldId id="260" r:id="rId1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1925A2-60D6-D8FF-C62B-60A1C611B743}" v="2" dt="2026-05-26T07:20:31.691"/>
    <p1510:client id="{7EC77F7F-40D5-3AB6-C3EB-17737B6EBC98}" v="31" dt="2026-05-25T11:58:54.646"/>
    <p1510:client id="{AD885446-29BD-B37B-4C16-9E890DFFDE2A}" v="40" dt="2026-05-26T10:06:17.067"/>
    <p1510:client id="{FEA91544-9E49-415A-B473-12A5B9950F6F}" v="694" dt="2026-05-26T07:55:47.855"/>
    <p1510:client id="{FF57E637-0979-81FE-ABE6-9031479D6286}" v="36" dt="2026-05-26T07:52:28.7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7A3A65-7AC4-422C-B09F-68605991251F}" type="datetimeFigureOut">
              <a:t>5/26/2026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E98A9F-7AF8-4EF4-B144-F635D911CFF4}" type="slidenum">
              <a:t>‹#›</a:t>
            </a:fld>
            <a:endParaRPr lang="de-DE"/>
          </a:p>
        </p:txBody>
      </p:sp>
    </p:spTree>
    <p:extLst>
      <p:ext uri="{BB962C8B-B14F-4D97-AF65-F5344CB8AC3E}">
        <p14:creationId xmlns:p14="http://schemas.microsoft.com/office/powerpoint/2010/main" val="3823907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100">
                <a:ea typeface="+mn-lt"/>
                <a:cs typeface="+mn-lt"/>
              </a:rPr>
              <a:t>Wiederverkäufe (House </a:t>
            </a:r>
            <a:r>
              <a:rPr lang="de-DE" sz="1100" err="1">
                <a:ea typeface="+mn-lt"/>
                <a:cs typeface="+mn-lt"/>
              </a:rPr>
              <a:t>Flipping</a:t>
            </a:r>
            <a:r>
              <a:rPr lang="de-DE" sz="1100">
                <a:ea typeface="+mn-lt"/>
                <a:cs typeface="+mn-lt"/>
              </a:rPr>
              <a:t>): Von 21.613 Einträgen gibt es nur 21.436 einzigartige IDs. Das bedeutet, dass im erfassten Zeitraum (Mai 2014 bis Mai 2015) 177 Häuser mehrfach verkauft wurden. Das deutet auf sogenannte "House Flipper" (Investoren, die kaufen, schnell renovieren und teurer weiterverkaufen) oder sehr kurzfristige Umzüge hin. </a:t>
            </a:r>
          </a:p>
          <a:p>
            <a:r>
              <a:rPr lang="de-DE" sz="1100">
                <a:ea typeface="+mn-lt"/>
                <a:cs typeface="+mn-lt"/>
              </a:rPr>
              <a:t>Schlafzimmer (</a:t>
            </a:r>
            <a:r>
              <a:rPr lang="de-DE" sz="1100" err="1">
                <a:ea typeface="+mn-lt"/>
                <a:cs typeface="+mn-lt"/>
              </a:rPr>
              <a:t>Bedrooms</a:t>
            </a:r>
            <a:r>
              <a:rPr lang="de-DE" sz="1100">
                <a:ea typeface="+mn-lt"/>
                <a:cs typeface="+mn-lt"/>
              </a:rPr>
              <a:t>):</a:t>
            </a:r>
            <a:endParaRPr lang="de-DE" sz="1100"/>
          </a:p>
          <a:p>
            <a:pPr lvl="1">
              <a:buFont typeface="Courier New" panose="020B0604020202020204" pitchFamily="34" charset="0"/>
              <a:buChar char="o"/>
            </a:pPr>
            <a:r>
              <a:rPr lang="de-DE" sz="1100">
                <a:ea typeface="+mn-lt"/>
                <a:cs typeface="+mn-lt"/>
              </a:rPr>
              <a:t>Der 33-Zimmer-Ausreißer: 33 Schlafzimmer auf nur 1620 </a:t>
            </a:r>
            <a:r>
              <a:rPr lang="de-DE" sz="1100" err="1">
                <a:ea typeface="+mn-lt"/>
                <a:cs typeface="+mn-lt"/>
              </a:rPr>
              <a:t>sqft</a:t>
            </a:r>
            <a:r>
              <a:rPr lang="de-DE" sz="1100">
                <a:ea typeface="+mn-lt"/>
                <a:cs typeface="+mn-lt"/>
              </a:rPr>
              <a:t> sind physisch unmöglich. Dies ist ein eindeutiger Eingabefehler (Tippfehler, vermutlich war 3 gemeint).</a:t>
            </a:r>
            <a:endParaRPr lang="de-DE" sz="1100"/>
          </a:p>
          <a:p>
            <a:pPr lvl="1">
              <a:buFont typeface="Courier New" panose="020B0604020202020204" pitchFamily="34" charset="0"/>
              <a:buChar char="o"/>
            </a:pPr>
            <a:r>
              <a:rPr lang="de-DE" sz="1100">
                <a:ea typeface="+mn-lt"/>
                <a:cs typeface="+mn-lt"/>
              </a:rPr>
              <a:t>0 Schlafzimmer (13 Häuser): Es kann sich um reine Gewerbeobjekte, Loft-Wohnungen ohne abgetrennte Räume (Studios) oder noch nicht fertiggestellte Rohbauten handeln.</a:t>
            </a:r>
            <a:endParaRPr lang="de-DE" sz="1100"/>
          </a:p>
          <a:p>
            <a:r>
              <a:rPr lang="de-DE" sz="1100">
                <a:ea typeface="+mn-lt"/>
                <a:cs typeface="+mn-lt"/>
              </a:rPr>
              <a:t>Badezimmer (</a:t>
            </a:r>
            <a:r>
              <a:rPr lang="de-DE" sz="1100" err="1">
                <a:ea typeface="+mn-lt"/>
                <a:cs typeface="+mn-lt"/>
              </a:rPr>
              <a:t>Bathrooms</a:t>
            </a:r>
            <a:r>
              <a:rPr lang="de-DE" sz="1100">
                <a:ea typeface="+mn-lt"/>
                <a:cs typeface="+mn-lt"/>
              </a:rPr>
              <a:t>):</a:t>
            </a:r>
            <a:endParaRPr lang="de-DE" sz="1100"/>
          </a:p>
          <a:p>
            <a:pPr lvl="1">
              <a:buFont typeface="Courier New" panose="020B0604020202020204" pitchFamily="34" charset="0"/>
              <a:buChar char="o"/>
            </a:pPr>
            <a:r>
              <a:rPr lang="de-DE" sz="1100">
                <a:ea typeface="+mn-lt"/>
                <a:cs typeface="+mn-lt"/>
              </a:rPr>
              <a:t>0 Badezimmer (10 Häuser): Es handelt sich hier vermutlich um reine Grundstücke mit unbewohnbaren Altbauten, Lagerschuppen oder Rohbauten.</a:t>
            </a:r>
            <a:endParaRPr lang="de-DE" sz="1100"/>
          </a:p>
          <a:p>
            <a:r>
              <a:rPr lang="de-DE" sz="1100">
                <a:ea typeface="+mn-lt"/>
                <a:cs typeface="+mn-lt"/>
              </a:rPr>
              <a:t>Etagen (Floors):</a:t>
            </a:r>
            <a:endParaRPr lang="de-DE" sz="1100"/>
          </a:p>
          <a:p>
            <a:pPr lvl="1">
              <a:buFont typeface="Courier New" panose="020B0604020202020204" pitchFamily="34" charset="0"/>
              <a:buChar char="o"/>
            </a:pPr>
            <a:r>
              <a:rPr lang="de-DE" sz="1100">
                <a:ea typeface="+mn-lt"/>
                <a:cs typeface="+mn-lt"/>
              </a:rPr>
              <a:t>0,5 Floors ist ein ausgebautes Dachgeschoss (</a:t>
            </a:r>
            <a:r>
              <a:rPr lang="de-DE" sz="1100" err="1">
                <a:ea typeface="+mn-lt"/>
                <a:cs typeface="+mn-lt"/>
              </a:rPr>
              <a:t>Finished</a:t>
            </a:r>
            <a:r>
              <a:rPr lang="de-DE" sz="1100">
                <a:ea typeface="+mn-lt"/>
                <a:cs typeface="+mn-lt"/>
              </a:rPr>
              <a:t> </a:t>
            </a:r>
            <a:r>
              <a:rPr lang="de-DE" sz="1100" err="1">
                <a:ea typeface="+mn-lt"/>
                <a:cs typeface="+mn-lt"/>
              </a:rPr>
              <a:t>Attic</a:t>
            </a:r>
            <a:r>
              <a:rPr lang="de-DE" sz="1100">
                <a:ea typeface="+mn-lt"/>
                <a:cs typeface="+mn-lt"/>
              </a:rPr>
              <a:t>), das aufgrund von Dachschrägen nicht die volle Raumhöhe hat, oder um ein sogenanntes "Split-Level"-Haus, bei dem die Etagen versetzt zueinander liegen.</a:t>
            </a:r>
          </a:p>
          <a:p>
            <a:r>
              <a:rPr lang="de-DE" sz="1100">
                <a:ea typeface="+mn-lt"/>
                <a:cs typeface="+mn-lt"/>
              </a:rPr>
              <a:t>Badezimmer (</a:t>
            </a:r>
            <a:r>
              <a:rPr lang="de-DE" sz="1100" err="1">
                <a:ea typeface="+mn-lt"/>
                <a:cs typeface="+mn-lt"/>
              </a:rPr>
              <a:t>Bathrooms</a:t>
            </a:r>
            <a:r>
              <a:rPr lang="de-DE" sz="1100">
                <a:ea typeface="+mn-lt"/>
                <a:cs typeface="+mn-lt"/>
              </a:rPr>
              <a:t>):</a:t>
            </a:r>
            <a:endParaRPr lang="de-DE" sz="1100"/>
          </a:p>
          <a:p>
            <a:pPr lvl="1">
              <a:buFont typeface="Courier New" panose="020B0604020202020204" pitchFamily="34" charset="0"/>
              <a:buChar char="o"/>
            </a:pPr>
            <a:r>
              <a:rPr lang="de-DE" sz="1100">
                <a:ea typeface="+mn-lt"/>
                <a:cs typeface="+mn-lt"/>
              </a:rPr>
              <a:t>0 Badezimmer (10 Häuser): Es handelt sich hier vermutlich um reine Grundstücke mit unbewohnbaren Altbauten, Lagerschuppen oder Rohbauten.</a:t>
            </a:r>
            <a:endParaRPr lang="de-DE" sz="1100"/>
          </a:p>
          <a:p>
            <a:endParaRPr lang="de-DE" sz="1100"/>
          </a:p>
          <a:p>
            <a:endParaRPr lang="de-DE"/>
          </a:p>
        </p:txBody>
      </p:sp>
      <p:sp>
        <p:nvSpPr>
          <p:cNvPr id="4" name="Foliennummernplatzhalter 3"/>
          <p:cNvSpPr>
            <a:spLocks noGrp="1"/>
          </p:cNvSpPr>
          <p:nvPr>
            <p:ph type="sldNum" sz="quarter" idx="5"/>
          </p:nvPr>
        </p:nvSpPr>
        <p:spPr/>
        <p:txBody>
          <a:bodyPr/>
          <a:lstStyle/>
          <a:p>
            <a:fld id="{09E98A9F-7AF8-4EF4-B144-F635D911CFF4}" type="slidenum">
              <a:rPr lang="de-DE" smtClean="0"/>
              <a:t>9</a:t>
            </a:fld>
            <a:endParaRPr lang="de-DE"/>
          </a:p>
        </p:txBody>
      </p:sp>
    </p:spTree>
    <p:extLst>
      <p:ext uri="{BB962C8B-B14F-4D97-AF65-F5344CB8AC3E}">
        <p14:creationId xmlns:p14="http://schemas.microsoft.com/office/powerpoint/2010/main" val="715127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09E98A9F-7AF8-4EF4-B144-F635D911CFF4}" type="slidenum">
              <a:rPr lang="de-DE" smtClean="0"/>
              <a:t>10</a:t>
            </a:fld>
            <a:endParaRPr lang="de-DE"/>
          </a:p>
        </p:txBody>
      </p:sp>
    </p:spTree>
    <p:extLst>
      <p:ext uri="{BB962C8B-B14F-4D97-AF65-F5344CB8AC3E}">
        <p14:creationId xmlns:p14="http://schemas.microsoft.com/office/powerpoint/2010/main" val="32720342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87AF6-6CA1-960F-E790-43CF29C64ED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915F592-77DC-B664-9820-32717D00277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C0F8A70-C3B5-B717-30EB-F89902829403}"/>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84CF7784-4FEF-DEDF-FF37-3D00799F0204}"/>
              </a:ext>
            </a:extLst>
          </p:cNvPr>
          <p:cNvSpPr>
            <a:spLocks noGrp="1"/>
          </p:cNvSpPr>
          <p:nvPr>
            <p:ph type="sldNum" sz="quarter" idx="5"/>
          </p:nvPr>
        </p:nvSpPr>
        <p:spPr/>
        <p:txBody>
          <a:bodyPr/>
          <a:lstStyle/>
          <a:p>
            <a:fld id="{09E98A9F-7AF8-4EF4-B144-F635D911CFF4}" type="slidenum">
              <a:rPr lang="de-DE" smtClean="0"/>
              <a:t>11</a:t>
            </a:fld>
            <a:endParaRPr lang="de-DE"/>
          </a:p>
        </p:txBody>
      </p:sp>
    </p:spTree>
    <p:extLst>
      <p:ext uri="{BB962C8B-B14F-4D97-AF65-F5344CB8AC3E}">
        <p14:creationId xmlns:p14="http://schemas.microsoft.com/office/powerpoint/2010/main" val="26678291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3D0C4-88C4-AC9E-E87F-A6D8EA27304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8C767FE-D512-0A18-CA9C-5F282452096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10109EA-F309-3F19-6F10-992B6BFAE99C}"/>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4A2F1682-F69A-FFD8-49A3-15AD5C9912EF}"/>
              </a:ext>
            </a:extLst>
          </p:cNvPr>
          <p:cNvSpPr>
            <a:spLocks noGrp="1"/>
          </p:cNvSpPr>
          <p:nvPr>
            <p:ph type="sldNum" sz="quarter" idx="5"/>
          </p:nvPr>
        </p:nvSpPr>
        <p:spPr/>
        <p:txBody>
          <a:bodyPr/>
          <a:lstStyle/>
          <a:p>
            <a:fld id="{09E98A9F-7AF8-4EF4-B144-F635D911CFF4}" type="slidenum">
              <a:rPr lang="de-DE" smtClean="0"/>
              <a:t>12</a:t>
            </a:fld>
            <a:endParaRPr lang="de-DE"/>
          </a:p>
        </p:txBody>
      </p:sp>
    </p:spTree>
    <p:extLst>
      <p:ext uri="{BB962C8B-B14F-4D97-AF65-F5344CB8AC3E}">
        <p14:creationId xmlns:p14="http://schemas.microsoft.com/office/powerpoint/2010/main" val="23450520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362E2-0D22-702A-32D4-3C6BF858851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D78304C-F715-6AAA-E851-44467500C5E9}"/>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639F370-F1A1-0EAD-72E9-2A37B87BE96A}"/>
              </a:ext>
            </a:extLst>
          </p:cNvPr>
          <p:cNvSpPr>
            <a:spLocks noGrp="1"/>
          </p:cNvSpPr>
          <p:nvPr>
            <p:ph type="body" idx="1"/>
          </p:nvPr>
        </p:nvSpPr>
        <p:spPr/>
        <p:txBody>
          <a:bodyPr/>
          <a:lstStyle/>
          <a:p>
            <a:r>
              <a:rPr lang="de-DE" sz="1100">
                <a:ea typeface="+mn-lt"/>
                <a:cs typeface="+mn-lt"/>
              </a:rPr>
              <a:t>Wiederverkäufe (House </a:t>
            </a:r>
            <a:r>
              <a:rPr lang="de-DE" sz="1100" err="1">
                <a:ea typeface="+mn-lt"/>
                <a:cs typeface="+mn-lt"/>
              </a:rPr>
              <a:t>Flipping</a:t>
            </a:r>
            <a:r>
              <a:rPr lang="de-DE" sz="1100">
                <a:ea typeface="+mn-lt"/>
                <a:cs typeface="+mn-lt"/>
              </a:rPr>
              <a:t>): Von 21.613 Einträgen gibt es nur 21.436 einzigartige IDs. Das bedeutet, dass im erfassten Zeitraum (Mai 2014 bis Mai 2015) 177 Häuser mehrfach verkauft wurden. Das deutet auf sogenannte "House Flipper" (Investoren, die kaufen, schnell renovieren und teurer weiterverkaufen) oder sehr kurzfristige Umzüge hin. </a:t>
            </a:r>
          </a:p>
          <a:p>
            <a:r>
              <a:rPr lang="de-DE" sz="1100">
                <a:ea typeface="+mn-lt"/>
                <a:cs typeface="+mn-lt"/>
              </a:rPr>
              <a:t>Schlafzimmer (</a:t>
            </a:r>
            <a:r>
              <a:rPr lang="de-DE" sz="1100" err="1">
                <a:ea typeface="+mn-lt"/>
                <a:cs typeface="+mn-lt"/>
              </a:rPr>
              <a:t>Bedrooms</a:t>
            </a:r>
            <a:r>
              <a:rPr lang="de-DE" sz="1100">
                <a:ea typeface="+mn-lt"/>
                <a:cs typeface="+mn-lt"/>
              </a:rPr>
              <a:t>):</a:t>
            </a:r>
            <a:endParaRPr lang="de-DE" sz="1100"/>
          </a:p>
          <a:p>
            <a:pPr lvl="1">
              <a:buFont typeface="Courier New" panose="020B0604020202020204" pitchFamily="34" charset="0"/>
              <a:buChar char="o"/>
            </a:pPr>
            <a:r>
              <a:rPr lang="de-DE" sz="1100">
                <a:ea typeface="+mn-lt"/>
                <a:cs typeface="+mn-lt"/>
              </a:rPr>
              <a:t>Der 33-Zimmer-Ausreißer: 33 Schlafzimmer auf nur 1620 </a:t>
            </a:r>
            <a:r>
              <a:rPr lang="de-DE" sz="1100" err="1">
                <a:ea typeface="+mn-lt"/>
                <a:cs typeface="+mn-lt"/>
              </a:rPr>
              <a:t>sqft</a:t>
            </a:r>
            <a:r>
              <a:rPr lang="de-DE" sz="1100">
                <a:ea typeface="+mn-lt"/>
                <a:cs typeface="+mn-lt"/>
              </a:rPr>
              <a:t> sind physisch unmöglich. Dies ist ein eindeutiger Eingabefehler (Tippfehler, vermutlich war 3 gemeint).</a:t>
            </a:r>
            <a:endParaRPr lang="de-DE" sz="1100"/>
          </a:p>
          <a:p>
            <a:pPr lvl="1">
              <a:buFont typeface="Courier New" panose="020B0604020202020204" pitchFamily="34" charset="0"/>
              <a:buChar char="o"/>
            </a:pPr>
            <a:r>
              <a:rPr lang="de-DE" sz="1100">
                <a:ea typeface="+mn-lt"/>
                <a:cs typeface="+mn-lt"/>
              </a:rPr>
              <a:t>0 Schlafzimmer (13 Häuser): Es kann sich um reine Gewerbeobjekte, Loft-Wohnungen ohne abgetrennte Räume (Studios) oder noch nicht fertiggestellte Rohbauten handeln.</a:t>
            </a:r>
            <a:endParaRPr lang="de-DE" sz="1100"/>
          </a:p>
          <a:p>
            <a:r>
              <a:rPr lang="de-DE" sz="1100">
                <a:ea typeface="+mn-lt"/>
                <a:cs typeface="+mn-lt"/>
              </a:rPr>
              <a:t>Badezimmer (</a:t>
            </a:r>
            <a:r>
              <a:rPr lang="de-DE" sz="1100" err="1">
                <a:ea typeface="+mn-lt"/>
                <a:cs typeface="+mn-lt"/>
              </a:rPr>
              <a:t>Bathrooms</a:t>
            </a:r>
            <a:r>
              <a:rPr lang="de-DE" sz="1100">
                <a:ea typeface="+mn-lt"/>
                <a:cs typeface="+mn-lt"/>
              </a:rPr>
              <a:t>):</a:t>
            </a:r>
            <a:endParaRPr lang="de-DE" sz="1100"/>
          </a:p>
          <a:p>
            <a:pPr lvl="1">
              <a:buFont typeface="Courier New" panose="020B0604020202020204" pitchFamily="34" charset="0"/>
              <a:buChar char="o"/>
            </a:pPr>
            <a:r>
              <a:rPr lang="de-DE" sz="1100">
                <a:ea typeface="+mn-lt"/>
                <a:cs typeface="+mn-lt"/>
              </a:rPr>
              <a:t>0 Badezimmer (10 Häuser): Es handelt sich hier vermutlich um reine Grundstücke mit unbewohnbaren Altbauten, Lagerschuppen oder Rohbauten.</a:t>
            </a:r>
            <a:endParaRPr lang="de-DE" sz="1100"/>
          </a:p>
          <a:p>
            <a:r>
              <a:rPr lang="de-DE" sz="1100">
                <a:ea typeface="+mn-lt"/>
                <a:cs typeface="+mn-lt"/>
              </a:rPr>
              <a:t>Etagen (Floors):</a:t>
            </a:r>
            <a:endParaRPr lang="de-DE" sz="1100"/>
          </a:p>
          <a:p>
            <a:pPr lvl="1">
              <a:buFont typeface="Courier New" panose="020B0604020202020204" pitchFamily="34" charset="0"/>
              <a:buChar char="o"/>
            </a:pPr>
            <a:r>
              <a:rPr lang="de-DE" sz="1100">
                <a:ea typeface="+mn-lt"/>
                <a:cs typeface="+mn-lt"/>
              </a:rPr>
              <a:t>0,5 Floors ist ein ausgebautes Dachgeschoss (</a:t>
            </a:r>
            <a:r>
              <a:rPr lang="de-DE" sz="1100" err="1">
                <a:ea typeface="+mn-lt"/>
                <a:cs typeface="+mn-lt"/>
              </a:rPr>
              <a:t>Finished</a:t>
            </a:r>
            <a:r>
              <a:rPr lang="de-DE" sz="1100">
                <a:ea typeface="+mn-lt"/>
                <a:cs typeface="+mn-lt"/>
              </a:rPr>
              <a:t> </a:t>
            </a:r>
            <a:r>
              <a:rPr lang="de-DE" sz="1100" err="1">
                <a:ea typeface="+mn-lt"/>
                <a:cs typeface="+mn-lt"/>
              </a:rPr>
              <a:t>Attic</a:t>
            </a:r>
            <a:r>
              <a:rPr lang="de-DE" sz="1100">
                <a:ea typeface="+mn-lt"/>
                <a:cs typeface="+mn-lt"/>
              </a:rPr>
              <a:t>), das aufgrund von Dachschrägen nicht die volle Raumhöhe hat, oder um ein sogenanntes "Split-Level"-Haus, bei dem die Etagen versetzt zueinander liegen.</a:t>
            </a:r>
          </a:p>
          <a:p>
            <a:r>
              <a:rPr lang="de-DE" sz="1100">
                <a:ea typeface="+mn-lt"/>
                <a:cs typeface="+mn-lt"/>
              </a:rPr>
              <a:t>Badezimmer (</a:t>
            </a:r>
            <a:r>
              <a:rPr lang="de-DE" sz="1100" err="1">
                <a:ea typeface="+mn-lt"/>
                <a:cs typeface="+mn-lt"/>
              </a:rPr>
              <a:t>Bathrooms</a:t>
            </a:r>
            <a:r>
              <a:rPr lang="de-DE" sz="1100">
                <a:ea typeface="+mn-lt"/>
                <a:cs typeface="+mn-lt"/>
              </a:rPr>
              <a:t>):</a:t>
            </a:r>
            <a:endParaRPr lang="de-DE" sz="1100"/>
          </a:p>
          <a:p>
            <a:pPr lvl="1">
              <a:buFont typeface="Courier New" panose="020B0604020202020204" pitchFamily="34" charset="0"/>
              <a:buChar char="o"/>
            </a:pPr>
            <a:r>
              <a:rPr lang="de-DE" sz="1100">
                <a:ea typeface="+mn-lt"/>
                <a:cs typeface="+mn-lt"/>
              </a:rPr>
              <a:t>0 Badezimmer (10 Häuser): Es handelt sich hier vermutlich um reine Grundstücke mit unbewohnbaren Altbauten, Lagerschuppen oder Rohbauten.</a:t>
            </a:r>
            <a:endParaRPr lang="de-DE" sz="1100"/>
          </a:p>
          <a:p>
            <a:endParaRPr lang="de-DE" sz="1100"/>
          </a:p>
          <a:p>
            <a:endParaRPr lang="de-DE"/>
          </a:p>
        </p:txBody>
      </p:sp>
      <p:sp>
        <p:nvSpPr>
          <p:cNvPr id="4" name="Foliennummernplatzhalter 3">
            <a:extLst>
              <a:ext uri="{FF2B5EF4-FFF2-40B4-BE49-F238E27FC236}">
                <a16:creationId xmlns:a16="http://schemas.microsoft.com/office/drawing/2014/main" id="{D52D2766-1CAC-87E3-0F5C-B3A30E80C019}"/>
              </a:ext>
            </a:extLst>
          </p:cNvPr>
          <p:cNvSpPr>
            <a:spLocks noGrp="1"/>
          </p:cNvSpPr>
          <p:nvPr>
            <p:ph type="sldNum" sz="quarter" idx="5"/>
          </p:nvPr>
        </p:nvSpPr>
        <p:spPr/>
        <p:txBody>
          <a:bodyPr/>
          <a:lstStyle/>
          <a:p>
            <a:fld id="{09E98A9F-7AF8-4EF4-B144-F635D911CFF4}" type="slidenum">
              <a:rPr lang="de-DE" smtClean="0"/>
              <a:t>13</a:t>
            </a:fld>
            <a:endParaRPr lang="de-DE"/>
          </a:p>
        </p:txBody>
      </p:sp>
    </p:spTree>
    <p:extLst>
      <p:ext uri="{BB962C8B-B14F-4D97-AF65-F5344CB8AC3E}">
        <p14:creationId xmlns:p14="http://schemas.microsoft.com/office/powerpoint/2010/main" val="2524130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de-DE"/>
              <a:t>Titelmasterformat durch Klicken bearbeiten</a:t>
            </a:r>
          </a:p>
        </p:txBody>
      </p:sp>
      <p:sp>
        <p:nvSpPr>
          <p:cNvPr id="3" name="Unt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p>
        </p:txBody>
      </p:sp>
      <p:sp>
        <p:nvSpPr>
          <p:cNvPr id="4" name="Datumsplatzhalter 3"/>
          <p:cNvSpPr>
            <a:spLocks noGrp="1"/>
          </p:cNvSpPr>
          <p:nvPr>
            <p:ph type="dt" sz="half" idx="10"/>
          </p:nvPr>
        </p:nvSpPr>
        <p:spPr/>
        <p:txBody>
          <a:bodyPr/>
          <a:lstStyle/>
          <a:p>
            <a:fld id="{D3EB3054-B75A-4BD7-8B3E-8DC0F614FAF3}" type="datetimeFigureOut">
              <a:rPr lang="de-DE" smtClean="0"/>
              <a:t>26.05.2026</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802006FE-6571-4354-8775-F8708372C227}" type="slidenum">
              <a:rPr lang="de-DE" smtClean="0"/>
              <a:t>‹#›</a:t>
            </a:fld>
            <a:endParaRPr lang="de-DE"/>
          </a:p>
        </p:txBody>
      </p:sp>
    </p:spTree>
    <p:extLst>
      <p:ext uri="{BB962C8B-B14F-4D97-AF65-F5344CB8AC3E}">
        <p14:creationId xmlns:p14="http://schemas.microsoft.com/office/powerpoint/2010/main" val="4043166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idx="1" hasCustomPrompt="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D3EB3054-B75A-4BD7-8B3E-8DC0F614FAF3}" type="datetimeFigureOut">
              <a:rPr lang="de-DE" smtClean="0"/>
              <a:t>26.05.2026</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802006FE-6571-4354-8775-F8708372C227}" type="slidenum">
              <a:rPr lang="de-DE" smtClean="0"/>
              <a:t>‹#›</a:t>
            </a:fld>
            <a:endParaRPr lang="de-DE"/>
          </a:p>
        </p:txBody>
      </p:sp>
    </p:spTree>
    <p:extLst>
      <p:ext uri="{BB962C8B-B14F-4D97-AF65-F5344CB8AC3E}">
        <p14:creationId xmlns:p14="http://schemas.microsoft.com/office/powerpoint/2010/main" val="3433200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de-DE"/>
              <a:t>Titelmasterformat durch Klicken bearbeiten</a:t>
            </a:r>
          </a:p>
        </p:txBody>
      </p:sp>
      <p:sp>
        <p:nvSpPr>
          <p:cNvPr id="3" name="Textplatzhalt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Textmasterformat bearbeiten</a:t>
            </a:r>
          </a:p>
        </p:txBody>
      </p:sp>
      <p:sp>
        <p:nvSpPr>
          <p:cNvPr id="4" name="Datumsplatzhalter 3"/>
          <p:cNvSpPr>
            <a:spLocks noGrp="1"/>
          </p:cNvSpPr>
          <p:nvPr>
            <p:ph type="dt" sz="half" idx="10"/>
          </p:nvPr>
        </p:nvSpPr>
        <p:spPr/>
        <p:txBody>
          <a:bodyPr/>
          <a:lstStyle/>
          <a:p>
            <a:fld id="{D3EB3054-B75A-4BD7-8B3E-8DC0F614FAF3}" type="datetimeFigureOut">
              <a:rPr lang="de-DE" smtClean="0"/>
              <a:t>26.05.2026</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802006FE-6571-4354-8775-F8708372C227}" type="slidenum">
              <a:rPr lang="de-DE" smtClean="0"/>
              <a:t>‹#›</a:t>
            </a:fld>
            <a:endParaRPr lang="de-DE"/>
          </a:p>
        </p:txBody>
      </p:sp>
    </p:spTree>
    <p:extLst>
      <p:ext uri="{BB962C8B-B14F-4D97-AF65-F5344CB8AC3E}">
        <p14:creationId xmlns:p14="http://schemas.microsoft.com/office/powerpoint/2010/main" val="2835585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838200" y="1825625"/>
            <a:ext cx="5181600" cy="435133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172200" y="1825625"/>
            <a:ext cx="5181600" cy="435133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fld id="{D3EB3054-B75A-4BD7-8B3E-8DC0F614FAF3}" type="datetimeFigureOut">
              <a:rPr lang="de-DE" smtClean="0"/>
              <a:t>26.05.2026</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802006FE-6571-4354-8775-F8708372C227}" type="slidenum">
              <a:rPr lang="de-DE" smtClean="0"/>
              <a:t>‹#›</a:t>
            </a:fld>
            <a:endParaRPr lang="de-DE"/>
          </a:p>
        </p:txBody>
      </p:sp>
    </p:spTree>
    <p:extLst>
      <p:ext uri="{BB962C8B-B14F-4D97-AF65-F5344CB8AC3E}">
        <p14:creationId xmlns:p14="http://schemas.microsoft.com/office/powerpoint/2010/main" val="742901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de-DE"/>
              <a:t>Titelmasterformat durch Klicken bearbeiten</a:t>
            </a:r>
          </a:p>
        </p:txBody>
      </p:sp>
      <p:sp>
        <p:nvSpPr>
          <p:cNvPr id="3" name="Textplatzhalt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 bearbeiten</a:t>
            </a:r>
          </a:p>
        </p:txBody>
      </p:sp>
      <p:sp>
        <p:nvSpPr>
          <p:cNvPr id="4" name="Inhaltsplatzhalter 3"/>
          <p:cNvSpPr>
            <a:spLocks noGrp="1"/>
          </p:cNvSpPr>
          <p:nvPr>
            <p:ph sz="half" idx="2"/>
          </p:nvPr>
        </p:nvSpPr>
        <p:spPr>
          <a:xfrm>
            <a:off x="839788" y="2505075"/>
            <a:ext cx="5157787" cy="368458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 bearbeiten</a:t>
            </a:r>
          </a:p>
        </p:txBody>
      </p:sp>
      <p:sp>
        <p:nvSpPr>
          <p:cNvPr id="6" name="Inhaltsplatzhalter 5"/>
          <p:cNvSpPr>
            <a:spLocks noGrp="1"/>
          </p:cNvSpPr>
          <p:nvPr>
            <p:ph sz="quarter" idx="4"/>
          </p:nvPr>
        </p:nvSpPr>
        <p:spPr>
          <a:xfrm>
            <a:off x="6172200" y="2505075"/>
            <a:ext cx="5183188" cy="368458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p:cNvSpPr>
            <a:spLocks noGrp="1"/>
          </p:cNvSpPr>
          <p:nvPr>
            <p:ph type="dt" sz="half" idx="10"/>
          </p:nvPr>
        </p:nvSpPr>
        <p:spPr/>
        <p:txBody>
          <a:bodyPr/>
          <a:lstStyle/>
          <a:p>
            <a:fld id="{D3EB3054-B75A-4BD7-8B3E-8DC0F614FAF3}" type="datetimeFigureOut">
              <a:rPr lang="de-DE" smtClean="0"/>
              <a:t>26.05.2026</a:t>
            </a:fld>
            <a:endParaRPr lang="de-DE"/>
          </a:p>
        </p:txBody>
      </p:sp>
      <p:sp>
        <p:nvSpPr>
          <p:cNvPr id="8" name="Fußzeilenplatzhalter 7"/>
          <p:cNvSpPr>
            <a:spLocks noGrp="1"/>
          </p:cNvSpPr>
          <p:nvPr>
            <p:ph type="ftr" sz="quarter" idx="11"/>
          </p:nvPr>
        </p:nvSpPr>
        <p:spPr/>
        <p:txBody>
          <a:bodyPr/>
          <a:lstStyle/>
          <a:p>
            <a:endParaRPr lang="de-DE"/>
          </a:p>
        </p:txBody>
      </p:sp>
      <p:sp>
        <p:nvSpPr>
          <p:cNvPr id="9" name="Foliennummernplatzhalter 8"/>
          <p:cNvSpPr>
            <a:spLocks noGrp="1"/>
          </p:cNvSpPr>
          <p:nvPr>
            <p:ph type="sldNum" sz="quarter" idx="12"/>
          </p:nvPr>
        </p:nvSpPr>
        <p:spPr/>
        <p:txBody>
          <a:bodyPr/>
          <a:lstStyle/>
          <a:p>
            <a:fld id="{802006FE-6571-4354-8775-F8708372C227}" type="slidenum">
              <a:rPr lang="de-DE" smtClean="0"/>
              <a:t>‹#›</a:t>
            </a:fld>
            <a:endParaRPr lang="de-DE"/>
          </a:p>
        </p:txBody>
      </p:sp>
    </p:spTree>
    <p:extLst>
      <p:ext uri="{BB962C8B-B14F-4D97-AF65-F5344CB8AC3E}">
        <p14:creationId xmlns:p14="http://schemas.microsoft.com/office/powerpoint/2010/main" val="2024084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Datumsplatzhalter 2"/>
          <p:cNvSpPr>
            <a:spLocks noGrp="1"/>
          </p:cNvSpPr>
          <p:nvPr>
            <p:ph type="dt" sz="half" idx="10"/>
          </p:nvPr>
        </p:nvSpPr>
        <p:spPr/>
        <p:txBody>
          <a:bodyPr/>
          <a:lstStyle/>
          <a:p>
            <a:fld id="{D3EB3054-B75A-4BD7-8B3E-8DC0F614FAF3}" type="datetimeFigureOut">
              <a:rPr lang="de-DE" smtClean="0"/>
              <a:t>26.05.2026</a:t>
            </a:fld>
            <a:endParaRPr lang="de-DE"/>
          </a:p>
        </p:txBody>
      </p:sp>
      <p:sp>
        <p:nvSpPr>
          <p:cNvPr id="4" name="Fußzeilenplatzhalter 3"/>
          <p:cNvSpPr>
            <a:spLocks noGrp="1"/>
          </p:cNvSpPr>
          <p:nvPr>
            <p:ph type="ftr" sz="quarter" idx="11"/>
          </p:nvPr>
        </p:nvSpPr>
        <p:spPr/>
        <p:txBody>
          <a:bodyPr/>
          <a:lstStyle/>
          <a:p>
            <a:endParaRPr lang="de-DE"/>
          </a:p>
        </p:txBody>
      </p:sp>
      <p:sp>
        <p:nvSpPr>
          <p:cNvPr id="5" name="Foliennummernplatzhalter 4"/>
          <p:cNvSpPr>
            <a:spLocks noGrp="1"/>
          </p:cNvSpPr>
          <p:nvPr>
            <p:ph type="sldNum" sz="quarter" idx="12"/>
          </p:nvPr>
        </p:nvSpPr>
        <p:spPr/>
        <p:txBody>
          <a:bodyPr/>
          <a:lstStyle/>
          <a:p>
            <a:fld id="{802006FE-6571-4354-8775-F8708372C227}" type="slidenum">
              <a:rPr lang="de-DE" smtClean="0"/>
              <a:t>‹#›</a:t>
            </a:fld>
            <a:endParaRPr lang="de-DE"/>
          </a:p>
        </p:txBody>
      </p:sp>
    </p:spTree>
    <p:extLst>
      <p:ext uri="{BB962C8B-B14F-4D97-AF65-F5344CB8AC3E}">
        <p14:creationId xmlns:p14="http://schemas.microsoft.com/office/powerpoint/2010/main" val="2440206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D3EB3054-B75A-4BD7-8B3E-8DC0F614FAF3}" type="datetimeFigureOut">
              <a:rPr lang="de-DE" smtClean="0"/>
              <a:t>26.05.2026</a:t>
            </a:fld>
            <a:endParaRPr lang="de-DE"/>
          </a:p>
        </p:txBody>
      </p:sp>
      <p:sp>
        <p:nvSpPr>
          <p:cNvPr id="3" name="Fußzeilenplatzhalter 2"/>
          <p:cNvSpPr>
            <a:spLocks noGrp="1"/>
          </p:cNvSpPr>
          <p:nvPr>
            <p:ph type="ftr" sz="quarter" idx="11"/>
          </p:nvPr>
        </p:nvSpPr>
        <p:spPr/>
        <p:txBody>
          <a:bodyPr/>
          <a:lstStyle/>
          <a:p>
            <a:endParaRPr lang="de-DE"/>
          </a:p>
        </p:txBody>
      </p:sp>
      <p:sp>
        <p:nvSpPr>
          <p:cNvPr id="4" name="Foliennummernplatzhalter 3"/>
          <p:cNvSpPr>
            <a:spLocks noGrp="1"/>
          </p:cNvSpPr>
          <p:nvPr>
            <p:ph type="sldNum" sz="quarter" idx="12"/>
          </p:nvPr>
        </p:nvSpPr>
        <p:spPr/>
        <p:txBody>
          <a:bodyPr/>
          <a:lstStyle/>
          <a:p>
            <a:fld id="{802006FE-6571-4354-8775-F8708372C227}" type="slidenum">
              <a:rPr lang="de-DE" smtClean="0"/>
              <a:t>‹#›</a:t>
            </a:fld>
            <a:endParaRPr lang="de-DE"/>
          </a:p>
        </p:txBody>
      </p:sp>
    </p:spTree>
    <p:extLst>
      <p:ext uri="{BB962C8B-B14F-4D97-AF65-F5344CB8AC3E}">
        <p14:creationId xmlns:p14="http://schemas.microsoft.com/office/powerpoint/2010/main" val="3087692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p>
        </p:txBody>
      </p:sp>
      <p:sp>
        <p:nvSpPr>
          <p:cNvPr id="3" name="Inhaltsplatzhalt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Textmasterformat bearbeiten</a:t>
            </a:r>
          </a:p>
        </p:txBody>
      </p:sp>
      <p:sp>
        <p:nvSpPr>
          <p:cNvPr id="5" name="Datumsplatzhalter 4"/>
          <p:cNvSpPr>
            <a:spLocks noGrp="1"/>
          </p:cNvSpPr>
          <p:nvPr>
            <p:ph type="dt" sz="half" idx="10"/>
          </p:nvPr>
        </p:nvSpPr>
        <p:spPr/>
        <p:txBody>
          <a:bodyPr/>
          <a:lstStyle/>
          <a:p>
            <a:fld id="{D3EB3054-B75A-4BD7-8B3E-8DC0F614FAF3}" type="datetimeFigureOut">
              <a:rPr lang="de-DE" smtClean="0"/>
              <a:t>26.05.2026</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802006FE-6571-4354-8775-F8708372C227}" type="slidenum">
              <a:rPr lang="de-DE" smtClean="0"/>
              <a:t>‹#›</a:t>
            </a:fld>
            <a:endParaRPr lang="de-DE"/>
          </a:p>
        </p:txBody>
      </p:sp>
    </p:spTree>
    <p:extLst>
      <p:ext uri="{BB962C8B-B14F-4D97-AF65-F5344CB8AC3E}">
        <p14:creationId xmlns:p14="http://schemas.microsoft.com/office/powerpoint/2010/main" val="3453883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p>
        </p:txBody>
      </p:sp>
      <p:sp>
        <p:nvSpPr>
          <p:cNvPr id="3" name="Bildplatzhalt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Textmasterformat bearbeiten</a:t>
            </a:r>
          </a:p>
        </p:txBody>
      </p:sp>
      <p:sp>
        <p:nvSpPr>
          <p:cNvPr id="5" name="Datumsplatzhalter 4"/>
          <p:cNvSpPr>
            <a:spLocks noGrp="1"/>
          </p:cNvSpPr>
          <p:nvPr>
            <p:ph type="dt" sz="half" idx="10"/>
          </p:nvPr>
        </p:nvSpPr>
        <p:spPr/>
        <p:txBody>
          <a:bodyPr/>
          <a:lstStyle/>
          <a:p>
            <a:fld id="{D3EB3054-B75A-4BD7-8B3E-8DC0F614FAF3}" type="datetimeFigureOut">
              <a:rPr lang="de-DE" smtClean="0"/>
              <a:t>26.05.2026</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802006FE-6571-4354-8775-F8708372C227}" type="slidenum">
              <a:rPr lang="de-DE" smtClean="0"/>
              <a:t>‹#›</a:t>
            </a:fld>
            <a:endParaRPr lang="de-DE"/>
          </a:p>
        </p:txBody>
      </p:sp>
    </p:spTree>
    <p:extLst>
      <p:ext uri="{BB962C8B-B14F-4D97-AF65-F5344CB8AC3E}">
        <p14:creationId xmlns:p14="http://schemas.microsoft.com/office/powerpoint/2010/main" val="2509888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D3EB3054-B75A-4BD7-8B3E-8DC0F614FAF3}" type="datetimeFigureOut">
              <a:rPr lang="de-DE" smtClean="0"/>
              <a:t>26.05.2026</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802006FE-6571-4354-8775-F8708372C227}" type="slidenum">
              <a:rPr lang="de-DE" smtClean="0"/>
              <a:t>‹#›</a:t>
            </a:fld>
            <a:endParaRPr lang="de-DE"/>
          </a:p>
        </p:txBody>
      </p:sp>
    </p:spTree>
    <p:extLst>
      <p:ext uri="{BB962C8B-B14F-4D97-AF65-F5344CB8AC3E}">
        <p14:creationId xmlns:p14="http://schemas.microsoft.com/office/powerpoint/2010/main" val="16992067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724900" y="365125"/>
            <a:ext cx="2628900" cy="5811838"/>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838200" y="365125"/>
            <a:ext cx="7734300" cy="5811838"/>
          </a:xfrm>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D3EB3054-B75A-4BD7-8B3E-8DC0F614FAF3}" type="datetimeFigureOut">
              <a:rPr lang="de-DE" smtClean="0"/>
              <a:t>26.05.2026</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802006FE-6571-4354-8775-F8708372C227}" type="slidenum">
              <a:rPr lang="de-DE" smtClean="0"/>
              <a:t>‹#›</a:t>
            </a:fld>
            <a:endParaRPr lang="de-DE"/>
          </a:p>
        </p:txBody>
      </p:sp>
    </p:spTree>
    <p:extLst>
      <p:ext uri="{BB962C8B-B14F-4D97-AF65-F5344CB8AC3E}">
        <p14:creationId xmlns:p14="http://schemas.microsoft.com/office/powerpoint/2010/main" val="2809958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21459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3EB3054-B75A-4BD7-8B3E-8DC0F614FAF3}" type="datetimeFigureOut">
              <a:rPr lang="de-DE" smtClean="0"/>
              <a:t>26.05.2026</a:t>
            </a:fld>
            <a:endParaRPr lang="de-DE"/>
          </a:p>
        </p:txBody>
      </p:sp>
      <p:sp>
        <p:nvSpPr>
          <p:cNvPr id="5" name="Fußzeilenplatzhalt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2006FE-6571-4354-8775-F8708372C227}" type="slidenum">
              <a:rPr lang="de-DE" smtClean="0"/>
              <a:t>‹#›</a:t>
            </a:fld>
            <a:endParaRPr lang="de-DE"/>
          </a:p>
        </p:txBody>
      </p:sp>
    </p:spTree>
    <p:extLst>
      <p:ext uri="{BB962C8B-B14F-4D97-AF65-F5344CB8AC3E}">
        <p14:creationId xmlns:p14="http://schemas.microsoft.com/office/powerpoint/2010/main" val="5947254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b="1" kern="1200">
          <a:solidFill>
            <a:schemeClr val="accent1">
              <a:lumMod val="75000"/>
            </a:schemeClr>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hyperlink" Target="https://data-seattlecitygis.opendata.arcgis.com/datasets/seattle-public-schools-sites-2023-2024/about" TargetMode="External"/><Relationship Id="rId2" Type="http://schemas.openxmlformats.org/officeDocument/2006/relationships/hyperlink" Target="https://data.seattle.gov/dataset/Seattle-Public-Schools-Sites-2023-2024/j4ay-9bja/about_data" TargetMode="External"/><Relationship Id="rId1" Type="http://schemas.openxmlformats.org/officeDocument/2006/relationships/slideLayout" Target="../slideLayouts/slideLayout2.xml"/><Relationship Id="rId6" Type="http://schemas.openxmlformats.org/officeDocument/2006/relationships/hyperlink" Target="https://data-seattlecitygis.opendata.arcgis.com/datasets/0a0850f5dec54679b970c4dede080d6b_0/explore?location=47.619138%2C-122.334237%2C11" TargetMode="External"/><Relationship Id="rId5" Type="http://schemas.openxmlformats.org/officeDocument/2006/relationships/hyperlink" Target="https://data-seattlecitygis.opendata.arcgis.com/datasets/cfa4fba5776f4ade891e3e477dda638a_0/explore" TargetMode="External"/><Relationship Id="rId4" Type="http://schemas.openxmlformats.org/officeDocument/2006/relationships/hyperlink" Target="https://data-seattlecitygis.opendata.arcgis.com/maps/9baab63b52df417a9b2a168e3f288b1b/abou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B049B4-6D57-F589-5700-6A1CAF4DC31D}"/>
              </a:ext>
            </a:extLst>
          </p:cNvPr>
          <p:cNvSpPr>
            <a:spLocks noGrp="1"/>
          </p:cNvSpPr>
          <p:nvPr>
            <p:ph type="ctrTitle"/>
          </p:nvPr>
        </p:nvSpPr>
        <p:spPr/>
        <p:txBody>
          <a:bodyPr/>
          <a:lstStyle/>
          <a:p>
            <a:r>
              <a:rPr lang="de-DE"/>
              <a:t>DDM Meilenstein 2</a:t>
            </a:r>
          </a:p>
        </p:txBody>
      </p:sp>
      <p:sp>
        <p:nvSpPr>
          <p:cNvPr id="3" name="Untertitel 2">
            <a:extLst>
              <a:ext uri="{FF2B5EF4-FFF2-40B4-BE49-F238E27FC236}">
                <a16:creationId xmlns:a16="http://schemas.microsoft.com/office/drawing/2014/main" id="{C51C6C39-2F1C-582A-B03A-F56AA54547D1}"/>
              </a:ext>
            </a:extLst>
          </p:cNvPr>
          <p:cNvSpPr>
            <a:spLocks noGrp="1"/>
          </p:cNvSpPr>
          <p:nvPr>
            <p:ph type="subTitle" idx="1"/>
          </p:nvPr>
        </p:nvSpPr>
        <p:spPr/>
        <p:txBody>
          <a:bodyPr/>
          <a:lstStyle/>
          <a:p>
            <a:r>
              <a:rPr lang="de-DE"/>
              <a:t>Zuordnung zu Zielgruppe</a:t>
            </a:r>
          </a:p>
          <a:p>
            <a:r>
              <a:rPr lang="de-DE"/>
              <a:t>David Schneider, Joshua Schulz-Andres, Marian Kästner</a:t>
            </a:r>
          </a:p>
        </p:txBody>
      </p:sp>
    </p:spTree>
    <p:extLst>
      <p:ext uri="{BB962C8B-B14F-4D97-AF65-F5344CB8AC3E}">
        <p14:creationId xmlns:p14="http://schemas.microsoft.com/office/powerpoint/2010/main" val="21984696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091D1CE-AFAC-0F36-3DA1-ABAEA32D403C}"/>
              </a:ext>
            </a:extLst>
          </p:cNvPr>
          <p:cNvSpPr>
            <a:spLocks noGrp="1"/>
          </p:cNvSpPr>
          <p:nvPr>
            <p:ph type="title"/>
          </p:nvPr>
        </p:nvSpPr>
        <p:spPr/>
        <p:txBody>
          <a:bodyPr/>
          <a:lstStyle/>
          <a:p>
            <a:r>
              <a:rPr lang="de-DE"/>
              <a:t>Hypothesen</a:t>
            </a:r>
          </a:p>
        </p:txBody>
      </p:sp>
      <p:sp>
        <p:nvSpPr>
          <p:cNvPr id="3" name="Inhaltsplatzhalter 2">
            <a:extLst>
              <a:ext uri="{FF2B5EF4-FFF2-40B4-BE49-F238E27FC236}">
                <a16:creationId xmlns:a16="http://schemas.microsoft.com/office/drawing/2014/main" id="{6DB3A73A-9D60-1B13-9E16-5D2821587330}"/>
              </a:ext>
            </a:extLst>
          </p:cNvPr>
          <p:cNvSpPr>
            <a:spLocks noGrp="1"/>
          </p:cNvSpPr>
          <p:nvPr>
            <p:ph idx="1"/>
          </p:nvPr>
        </p:nvSpPr>
        <p:spPr/>
        <p:txBody>
          <a:bodyPr vert="horz" lIns="91440" tIns="45720" rIns="91440" bIns="45720" rtlCol="0" anchor="t">
            <a:normAutofit/>
          </a:bodyPr>
          <a:lstStyle/>
          <a:p>
            <a:r>
              <a:rPr lang="de-DE" sz="1800">
                <a:ea typeface="+mn-lt"/>
                <a:cs typeface="+mn-lt"/>
              </a:rPr>
              <a:t>H1: Die Eignung einer Immobilie für Familien wird primär durch das Vorhandensein von mindestens 3 Schlafzimmern und einer signifikanten Außenfläche definiert. Wir nehmen an, dass es eine starke positive Korrelation zwischen der Grundstücksgröße (</a:t>
            </a:r>
            <a:r>
              <a:rPr lang="de-DE" sz="1800" err="1">
                <a:ea typeface="+mn-lt"/>
                <a:cs typeface="+mn-lt"/>
              </a:rPr>
              <a:t>sqft_lot</a:t>
            </a:r>
            <a:r>
              <a:rPr lang="de-DE" sz="1800">
                <a:ea typeface="+mn-lt"/>
                <a:cs typeface="+mn-lt"/>
              </a:rPr>
              <a:t>) und der Anzahl der Schlafzimmer (</a:t>
            </a:r>
            <a:r>
              <a:rPr lang="de-DE" sz="1800" err="1">
                <a:ea typeface="+mn-lt"/>
                <a:cs typeface="+mn-lt"/>
              </a:rPr>
              <a:t>bedrooms</a:t>
            </a:r>
            <a:r>
              <a:rPr lang="de-DE" sz="1800">
                <a:ea typeface="+mn-lt"/>
                <a:cs typeface="+mn-lt"/>
              </a:rPr>
              <a:t>) gibt, welche das Familien-Segment von Singles abgrenzt.</a:t>
            </a:r>
          </a:p>
          <a:p>
            <a:r>
              <a:rPr lang="de-DE" sz="1800"/>
              <a:t>H2: Der Luxusmarkt (die oberen 5 % der Immobilienpreise) wird nicht allein durch die bloße Wohnfläche bestimmt, sondern durch exklusive qualitative Merkmale. Wir gehen davon aus, dass Immobilien mit Wasserblick (</a:t>
            </a:r>
            <a:r>
              <a:rPr lang="de-DE" sz="1800" err="1"/>
              <a:t>waterfront</a:t>
            </a:r>
            <a:r>
              <a:rPr lang="de-DE" sz="1800"/>
              <a:t> = 1) oder einer sehr hohen Bauqualität (grade &gt;= 10) überproportional oft in dieses Hochpreissegment fallen, unabhängig von der reinen Zimmeranzahl.</a:t>
            </a:r>
          </a:p>
          <a:p>
            <a:r>
              <a:rPr lang="de-DE" sz="1800">
                <a:ea typeface="+mn-lt"/>
                <a:cs typeface="+mn-lt"/>
              </a:rPr>
              <a:t>H3: Singles bevorzugen kleinere, pflegeleichtere Immobilien in bestimmten (oft städtischen) Lagen. Wir nehmen an, dass Immobilien mit 1 bis 2 Schlafzimmern (</a:t>
            </a:r>
            <a:r>
              <a:rPr lang="de-DE" sz="1800" err="1">
                <a:ea typeface="+mn-lt"/>
                <a:cs typeface="+mn-lt"/>
              </a:rPr>
              <a:t>bedrooms</a:t>
            </a:r>
            <a:r>
              <a:rPr lang="de-DE" sz="1800">
                <a:ea typeface="+mn-lt"/>
                <a:cs typeface="+mn-lt"/>
              </a:rPr>
              <a:t>) im Durchschnitt einen deutlich kleineren Grundstücksanteil (</a:t>
            </a:r>
            <a:r>
              <a:rPr lang="de-DE" sz="1800" err="1">
                <a:ea typeface="+mn-lt"/>
                <a:cs typeface="+mn-lt"/>
              </a:rPr>
              <a:t>sqft_lot</a:t>
            </a:r>
            <a:r>
              <a:rPr lang="de-DE" sz="1800">
                <a:ea typeface="+mn-lt"/>
                <a:cs typeface="+mn-lt"/>
              </a:rPr>
              <a:t>) haben und sich auf spezifische Postleitzahlengebiete (</a:t>
            </a:r>
            <a:r>
              <a:rPr lang="de-DE" sz="1800" err="1">
                <a:ea typeface="+mn-lt"/>
                <a:cs typeface="+mn-lt"/>
              </a:rPr>
              <a:t>zipcode</a:t>
            </a:r>
            <a:r>
              <a:rPr lang="de-DE" sz="1800">
                <a:ea typeface="+mn-lt"/>
                <a:cs typeface="+mn-lt"/>
              </a:rPr>
              <a:t> / </a:t>
            </a:r>
            <a:r>
              <a:rPr lang="de-DE" sz="1800" err="1">
                <a:ea typeface="+mn-lt"/>
                <a:cs typeface="+mn-lt"/>
              </a:rPr>
              <a:t>lat</a:t>
            </a:r>
            <a:r>
              <a:rPr lang="de-DE" sz="1800">
                <a:ea typeface="+mn-lt"/>
                <a:cs typeface="+mn-lt"/>
              </a:rPr>
              <a:t> / </a:t>
            </a:r>
            <a:r>
              <a:rPr lang="de-DE" sz="1800" err="1">
                <a:ea typeface="+mn-lt"/>
                <a:cs typeface="+mn-lt"/>
              </a:rPr>
              <a:t>long</a:t>
            </a:r>
            <a:r>
              <a:rPr lang="de-DE" sz="1800">
                <a:ea typeface="+mn-lt"/>
                <a:cs typeface="+mn-lt"/>
              </a:rPr>
              <a:t>) konzentrieren, was auf eine urbane, verdichtete Wohnform hindeutet.</a:t>
            </a:r>
            <a:endParaRPr lang="de-DE" sz="1800"/>
          </a:p>
        </p:txBody>
      </p:sp>
    </p:spTree>
    <p:extLst>
      <p:ext uri="{BB962C8B-B14F-4D97-AF65-F5344CB8AC3E}">
        <p14:creationId xmlns:p14="http://schemas.microsoft.com/office/powerpoint/2010/main" val="1872115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75360" y="426720"/>
            <a:ext cx="10363200" cy="8534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4533" b="1" err="1">
                <a:solidFill>
                  <a:schemeClr val="accent1">
                    <a:lumMod val="75000"/>
                  </a:schemeClr>
                </a:solidFill>
                <a:latin typeface="Georgia" pitchFamily="34" charset="0"/>
                <a:ea typeface="Georgia" pitchFamily="34" charset="-122"/>
                <a:cs typeface="Georgia" pitchFamily="34" charset="-120"/>
              </a:rPr>
              <a:t>Datensatz</a:t>
            </a:r>
            <a:r>
              <a:rPr lang="en-US" sz="4533" b="1">
                <a:solidFill>
                  <a:schemeClr val="accent1">
                    <a:lumMod val="75000"/>
                  </a:schemeClr>
                </a:solidFill>
                <a:latin typeface="Georgia" pitchFamily="34" charset="0"/>
                <a:ea typeface="Georgia" pitchFamily="34" charset="-122"/>
                <a:cs typeface="Georgia" pitchFamily="34" charset="-120"/>
              </a:rPr>
              <a:t> &amp; CRISP-DM</a:t>
            </a:r>
            <a:endParaRPr lang="en-US" sz="4533">
              <a:solidFill>
                <a:schemeClr val="accent1">
                  <a:lumMod val="75000"/>
                </a:schemeClr>
              </a:solidFill>
            </a:endParaRPr>
          </a:p>
        </p:txBody>
      </p:sp>
      <p:sp>
        <p:nvSpPr>
          <p:cNvPr id="15" name="Text 13"/>
          <p:cNvSpPr/>
          <p:nvPr/>
        </p:nvSpPr>
        <p:spPr>
          <a:xfrm>
            <a:off x="975360" y="1757916"/>
            <a:ext cx="10363200" cy="4460004"/>
          </a:xfrm>
          <a:prstGeom prst="rect">
            <a:avLst/>
          </a:prstGeom>
          <a:noFill/>
          <a:ln/>
        </p:spPr>
        <p:txBody>
          <a:bodyPr wrap="square" lIns="91440" tIns="45720" rIns="91440" bIns="4572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nSpc>
                <a:spcPct val="150000"/>
              </a:lnSpc>
              <a:buNone/>
            </a:pPr>
            <a:r>
              <a:rPr lang="en-US" sz="2800" b="1">
                <a:solidFill>
                  <a:srgbClr val="1E293B"/>
                </a:solidFill>
                <a:latin typeface="Calibri"/>
                <a:ea typeface="Calibri"/>
                <a:cs typeface="Calibri"/>
              </a:rPr>
              <a:t>Quelle: </a:t>
            </a:r>
            <a:r>
              <a:rPr lang="en-US" sz="2800">
                <a:solidFill>
                  <a:srgbClr val="1E293B"/>
                </a:solidFill>
                <a:latin typeface="Calibri"/>
                <a:ea typeface="Calibri"/>
                <a:cs typeface="Calibri"/>
              </a:rPr>
              <a:t>King County Assessor's Office (Open Data, CC0)</a:t>
            </a:r>
            <a:endParaRPr lang="en-US" sz="2800">
              <a:latin typeface="Calibri"/>
              <a:ea typeface="Calibri"/>
              <a:cs typeface="Calibri"/>
            </a:endParaRPr>
          </a:p>
          <a:p>
            <a:pPr>
              <a:lnSpc>
                <a:spcPct val="150000"/>
              </a:lnSpc>
            </a:pPr>
            <a:r>
              <a:rPr lang="en-US" sz="2800" b="1">
                <a:solidFill>
                  <a:srgbClr val="1E293B"/>
                </a:solidFill>
                <a:latin typeface="Calibri"/>
                <a:ea typeface="Calibri"/>
                <a:cs typeface="Calibri"/>
              </a:rPr>
              <a:t>Features: </a:t>
            </a:r>
            <a:r>
              <a:rPr lang="en-US" sz="2800">
                <a:solidFill>
                  <a:srgbClr val="1E293B"/>
                </a:solidFill>
                <a:latin typeface="Calibri"/>
                <a:ea typeface="Calibri"/>
                <a:cs typeface="Calibri"/>
              </a:rPr>
              <a:t>price, bedrooms, bathrooms, </a:t>
            </a:r>
            <a:r>
              <a:rPr lang="en-US" sz="2800" err="1">
                <a:solidFill>
                  <a:srgbClr val="1E293B"/>
                </a:solidFill>
                <a:latin typeface="Calibri"/>
                <a:ea typeface="Calibri"/>
                <a:cs typeface="Calibri"/>
              </a:rPr>
              <a:t>sqft_living</a:t>
            </a:r>
            <a:r>
              <a:rPr lang="en-US" sz="2800">
                <a:solidFill>
                  <a:srgbClr val="1E293B"/>
                </a:solidFill>
                <a:latin typeface="Calibri"/>
                <a:ea typeface="Calibri"/>
                <a:cs typeface="Calibri"/>
              </a:rPr>
              <a:t>, </a:t>
            </a:r>
            <a:r>
              <a:rPr lang="en-US" sz="2800" err="1">
                <a:solidFill>
                  <a:srgbClr val="1E293B"/>
                </a:solidFill>
                <a:latin typeface="Calibri"/>
                <a:ea typeface="Calibri"/>
                <a:cs typeface="Calibri"/>
              </a:rPr>
              <a:t>sqft_lot</a:t>
            </a:r>
            <a:r>
              <a:rPr lang="en-US" sz="2800">
                <a:solidFill>
                  <a:srgbClr val="1E293B"/>
                </a:solidFill>
                <a:latin typeface="Calibri"/>
                <a:ea typeface="Calibri"/>
                <a:cs typeface="Calibri"/>
              </a:rPr>
              <a:t>, grade, waterfront, </a:t>
            </a:r>
            <a:r>
              <a:rPr lang="en-US" sz="2800" err="1">
                <a:solidFill>
                  <a:srgbClr val="1E293B"/>
                </a:solidFill>
                <a:latin typeface="Calibri"/>
                <a:ea typeface="Calibri"/>
                <a:cs typeface="Calibri"/>
              </a:rPr>
              <a:t>zipcode</a:t>
            </a:r>
            <a:r>
              <a:rPr lang="en-US" sz="2800">
                <a:solidFill>
                  <a:srgbClr val="1E293B"/>
                </a:solidFill>
                <a:latin typeface="Calibri"/>
                <a:ea typeface="Calibri"/>
                <a:cs typeface="Calibri"/>
              </a:rPr>
              <a:t>, </a:t>
            </a:r>
            <a:r>
              <a:rPr lang="en-US" sz="2800" err="1">
                <a:solidFill>
                  <a:srgbClr val="1E293B"/>
                </a:solidFill>
                <a:latin typeface="Calibri"/>
                <a:ea typeface="Calibri"/>
                <a:cs typeface="Calibri"/>
              </a:rPr>
              <a:t>lat</a:t>
            </a:r>
            <a:r>
              <a:rPr lang="en-US" sz="2800">
                <a:solidFill>
                  <a:srgbClr val="1E293B"/>
                </a:solidFill>
                <a:latin typeface="Calibri"/>
                <a:ea typeface="Calibri"/>
                <a:cs typeface="Calibri"/>
              </a:rPr>
              <a:t>, long, … </a:t>
            </a:r>
            <a:endParaRPr lang="en-US" sz="2800">
              <a:latin typeface="Calibri"/>
              <a:ea typeface="Calibri"/>
              <a:cs typeface="Calibri"/>
            </a:endParaRPr>
          </a:p>
          <a:p>
            <a:pPr marL="0" indent="0">
              <a:lnSpc>
                <a:spcPct val="150000"/>
              </a:lnSpc>
              <a:buNone/>
            </a:pPr>
            <a:r>
              <a:rPr lang="en-US" sz="2800" b="1" err="1">
                <a:solidFill>
                  <a:srgbClr val="1E293B"/>
                </a:solidFill>
                <a:latin typeface="Calibri"/>
                <a:ea typeface="Calibri"/>
                <a:cs typeface="Calibri"/>
              </a:rPr>
              <a:t>Umgebung</a:t>
            </a:r>
            <a:r>
              <a:rPr lang="en-US" sz="2800" b="1">
                <a:solidFill>
                  <a:srgbClr val="1E293B"/>
                </a:solidFill>
                <a:latin typeface="Calibri"/>
                <a:ea typeface="Calibri"/>
                <a:cs typeface="Calibri"/>
              </a:rPr>
              <a:t>: </a:t>
            </a:r>
            <a:r>
              <a:rPr lang="en-US" sz="2800">
                <a:solidFill>
                  <a:srgbClr val="1E293B"/>
                </a:solidFill>
                <a:latin typeface="Calibri"/>
                <a:ea typeface="Calibri"/>
                <a:cs typeface="Calibri"/>
              </a:rPr>
              <a:t>Python (Google </a:t>
            </a:r>
            <a:r>
              <a:rPr lang="en-US" sz="2800" err="1">
                <a:solidFill>
                  <a:srgbClr val="1E293B"/>
                </a:solidFill>
                <a:latin typeface="Calibri"/>
                <a:ea typeface="Calibri"/>
                <a:cs typeface="Calibri"/>
              </a:rPr>
              <a:t>Colab</a:t>
            </a:r>
            <a:r>
              <a:rPr lang="en-US" sz="2800">
                <a:solidFill>
                  <a:srgbClr val="1E293B"/>
                </a:solidFill>
                <a:latin typeface="Calibri"/>
                <a:ea typeface="Calibri"/>
                <a:cs typeface="Calibri"/>
              </a:rPr>
              <a:t>), pandas, matplotlib, seaborn, </a:t>
            </a:r>
            <a:r>
              <a:rPr lang="en-US" sz="2800" err="1">
                <a:solidFill>
                  <a:srgbClr val="1E293B"/>
                </a:solidFill>
                <a:latin typeface="Calibri"/>
                <a:ea typeface="Calibri"/>
                <a:cs typeface="Calibri"/>
              </a:rPr>
              <a:t>Plotly</a:t>
            </a:r>
            <a:endParaRPr lang="en-US" sz="2800">
              <a:latin typeface="Aptos"/>
              <a:ea typeface="Calibri"/>
              <a:cs typeface="Calibri"/>
            </a:endParaRPr>
          </a:p>
        </p:txBody>
      </p:sp>
    </p:spTree>
    <p:extLst>
      <p:ext uri="{BB962C8B-B14F-4D97-AF65-F5344CB8AC3E}">
        <p14:creationId xmlns:p14="http://schemas.microsoft.com/office/powerpoint/2010/main" val="37267369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DD455D7-B638-C29D-9E88-9A77D9F00B0A}"/>
              </a:ext>
            </a:extLst>
          </p:cNvPr>
          <p:cNvSpPr>
            <a:spLocks noGrp="1"/>
          </p:cNvSpPr>
          <p:nvPr>
            <p:ph type="title"/>
          </p:nvPr>
        </p:nvSpPr>
        <p:spPr/>
        <p:txBody>
          <a:bodyPr/>
          <a:lstStyle/>
          <a:p>
            <a:r>
              <a:rPr lang="de-DE"/>
              <a:t>Stakeholder</a:t>
            </a:r>
          </a:p>
        </p:txBody>
      </p:sp>
      <p:sp>
        <p:nvSpPr>
          <p:cNvPr id="3" name="Inhaltsplatzhalter 2">
            <a:extLst>
              <a:ext uri="{FF2B5EF4-FFF2-40B4-BE49-F238E27FC236}">
                <a16:creationId xmlns:a16="http://schemas.microsoft.com/office/drawing/2014/main" id="{F17ECD85-4C94-FB3C-4013-00395437C7FC}"/>
              </a:ext>
            </a:extLst>
          </p:cNvPr>
          <p:cNvSpPr>
            <a:spLocks noGrp="1"/>
          </p:cNvSpPr>
          <p:nvPr>
            <p:ph idx="1"/>
          </p:nvPr>
        </p:nvSpPr>
        <p:spPr/>
        <p:txBody>
          <a:bodyPr/>
          <a:lstStyle/>
          <a:p>
            <a:r>
              <a:rPr lang="de-DE"/>
              <a:t>King County Department </a:t>
            </a:r>
            <a:r>
              <a:rPr lang="de-DE" err="1"/>
              <a:t>of</a:t>
            </a:r>
            <a:r>
              <a:rPr lang="de-DE"/>
              <a:t> Assessments</a:t>
            </a:r>
          </a:p>
          <a:p>
            <a:pPr lvl="1"/>
            <a:r>
              <a:rPr lang="de-DE"/>
              <a:t>Wertentwicklung von Immobilien</a:t>
            </a:r>
          </a:p>
          <a:p>
            <a:pPr lvl="1"/>
            <a:r>
              <a:rPr lang="de-DE"/>
              <a:t>Grundsteuer-Berechnung</a:t>
            </a:r>
          </a:p>
          <a:p>
            <a:r>
              <a:rPr lang="de-DE"/>
              <a:t>Immobilienmakler</a:t>
            </a:r>
          </a:p>
          <a:p>
            <a:r>
              <a:rPr lang="de-DE"/>
              <a:t>Stadtplaner</a:t>
            </a:r>
          </a:p>
          <a:p>
            <a:r>
              <a:rPr lang="de-DE"/>
              <a:t>Banken &amp; Gutachter</a:t>
            </a:r>
          </a:p>
          <a:p>
            <a:r>
              <a:rPr lang="de-DE"/>
              <a:t>Wohnungsbaugesellschaften</a:t>
            </a:r>
          </a:p>
          <a:p>
            <a:r>
              <a:rPr lang="de-DE"/>
              <a:t>Data Science Community </a:t>
            </a:r>
            <a:r>
              <a:rPr lang="de-DE">
                <a:sym typeface="Wingdings" panose="05000000000000000000" pitchFamily="2" charset="2"/>
              </a:rPr>
              <a:t></a:t>
            </a:r>
            <a:endParaRPr lang="de-DE"/>
          </a:p>
        </p:txBody>
      </p:sp>
    </p:spTree>
    <p:extLst>
      <p:ext uri="{BB962C8B-B14F-4D97-AF65-F5344CB8AC3E}">
        <p14:creationId xmlns:p14="http://schemas.microsoft.com/office/powerpoint/2010/main" val="1471756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8DB3088-BBA0-B6BC-F6D3-407F464FF002}"/>
              </a:ext>
            </a:extLst>
          </p:cNvPr>
          <p:cNvSpPr>
            <a:spLocks noGrp="1"/>
          </p:cNvSpPr>
          <p:nvPr>
            <p:ph type="title"/>
          </p:nvPr>
        </p:nvSpPr>
        <p:spPr/>
        <p:txBody>
          <a:bodyPr/>
          <a:lstStyle/>
          <a:p>
            <a:r>
              <a:rPr lang="de-DE" err="1"/>
              <a:t>Quantity</a:t>
            </a:r>
            <a:endParaRPr lang="de-DE"/>
          </a:p>
        </p:txBody>
      </p:sp>
      <p:sp>
        <p:nvSpPr>
          <p:cNvPr id="10" name="Shape 1">
            <a:extLst>
              <a:ext uri="{FF2B5EF4-FFF2-40B4-BE49-F238E27FC236}">
                <a16:creationId xmlns:a16="http://schemas.microsoft.com/office/drawing/2014/main" id="{4F42A79B-67F7-42A6-930A-28A5996A7B04}"/>
              </a:ext>
            </a:extLst>
          </p:cNvPr>
          <p:cNvSpPr/>
          <p:nvPr/>
        </p:nvSpPr>
        <p:spPr>
          <a:xfrm>
            <a:off x="838200" y="1690688"/>
            <a:ext cx="2438400" cy="1341120"/>
          </a:xfrm>
          <a:prstGeom prst="rect">
            <a:avLst/>
          </a:prstGeom>
          <a:solidFill>
            <a:srgbClr val="21295C"/>
          </a:solidFill>
          <a:ln/>
        </p:spPr>
        <p:txBody>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de-DE" sz="3200"/>
          </a:p>
        </p:txBody>
      </p:sp>
      <p:sp>
        <p:nvSpPr>
          <p:cNvPr id="11" name="Text 2">
            <a:extLst>
              <a:ext uri="{FF2B5EF4-FFF2-40B4-BE49-F238E27FC236}">
                <a16:creationId xmlns:a16="http://schemas.microsoft.com/office/drawing/2014/main" id="{32E345E6-73B9-8C94-AF1A-81AB7CC891C1}"/>
              </a:ext>
            </a:extLst>
          </p:cNvPr>
          <p:cNvSpPr/>
          <p:nvPr/>
        </p:nvSpPr>
        <p:spPr>
          <a:xfrm>
            <a:off x="838200" y="1690688"/>
            <a:ext cx="2438400" cy="792480"/>
          </a:xfrm>
          <a:prstGeom prst="rect">
            <a:avLst/>
          </a:prstGeom>
          <a:noFill/>
          <a:ln/>
        </p:spPr>
        <p:txBody>
          <a:bodyPr wrap="square" rtlCol="0" anchor="ct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3733" b="1">
                <a:solidFill>
                  <a:srgbClr val="FFFFFF"/>
                </a:solidFill>
                <a:latin typeface="Arial" panose="020B0604020202020204" pitchFamily="34" charset="0"/>
                <a:ea typeface="Georgia" pitchFamily="34" charset="-122"/>
                <a:cs typeface="Arial" panose="020B0604020202020204" pitchFamily="34" charset="0"/>
              </a:rPr>
              <a:t>21.613</a:t>
            </a:r>
            <a:endParaRPr lang="en-US" sz="3733">
              <a:latin typeface="Arial" panose="020B0604020202020204" pitchFamily="34" charset="0"/>
              <a:cs typeface="Arial" panose="020B0604020202020204" pitchFamily="34" charset="0"/>
            </a:endParaRPr>
          </a:p>
        </p:txBody>
      </p:sp>
      <p:sp>
        <p:nvSpPr>
          <p:cNvPr id="12" name="Text 3">
            <a:extLst>
              <a:ext uri="{FF2B5EF4-FFF2-40B4-BE49-F238E27FC236}">
                <a16:creationId xmlns:a16="http://schemas.microsoft.com/office/drawing/2014/main" id="{4A428130-344A-A172-F5B1-813BD97C778B}"/>
              </a:ext>
            </a:extLst>
          </p:cNvPr>
          <p:cNvSpPr/>
          <p:nvPr/>
        </p:nvSpPr>
        <p:spPr>
          <a:xfrm>
            <a:off x="838200" y="2397824"/>
            <a:ext cx="2438400" cy="487680"/>
          </a:xfrm>
          <a:prstGeom prst="rect">
            <a:avLst/>
          </a:prstGeom>
          <a:noFill/>
          <a:ln/>
        </p:spPr>
        <p:txBody>
          <a:bodyPr wrap="square" rtlCol="0" anchor="t"/>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err="1">
                <a:solidFill>
                  <a:srgbClr val="CADCFC"/>
                </a:solidFill>
                <a:latin typeface="Arial" panose="020B0604020202020204" pitchFamily="34" charset="0"/>
                <a:ea typeface="Calibri" pitchFamily="34" charset="-122"/>
                <a:cs typeface="Arial" panose="020B0604020202020204" pitchFamily="34" charset="0"/>
              </a:rPr>
              <a:t>Transaktionen</a:t>
            </a:r>
            <a:endParaRPr lang="en-US" sz="2000">
              <a:latin typeface="Arial" panose="020B0604020202020204" pitchFamily="34" charset="0"/>
              <a:cs typeface="Arial" panose="020B0604020202020204" pitchFamily="34" charset="0"/>
            </a:endParaRPr>
          </a:p>
        </p:txBody>
      </p:sp>
      <p:sp>
        <p:nvSpPr>
          <p:cNvPr id="13" name="Shape 4">
            <a:extLst>
              <a:ext uri="{FF2B5EF4-FFF2-40B4-BE49-F238E27FC236}">
                <a16:creationId xmlns:a16="http://schemas.microsoft.com/office/drawing/2014/main" id="{51B4A809-A787-C8F7-66D9-F5D8DB43BBE5}"/>
              </a:ext>
            </a:extLst>
          </p:cNvPr>
          <p:cNvSpPr/>
          <p:nvPr/>
        </p:nvSpPr>
        <p:spPr>
          <a:xfrm>
            <a:off x="838200" y="3321875"/>
            <a:ext cx="2438400" cy="1341120"/>
          </a:xfrm>
          <a:prstGeom prst="rect">
            <a:avLst/>
          </a:prstGeom>
          <a:solidFill>
            <a:srgbClr val="F2F7FA"/>
          </a:solidFill>
          <a:ln/>
        </p:spPr>
        <p:txBody>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de-DE" sz="3200"/>
          </a:p>
        </p:txBody>
      </p:sp>
      <p:sp>
        <p:nvSpPr>
          <p:cNvPr id="14" name="Text 5">
            <a:extLst>
              <a:ext uri="{FF2B5EF4-FFF2-40B4-BE49-F238E27FC236}">
                <a16:creationId xmlns:a16="http://schemas.microsoft.com/office/drawing/2014/main" id="{75E60CF8-8F7E-6A9E-B4EE-9B3DE893A10D}"/>
              </a:ext>
            </a:extLst>
          </p:cNvPr>
          <p:cNvSpPr/>
          <p:nvPr/>
        </p:nvSpPr>
        <p:spPr>
          <a:xfrm>
            <a:off x="838200" y="3321875"/>
            <a:ext cx="2438400" cy="792480"/>
          </a:xfrm>
          <a:prstGeom prst="rect">
            <a:avLst/>
          </a:prstGeom>
          <a:noFill/>
          <a:ln/>
        </p:spPr>
        <p:txBody>
          <a:bodyPr wrap="square" rtlCol="0" anchor="ct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3733" b="1">
                <a:solidFill>
                  <a:srgbClr val="21295C"/>
                </a:solidFill>
                <a:latin typeface="Arial" panose="020B0604020202020204" pitchFamily="34" charset="0"/>
                <a:ea typeface="Georgia" pitchFamily="34" charset="-122"/>
                <a:cs typeface="Arial" panose="020B0604020202020204" pitchFamily="34" charset="0"/>
              </a:rPr>
              <a:t>21</a:t>
            </a:r>
            <a:endParaRPr lang="en-US" sz="3733">
              <a:latin typeface="Arial" panose="020B0604020202020204" pitchFamily="34" charset="0"/>
              <a:cs typeface="Arial" panose="020B0604020202020204" pitchFamily="34" charset="0"/>
            </a:endParaRPr>
          </a:p>
        </p:txBody>
      </p:sp>
      <p:sp>
        <p:nvSpPr>
          <p:cNvPr id="15" name="Text 6">
            <a:extLst>
              <a:ext uri="{FF2B5EF4-FFF2-40B4-BE49-F238E27FC236}">
                <a16:creationId xmlns:a16="http://schemas.microsoft.com/office/drawing/2014/main" id="{F82D5FF3-1D43-2905-BE19-0BF1598C2138}"/>
              </a:ext>
            </a:extLst>
          </p:cNvPr>
          <p:cNvSpPr/>
          <p:nvPr/>
        </p:nvSpPr>
        <p:spPr>
          <a:xfrm>
            <a:off x="838200" y="4029011"/>
            <a:ext cx="2438400" cy="487680"/>
          </a:xfrm>
          <a:prstGeom prst="rect">
            <a:avLst/>
          </a:prstGeom>
          <a:noFill/>
          <a:ln/>
        </p:spPr>
        <p:txBody>
          <a:bodyPr wrap="square" rtlCol="0" anchor="t"/>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a:solidFill>
                  <a:srgbClr val="64748B"/>
                </a:solidFill>
                <a:latin typeface="Arial" panose="020B0604020202020204" pitchFamily="34" charset="0"/>
                <a:ea typeface="Calibri" pitchFamily="34" charset="-122"/>
                <a:cs typeface="Arial" panose="020B0604020202020204" pitchFamily="34" charset="0"/>
              </a:rPr>
              <a:t>Features</a:t>
            </a:r>
            <a:endParaRPr lang="en-US" sz="2000">
              <a:latin typeface="Arial" panose="020B0604020202020204" pitchFamily="34" charset="0"/>
              <a:cs typeface="Arial" panose="020B0604020202020204" pitchFamily="34" charset="0"/>
            </a:endParaRPr>
          </a:p>
        </p:txBody>
      </p:sp>
      <p:sp>
        <p:nvSpPr>
          <p:cNvPr id="16" name="Shape 7">
            <a:extLst>
              <a:ext uri="{FF2B5EF4-FFF2-40B4-BE49-F238E27FC236}">
                <a16:creationId xmlns:a16="http://schemas.microsoft.com/office/drawing/2014/main" id="{7641FE08-C779-3114-4E60-41A4CA441376}"/>
              </a:ext>
            </a:extLst>
          </p:cNvPr>
          <p:cNvSpPr/>
          <p:nvPr/>
        </p:nvSpPr>
        <p:spPr>
          <a:xfrm>
            <a:off x="3545003" y="3321875"/>
            <a:ext cx="2438400" cy="1341120"/>
          </a:xfrm>
          <a:prstGeom prst="rect">
            <a:avLst/>
          </a:prstGeom>
          <a:solidFill>
            <a:srgbClr val="F2F7FA"/>
          </a:solidFill>
          <a:ln/>
        </p:spPr>
        <p:txBody>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de-DE" sz="3200"/>
          </a:p>
        </p:txBody>
      </p:sp>
      <p:sp>
        <p:nvSpPr>
          <p:cNvPr id="17" name="Text 8">
            <a:extLst>
              <a:ext uri="{FF2B5EF4-FFF2-40B4-BE49-F238E27FC236}">
                <a16:creationId xmlns:a16="http://schemas.microsoft.com/office/drawing/2014/main" id="{EFCA7608-7909-97CD-9276-D967AD0449FE}"/>
              </a:ext>
            </a:extLst>
          </p:cNvPr>
          <p:cNvSpPr/>
          <p:nvPr/>
        </p:nvSpPr>
        <p:spPr>
          <a:xfrm>
            <a:off x="3545003" y="3321875"/>
            <a:ext cx="2438400" cy="792480"/>
          </a:xfrm>
          <a:prstGeom prst="rect">
            <a:avLst/>
          </a:prstGeom>
          <a:noFill/>
          <a:ln/>
        </p:spPr>
        <p:txBody>
          <a:bodyPr wrap="square" rtlCol="0" anchor="ct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3733" b="1">
                <a:solidFill>
                  <a:srgbClr val="21295C"/>
                </a:solidFill>
                <a:latin typeface="Arial" panose="020B0604020202020204" pitchFamily="34" charset="0"/>
                <a:ea typeface="Georgia" pitchFamily="34" charset="-122"/>
                <a:cs typeface="Arial" panose="020B0604020202020204" pitchFamily="34" charset="0"/>
              </a:rPr>
              <a:t>70</a:t>
            </a:r>
            <a:endParaRPr lang="en-US" sz="3733">
              <a:latin typeface="Arial" panose="020B0604020202020204" pitchFamily="34" charset="0"/>
              <a:cs typeface="Arial" panose="020B0604020202020204" pitchFamily="34" charset="0"/>
            </a:endParaRPr>
          </a:p>
        </p:txBody>
      </p:sp>
      <p:sp>
        <p:nvSpPr>
          <p:cNvPr id="18" name="Text 9">
            <a:extLst>
              <a:ext uri="{FF2B5EF4-FFF2-40B4-BE49-F238E27FC236}">
                <a16:creationId xmlns:a16="http://schemas.microsoft.com/office/drawing/2014/main" id="{921FB25B-A7F6-FF01-A928-5BD7E502AE99}"/>
              </a:ext>
            </a:extLst>
          </p:cNvPr>
          <p:cNvSpPr/>
          <p:nvPr/>
        </p:nvSpPr>
        <p:spPr>
          <a:xfrm>
            <a:off x="3545003" y="4029011"/>
            <a:ext cx="2438400" cy="487680"/>
          </a:xfrm>
          <a:prstGeom prst="rect">
            <a:avLst/>
          </a:prstGeom>
          <a:noFill/>
          <a:ln/>
        </p:spPr>
        <p:txBody>
          <a:bodyPr wrap="square" rtlCol="0" anchor="t"/>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err="1">
                <a:solidFill>
                  <a:srgbClr val="64748B"/>
                </a:solidFill>
                <a:latin typeface="Arial" panose="020B0604020202020204" pitchFamily="34" charset="0"/>
                <a:ea typeface="Calibri" pitchFamily="34" charset="-122"/>
                <a:cs typeface="Arial" panose="020B0604020202020204" pitchFamily="34" charset="0"/>
              </a:rPr>
              <a:t>Zipcodes</a:t>
            </a:r>
            <a:endParaRPr lang="en-US" sz="2000">
              <a:latin typeface="Arial" panose="020B0604020202020204" pitchFamily="34" charset="0"/>
              <a:cs typeface="Arial" panose="020B0604020202020204" pitchFamily="34" charset="0"/>
            </a:endParaRPr>
          </a:p>
        </p:txBody>
      </p:sp>
      <p:sp>
        <p:nvSpPr>
          <p:cNvPr id="19" name="Shape 10">
            <a:extLst>
              <a:ext uri="{FF2B5EF4-FFF2-40B4-BE49-F238E27FC236}">
                <a16:creationId xmlns:a16="http://schemas.microsoft.com/office/drawing/2014/main" id="{FD22BDBF-733A-B517-D675-74A72812B139}"/>
              </a:ext>
            </a:extLst>
          </p:cNvPr>
          <p:cNvSpPr/>
          <p:nvPr/>
        </p:nvSpPr>
        <p:spPr>
          <a:xfrm>
            <a:off x="3530489" y="1690688"/>
            <a:ext cx="2438400" cy="1341120"/>
          </a:xfrm>
          <a:prstGeom prst="rect">
            <a:avLst/>
          </a:prstGeom>
          <a:solidFill>
            <a:srgbClr val="F2F7FA"/>
          </a:solidFill>
          <a:ln/>
        </p:spPr>
        <p:txBody>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de-DE" sz="3200"/>
          </a:p>
        </p:txBody>
      </p:sp>
      <p:sp>
        <p:nvSpPr>
          <p:cNvPr id="20" name="Text 11">
            <a:extLst>
              <a:ext uri="{FF2B5EF4-FFF2-40B4-BE49-F238E27FC236}">
                <a16:creationId xmlns:a16="http://schemas.microsoft.com/office/drawing/2014/main" id="{39C56B16-53E5-D442-8ABA-BF1C6847201A}"/>
              </a:ext>
            </a:extLst>
          </p:cNvPr>
          <p:cNvSpPr/>
          <p:nvPr/>
        </p:nvSpPr>
        <p:spPr>
          <a:xfrm>
            <a:off x="3530489" y="1690688"/>
            <a:ext cx="2438400" cy="792480"/>
          </a:xfrm>
          <a:prstGeom prst="rect">
            <a:avLst/>
          </a:prstGeom>
          <a:noFill/>
          <a:ln/>
        </p:spPr>
        <p:txBody>
          <a:bodyPr wrap="square" rtlCol="0" anchor="ct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3733" b="1">
                <a:solidFill>
                  <a:srgbClr val="21295C"/>
                </a:solidFill>
                <a:latin typeface="Arial" panose="020B0604020202020204" pitchFamily="34" charset="0"/>
                <a:ea typeface="Georgia" pitchFamily="34" charset="-122"/>
                <a:cs typeface="Arial" panose="020B0604020202020204" pitchFamily="34" charset="0"/>
              </a:rPr>
              <a:t>12 Mon.</a:t>
            </a:r>
            <a:endParaRPr lang="en-US" sz="3733">
              <a:latin typeface="Arial" panose="020B0604020202020204" pitchFamily="34" charset="0"/>
              <a:cs typeface="Arial" panose="020B0604020202020204" pitchFamily="34" charset="0"/>
            </a:endParaRPr>
          </a:p>
        </p:txBody>
      </p:sp>
      <p:sp>
        <p:nvSpPr>
          <p:cNvPr id="21" name="Text 12">
            <a:extLst>
              <a:ext uri="{FF2B5EF4-FFF2-40B4-BE49-F238E27FC236}">
                <a16:creationId xmlns:a16="http://schemas.microsoft.com/office/drawing/2014/main" id="{A7B7D813-1C68-4670-35B0-3F3F388DF978}"/>
              </a:ext>
            </a:extLst>
          </p:cNvPr>
          <p:cNvSpPr/>
          <p:nvPr/>
        </p:nvSpPr>
        <p:spPr>
          <a:xfrm>
            <a:off x="3530489" y="2397824"/>
            <a:ext cx="2438400" cy="487680"/>
          </a:xfrm>
          <a:prstGeom prst="rect">
            <a:avLst/>
          </a:prstGeom>
          <a:noFill/>
          <a:ln/>
        </p:spPr>
        <p:txBody>
          <a:bodyPr wrap="square" rtlCol="0" anchor="t"/>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a:solidFill>
                  <a:srgbClr val="64748B"/>
                </a:solidFill>
                <a:latin typeface="Arial" panose="020B0604020202020204" pitchFamily="34" charset="0"/>
                <a:ea typeface="Calibri" pitchFamily="34" charset="-122"/>
                <a:cs typeface="Arial" panose="020B0604020202020204" pitchFamily="34" charset="0"/>
              </a:rPr>
              <a:t>Mai '14–'15</a:t>
            </a:r>
            <a:endParaRPr lang="en-US" sz="2000">
              <a:latin typeface="Arial" panose="020B0604020202020204" pitchFamily="34" charset="0"/>
              <a:cs typeface="Arial" panose="020B0604020202020204" pitchFamily="34" charset="0"/>
            </a:endParaRPr>
          </a:p>
        </p:txBody>
      </p:sp>
      <p:pic>
        <p:nvPicPr>
          <p:cNvPr id="4" name="Grafik 3" descr="Ein Bild, das Karte enthält.&#10;&#10;KI-generierte Inhalte können fehlerhaft sein.">
            <a:extLst>
              <a:ext uri="{FF2B5EF4-FFF2-40B4-BE49-F238E27FC236}">
                <a16:creationId xmlns:a16="http://schemas.microsoft.com/office/drawing/2014/main" id="{65BBFE79-2F5D-E125-6938-C449811FEC3A}"/>
              </a:ext>
            </a:extLst>
          </p:cNvPr>
          <p:cNvPicPr>
            <a:picLocks noChangeAspect="1"/>
          </p:cNvPicPr>
          <p:nvPr/>
        </p:nvPicPr>
        <p:blipFill>
          <a:blip r:embed="rId2"/>
          <a:stretch>
            <a:fillRect/>
          </a:stretch>
        </p:blipFill>
        <p:spPr>
          <a:xfrm>
            <a:off x="6502818" y="1690688"/>
            <a:ext cx="5339721" cy="4603494"/>
          </a:xfrm>
          <a:prstGeom prst="rect">
            <a:avLst/>
          </a:prstGeom>
        </p:spPr>
      </p:pic>
      <p:sp>
        <p:nvSpPr>
          <p:cNvPr id="5" name="Shape 4">
            <a:extLst>
              <a:ext uri="{FF2B5EF4-FFF2-40B4-BE49-F238E27FC236}">
                <a16:creationId xmlns:a16="http://schemas.microsoft.com/office/drawing/2014/main" id="{94594D98-3A56-5F04-384D-67A00843DDC4}"/>
              </a:ext>
            </a:extLst>
          </p:cNvPr>
          <p:cNvSpPr/>
          <p:nvPr/>
        </p:nvSpPr>
        <p:spPr>
          <a:xfrm>
            <a:off x="838200" y="4953062"/>
            <a:ext cx="2438400" cy="1341120"/>
          </a:xfrm>
          <a:prstGeom prst="rect">
            <a:avLst/>
          </a:prstGeom>
          <a:solidFill>
            <a:srgbClr val="F2F7FA"/>
          </a:solidFill>
          <a:ln/>
        </p:spPr>
        <p:txBody>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endParaRPr lang="en-US" sz="3200">
              <a:latin typeface="Arial" panose="020B0604020202020204" pitchFamily="34" charset="0"/>
              <a:cs typeface="Arial" panose="020B0604020202020204" pitchFamily="34" charset="0"/>
            </a:endParaRPr>
          </a:p>
        </p:txBody>
      </p:sp>
      <p:sp>
        <p:nvSpPr>
          <p:cNvPr id="6" name="Text 5">
            <a:extLst>
              <a:ext uri="{FF2B5EF4-FFF2-40B4-BE49-F238E27FC236}">
                <a16:creationId xmlns:a16="http://schemas.microsoft.com/office/drawing/2014/main" id="{8A4A4862-D6C6-DC1A-87DC-CF7812EBF9E7}"/>
              </a:ext>
            </a:extLst>
          </p:cNvPr>
          <p:cNvSpPr/>
          <p:nvPr/>
        </p:nvSpPr>
        <p:spPr>
          <a:xfrm>
            <a:off x="838200" y="4952851"/>
            <a:ext cx="2438400" cy="792480"/>
          </a:xfrm>
          <a:prstGeom prst="rect">
            <a:avLst/>
          </a:prstGeom>
          <a:noFill/>
          <a:ln/>
        </p:spPr>
        <p:txBody>
          <a:bodyPr wrap="square" rtlCol="0" anchor="ct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3733" b="1">
                <a:solidFill>
                  <a:srgbClr val="21295C"/>
                </a:solidFill>
                <a:latin typeface="Arial" panose="020B0604020202020204" pitchFamily="34" charset="0"/>
                <a:ea typeface="Georgia" pitchFamily="34" charset="-122"/>
                <a:cs typeface="Arial" panose="020B0604020202020204" pitchFamily="34" charset="0"/>
              </a:rPr>
              <a:t>21.436</a:t>
            </a:r>
            <a:endParaRPr lang="en-US" sz="3733">
              <a:latin typeface="Arial" panose="020B0604020202020204" pitchFamily="34" charset="0"/>
              <a:cs typeface="Arial" panose="020B0604020202020204" pitchFamily="34" charset="0"/>
            </a:endParaRPr>
          </a:p>
        </p:txBody>
      </p:sp>
      <p:sp>
        <p:nvSpPr>
          <p:cNvPr id="7" name="Text 6">
            <a:extLst>
              <a:ext uri="{FF2B5EF4-FFF2-40B4-BE49-F238E27FC236}">
                <a16:creationId xmlns:a16="http://schemas.microsoft.com/office/drawing/2014/main" id="{63BEF1A8-75E9-77E4-85E4-F1CC1CB7E107}"/>
              </a:ext>
            </a:extLst>
          </p:cNvPr>
          <p:cNvSpPr/>
          <p:nvPr/>
        </p:nvSpPr>
        <p:spPr>
          <a:xfrm>
            <a:off x="838200" y="5806502"/>
            <a:ext cx="2438400" cy="487680"/>
          </a:xfrm>
          <a:prstGeom prst="rect">
            <a:avLst/>
          </a:prstGeom>
          <a:noFill/>
          <a:ln/>
        </p:spPr>
        <p:txBody>
          <a:bodyPr wrap="square" rtlCol="0" anchor="t"/>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a:solidFill>
                  <a:srgbClr val="64748B"/>
                </a:solidFill>
                <a:latin typeface="Arial" panose="020B0604020202020204" pitchFamily="34" charset="0"/>
                <a:ea typeface="Calibri" pitchFamily="34" charset="-122"/>
                <a:cs typeface="Arial" panose="020B0604020202020204" pitchFamily="34" charset="0"/>
              </a:rPr>
              <a:t>Unique </a:t>
            </a:r>
            <a:r>
              <a:rPr lang="en-US" sz="2000" err="1">
                <a:solidFill>
                  <a:srgbClr val="64748B"/>
                </a:solidFill>
                <a:latin typeface="Arial" panose="020B0604020202020204" pitchFamily="34" charset="0"/>
                <a:ea typeface="Calibri" pitchFamily="34" charset="-122"/>
                <a:cs typeface="Arial" panose="020B0604020202020204" pitchFamily="34" charset="0"/>
              </a:rPr>
              <a:t>Häuser</a:t>
            </a:r>
            <a:endParaRPr lang="en-US" sz="2000">
              <a:latin typeface="Arial" panose="020B0604020202020204" pitchFamily="34" charset="0"/>
              <a:cs typeface="Arial" panose="020B0604020202020204" pitchFamily="34" charset="0"/>
            </a:endParaRPr>
          </a:p>
        </p:txBody>
      </p:sp>
      <p:sp>
        <p:nvSpPr>
          <p:cNvPr id="8" name="Shape 4">
            <a:extLst>
              <a:ext uri="{FF2B5EF4-FFF2-40B4-BE49-F238E27FC236}">
                <a16:creationId xmlns:a16="http://schemas.microsoft.com/office/drawing/2014/main" id="{01197BB9-F8A3-106A-1E4F-C58DFA45C2FA}"/>
              </a:ext>
            </a:extLst>
          </p:cNvPr>
          <p:cNvSpPr/>
          <p:nvPr/>
        </p:nvSpPr>
        <p:spPr>
          <a:xfrm>
            <a:off x="3545003" y="4953062"/>
            <a:ext cx="2438400" cy="1341120"/>
          </a:xfrm>
          <a:prstGeom prst="rect">
            <a:avLst/>
          </a:prstGeom>
          <a:solidFill>
            <a:srgbClr val="F2F7FA"/>
          </a:solidFill>
          <a:ln/>
        </p:spPr>
        <p:txBody>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endParaRPr lang="en-US" sz="3200">
              <a:latin typeface="Arial" panose="020B0604020202020204" pitchFamily="34" charset="0"/>
              <a:cs typeface="Arial" panose="020B0604020202020204" pitchFamily="34" charset="0"/>
            </a:endParaRPr>
          </a:p>
        </p:txBody>
      </p:sp>
      <p:sp>
        <p:nvSpPr>
          <p:cNvPr id="9" name="Text 5">
            <a:extLst>
              <a:ext uri="{FF2B5EF4-FFF2-40B4-BE49-F238E27FC236}">
                <a16:creationId xmlns:a16="http://schemas.microsoft.com/office/drawing/2014/main" id="{D4705231-1692-98F3-18F2-6E493BB198AC}"/>
              </a:ext>
            </a:extLst>
          </p:cNvPr>
          <p:cNvSpPr/>
          <p:nvPr/>
        </p:nvSpPr>
        <p:spPr>
          <a:xfrm>
            <a:off x="3545003" y="4952851"/>
            <a:ext cx="2438400" cy="792480"/>
          </a:xfrm>
          <a:prstGeom prst="rect">
            <a:avLst/>
          </a:prstGeom>
          <a:noFill/>
          <a:ln/>
        </p:spPr>
        <p:txBody>
          <a:bodyPr wrap="square" rtlCol="0" anchor="ct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3733" b="1">
                <a:solidFill>
                  <a:srgbClr val="21295C"/>
                </a:solidFill>
                <a:latin typeface="Arial" panose="020B0604020202020204" pitchFamily="34" charset="0"/>
                <a:ea typeface="Georgia" pitchFamily="34" charset="-122"/>
                <a:cs typeface="Arial" panose="020B0604020202020204" pitchFamily="34" charset="0"/>
              </a:rPr>
              <a:t>177</a:t>
            </a:r>
            <a:endParaRPr lang="en-US" sz="3733">
              <a:latin typeface="Arial" panose="020B0604020202020204" pitchFamily="34" charset="0"/>
              <a:cs typeface="Arial" panose="020B0604020202020204" pitchFamily="34" charset="0"/>
            </a:endParaRPr>
          </a:p>
        </p:txBody>
      </p:sp>
      <p:sp>
        <p:nvSpPr>
          <p:cNvPr id="22" name="Text 6">
            <a:extLst>
              <a:ext uri="{FF2B5EF4-FFF2-40B4-BE49-F238E27FC236}">
                <a16:creationId xmlns:a16="http://schemas.microsoft.com/office/drawing/2014/main" id="{AAF7FAC9-9ED2-DCC1-84BA-B68F21FFC5D0}"/>
              </a:ext>
            </a:extLst>
          </p:cNvPr>
          <p:cNvSpPr/>
          <p:nvPr/>
        </p:nvSpPr>
        <p:spPr>
          <a:xfrm>
            <a:off x="3545003" y="5806502"/>
            <a:ext cx="2438400" cy="487680"/>
          </a:xfrm>
          <a:prstGeom prst="rect">
            <a:avLst/>
          </a:prstGeom>
          <a:noFill/>
          <a:ln/>
        </p:spPr>
        <p:txBody>
          <a:bodyPr wrap="square" rtlCol="0" anchor="t"/>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err="1">
                <a:solidFill>
                  <a:srgbClr val="64748B"/>
                </a:solidFill>
                <a:latin typeface="Arial" panose="020B0604020202020204" pitchFamily="34" charset="0"/>
                <a:ea typeface="Calibri" pitchFamily="34" charset="-122"/>
                <a:cs typeface="Arial" panose="020B0604020202020204" pitchFamily="34" charset="0"/>
              </a:rPr>
              <a:t>Wiederverkäufe</a:t>
            </a: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41898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9DC4E382-FA26-BD04-897C-FAF7E91F8F84}"/>
              </a:ext>
            </a:extLst>
          </p:cNvPr>
          <p:cNvPicPr>
            <a:picLocks noChangeAspect="1"/>
          </p:cNvPicPr>
          <p:nvPr/>
        </p:nvPicPr>
        <p:blipFill>
          <a:blip r:embed="rId2"/>
          <a:stretch>
            <a:fillRect/>
          </a:stretch>
        </p:blipFill>
        <p:spPr>
          <a:xfrm>
            <a:off x="6788796" y="1027906"/>
            <a:ext cx="4479839" cy="5039428"/>
          </a:xfrm>
          <a:prstGeom prst="rect">
            <a:avLst/>
          </a:prstGeom>
        </p:spPr>
      </p:pic>
      <p:sp>
        <p:nvSpPr>
          <p:cNvPr id="2" name="Titel 1">
            <a:extLst>
              <a:ext uri="{FF2B5EF4-FFF2-40B4-BE49-F238E27FC236}">
                <a16:creationId xmlns:a16="http://schemas.microsoft.com/office/drawing/2014/main" id="{2352B9E7-7BDD-FAC8-8937-A13C134EE764}"/>
              </a:ext>
            </a:extLst>
          </p:cNvPr>
          <p:cNvSpPr>
            <a:spLocks noGrp="1"/>
          </p:cNvSpPr>
          <p:nvPr>
            <p:ph type="title"/>
          </p:nvPr>
        </p:nvSpPr>
        <p:spPr/>
        <p:txBody>
          <a:bodyPr/>
          <a:lstStyle/>
          <a:p>
            <a:r>
              <a:rPr lang="de-DE"/>
              <a:t>Quality</a:t>
            </a:r>
          </a:p>
        </p:txBody>
      </p:sp>
      <p:sp>
        <p:nvSpPr>
          <p:cNvPr id="3" name="Inhaltsplatzhalter 2">
            <a:extLst>
              <a:ext uri="{FF2B5EF4-FFF2-40B4-BE49-F238E27FC236}">
                <a16:creationId xmlns:a16="http://schemas.microsoft.com/office/drawing/2014/main" id="{19C341DF-8E09-758C-F5BC-A6A9D04E1766}"/>
              </a:ext>
            </a:extLst>
          </p:cNvPr>
          <p:cNvSpPr>
            <a:spLocks noGrp="1"/>
          </p:cNvSpPr>
          <p:nvPr>
            <p:ph idx="1"/>
          </p:nvPr>
        </p:nvSpPr>
        <p:spPr>
          <a:xfrm>
            <a:off x="838200" y="1568824"/>
            <a:ext cx="5822576" cy="4608139"/>
          </a:xfrm>
        </p:spPr>
        <p:txBody>
          <a:bodyPr anchor="ctr"/>
          <a:lstStyle/>
          <a:p>
            <a:r>
              <a:rPr lang="de-DE"/>
              <a:t>date als String statt Date</a:t>
            </a:r>
          </a:p>
          <a:p>
            <a:r>
              <a:rPr lang="de-DE" err="1"/>
              <a:t>waterfront</a:t>
            </a:r>
            <a:r>
              <a:rPr lang="de-DE"/>
              <a:t> als Integer statt Boolean</a:t>
            </a:r>
          </a:p>
          <a:p>
            <a:r>
              <a:rPr lang="de-DE"/>
              <a:t>Keine Lücken oder Artefakte</a:t>
            </a:r>
          </a:p>
        </p:txBody>
      </p:sp>
      <p:cxnSp>
        <p:nvCxnSpPr>
          <p:cNvPr id="7" name="Gerader Verbinder 6">
            <a:extLst>
              <a:ext uri="{FF2B5EF4-FFF2-40B4-BE49-F238E27FC236}">
                <a16:creationId xmlns:a16="http://schemas.microsoft.com/office/drawing/2014/main" id="{76F746D4-96D5-A9D4-798A-F91A12BED520}"/>
              </a:ext>
            </a:extLst>
          </p:cNvPr>
          <p:cNvCxnSpPr>
            <a:cxnSpLocks/>
          </p:cNvCxnSpPr>
          <p:nvPr/>
        </p:nvCxnSpPr>
        <p:spPr>
          <a:xfrm>
            <a:off x="7101303" y="2079812"/>
            <a:ext cx="3790815"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4" name="Gerader Verbinder 13">
            <a:extLst>
              <a:ext uri="{FF2B5EF4-FFF2-40B4-BE49-F238E27FC236}">
                <a16:creationId xmlns:a16="http://schemas.microsoft.com/office/drawing/2014/main" id="{57EB2E33-7470-A811-BCEE-53FEFAA53601}"/>
              </a:ext>
            </a:extLst>
          </p:cNvPr>
          <p:cNvCxnSpPr>
            <a:cxnSpLocks/>
          </p:cNvCxnSpPr>
          <p:nvPr/>
        </p:nvCxnSpPr>
        <p:spPr>
          <a:xfrm>
            <a:off x="7101302" y="3547620"/>
            <a:ext cx="3790815"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5" name="Rechteck 14">
            <a:extLst>
              <a:ext uri="{FF2B5EF4-FFF2-40B4-BE49-F238E27FC236}">
                <a16:creationId xmlns:a16="http://schemas.microsoft.com/office/drawing/2014/main" id="{E402A946-0EA2-FD2C-3E51-AD20EC144690}"/>
              </a:ext>
            </a:extLst>
          </p:cNvPr>
          <p:cNvSpPr/>
          <p:nvPr/>
        </p:nvSpPr>
        <p:spPr>
          <a:xfrm>
            <a:off x="9212382" y="1541698"/>
            <a:ext cx="765335" cy="4525636"/>
          </a:xfrm>
          <a:prstGeom prst="rect">
            <a:avLst/>
          </a:prstGeom>
          <a:solidFill>
            <a:srgbClr val="FFFF00">
              <a:alpha val="15000"/>
            </a:srgb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537170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C037D-6A59-0F82-E093-F6C9A621F15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4DBE67E-8955-E4C4-BD7D-3766FC426DC0}"/>
              </a:ext>
            </a:extLst>
          </p:cNvPr>
          <p:cNvSpPr>
            <a:spLocks noGrp="1"/>
          </p:cNvSpPr>
          <p:nvPr>
            <p:ph type="title"/>
          </p:nvPr>
        </p:nvSpPr>
        <p:spPr/>
        <p:txBody>
          <a:bodyPr/>
          <a:lstStyle/>
          <a:p>
            <a:r>
              <a:rPr lang="de-DE"/>
              <a:t>Quality</a:t>
            </a:r>
          </a:p>
        </p:txBody>
      </p:sp>
      <p:sp>
        <p:nvSpPr>
          <p:cNvPr id="3" name="Inhaltsplatzhalter 2">
            <a:extLst>
              <a:ext uri="{FF2B5EF4-FFF2-40B4-BE49-F238E27FC236}">
                <a16:creationId xmlns:a16="http://schemas.microsoft.com/office/drawing/2014/main" id="{CBF9EF81-DEA2-F1C5-BD3E-23C4203105EB}"/>
              </a:ext>
            </a:extLst>
          </p:cNvPr>
          <p:cNvSpPr>
            <a:spLocks noGrp="1"/>
          </p:cNvSpPr>
          <p:nvPr>
            <p:ph idx="1"/>
          </p:nvPr>
        </p:nvSpPr>
        <p:spPr>
          <a:xfrm>
            <a:off x="838200" y="1568824"/>
            <a:ext cx="10215282" cy="1667435"/>
          </a:xfrm>
        </p:spPr>
        <p:txBody>
          <a:bodyPr anchor="ctr"/>
          <a:lstStyle/>
          <a:p>
            <a:r>
              <a:rPr lang="de-DE">
                <a:latin typeface="Arial"/>
                <a:cs typeface="Arial"/>
              </a:rPr>
              <a:t>Keine Überschriften in Zeile 0 und keine Summen/ Zusammenfassungen in Zeile 21613</a:t>
            </a:r>
          </a:p>
        </p:txBody>
      </p:sp>
      <p:pic>
        <p:nvPicPr>
          <p:cNvPr id="5" name="Grafik 4">
            <a:extLst>
              <a:ext uri="{FF2B5EF4-FFF2-40B4-BE49-F238E27FC236}">
                <a16:creationId xmlns:a16="http://schemas.microsoft.com/office/drawing/2014/main" id="{F72AEE88-4E37-11A6-6701-A4C986CE88E5}"/>
              </a:ext>
            </a:extLst>
          </p:cNvPr>
          <p:cNvPicPr>
            <a:picLocks noChangeAspect="1"/>
          </p:cNvPicPr>
          <p:nvPr/>
        </p:nvPicPr>
        <p:blipFill>
          <a:blip r:embed="rId2"/>
          <a:stretch>
            <a:fillRect/>
          </a:stretch>
        </p:blipFill>
        <p:spPr>
          <a:xfrm>
            <a:off x="1037013" y="3236259"/>
            <a:ext cx="10215282" cy="1470212"/>
          </a:xfrm>
          <a:prstGeom prst="rect">
            <a:avLst/>
          </a:prstGeom>
        </p:spPr>
      </p:pic>
      <p:pic>
        <p:nvPicPr>
          <p:cNvPr id="8" name="Grafik 7">
            <a:extLst>
              <a:ext uri="{FF2B5EF4-FFF2-40B4-BE49-F238E27FC236}">
                <a16:creationId xmlns:a16="http://schemas.microsoft.com/office/drawing/2014/main" id="{460C6894-9B5C-3079-EC7C-DC7A9D4545A0}"/>
              </a:ext>
            </a:extLst>
          </p:cNvPr>
          <p:cNvPicPr>
            <a:picLocks noChangeAspect="1"/>
          </p:cNvPicPr>
          <p:nvPr/>
        </p:nvPicPr>
        <p:blipFill>
          <a:blip r:embed="rId3"/>
          <a:stretch>
            <a:fillRect/>
          </a:stretch>
        </p:blipFill>
        <p:spPr>
          <a:xfrm>
            <a:off x="1037014" y="4930588"/>
            <a:ext cx="10215281" cy="1470212"/>
          </a:xfrm>
          <a:prstGeom prst="rect">
            <a:avLst/>
          </a:prstGeom>
        </p:spPr>
      </p:pic>
      <p:sp>
        <p:nvSpPr>
          <p:cNvPr id="9" name="Rechteck 8">
            <a:extLst>
              <a:ext uri="{FF2B5EF4-FFF2-40B4-BE49-F238E27FC236}">
                <a16:creationId xmlns:a16="http://schemas.microsoft.com/office/drawing/2014/main" id="{D1CFDFCE-B142-C9E7-FA25-FD7DA1770AA2}"/>
              </a:ext>
            </a:extLst>
          </p:cNvPr>
          <p:cNvSpPr/>
          <p:nvPr/>
        </p:nvSpPr>
        <p:spPr>
          <a:xfrm>
            <a:off x="1138518" y="3506924"/>
            <a:ext cx="10016469" cy="221016"/>
          </a:xfrm>
          <a:prstGeom prst="rect">
            <a:avLst/>
          </a:prstGeom>
          <a:solidFill>
            <a:srgbClr val="FFFF00">
              <a:alpha val="15000"/>
            </a:srgb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73AA27C9-D1D2-D42C-2D16-74DF9D87B2BA}"/>
              </a:ext>
            </a:extLst>
          </p:cNvPr>
          <p:cNvSpPr/>
          <p:nvPr/>
        </p:nvSpPr>
        <p:spPr>
          <a:xfrm>
            <a:off x="1120933" y="6117659"/>
            <a:ext cx="10034053" cy="198429"/>
          </a:xfrm>
          <a:prstGeom prst="rect">
            <a:avLst/>
          </a:prstGeom>
          <a:solidFill>
            <a:srgbClr val="FFFF00">
              <a:alpha val="15000"/>
            </a:srgb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8156302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9F6E3CEA-C743-0DF9-DA60-04FA1E1DE8B3}"/>
              </a:ext>
            </a:extLst>
          </p:cNvPr>
          <p:cNvSpPr>
            <a:spLocks noGrp="1"/>
          </p:cNvSpPr>
          <p:nvPr>
            <p:ph type="title"/>
          </p:nvPr>
        </p:nvSpPr>
        <p:spPr/>
        <p:txBody>
          <a:bodyPr/>
          <a:lstStyle/>
          <a:p>
            <a:r>
              <a:rPr lang="de-DE"/>
              <a:t>Data Quality Dashboard</a:t>
            </a:r>
          </a:p>
        </p:txBody>
      </p:sp>
      <p:pic>
        <p:nvPicPr>
          <p:cNvPr id="6" name="Grafik 5">
            <a:extLst>
              <a:ext uri="{FF2B5EF4-FFF2-40B4-BE49-F238E27FC236}">
                <a16:creationId xmlns:a16="http://schemas.microsoft.com/office/drawing/2014/main" id="{40BB270B-F08D-0875-4AA7-087AD26D30AF}"/>
              </a:ext>
            </a:extLst>
          </p:cNvPr>
          <p:cNvPicPr>
            <a:picLocks noChangeAspect="1"/>
          </p:cNvPicPr>
          <p:nvPr/>
        </p:nvPicPr>
        <p:blipFill>
          <a:blip r:embed="rId2"/>
          <a:stretch>
            <a:fillRect/>
          </a:stretch>
        </p:blipFill>
        <p:spPr>
          <a:xfrm>
            <a:off x="1779397" y="1562826"/>
            <a:ext cx="8646813" cy="4939364"/>
          </a:xfrm>
          <a:prstGeom prst="rect">
            <a:avLst/>
          </a:prstGeom>
        </p:spPr>
      </p:pic>
    </p:spTree>
    <p:extLst>
      <p:ext uri="{BB962C8B-B14F-4D97-AF65-F5344CB8AC3E}">
        <p14:creationId xmlns:p14="http://schemas.microsoft.com/office/powerpoint/2010/main" val="32350037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734DB49-8899-B164-9DE4-F3448B05D2B1}"/>
              </a:ext>
            </a:extLst>
          </p:cNvPr>
          <p:cNvSpPr>
            <a:spLocks noGrp="1"/>
          </p:cNvSpPr>
          <p:nvPr>
            <p:ph type="title"/>
          </p:nvPr>
        </p:nvSpPr>
        <p:spPr/>
        <p:txBody>
          <a:bodyPr/>
          <a:lstStyle/>
          <a:p>
            <a:r>
              <a:rPr lang="de-DE"/>
              <a:t>Anomalien</a:t>
            </a:r>
          </a:p>
        </p:txBody>
      </p:sp>
      <p:sp>
        <p:nvSpPr>
          <p:cNvPr id="3" name="Inhaltsplatzhalter 2">
            <a:extLst>
              <a:ext uri="{FF2B5EF4-FFF2-40B4-BE49-F238E27FC236}">
                <a16:creationId xmlns:a16="http://schemas.microsoft.com/office/drawing/2014/main" id="{098CA30C-635D-F0B7-9E73-00CFD089266A}"/>
              </a:ext>
            </a:extLst>
          </p:cNvPr>
          <p:cNvSpPr>
            <a:spLocks noGrp="1"/>
          </p:cNvSpPr>
          <p:nvPr>
            <p:ph idx="1"/>
          </p:nvPr>
        </p:nvSpPr>
        <p:spPr/>
        <p:txBody>
          <a:bodyPr anchor="ctr"/>
          <a:lstStyle/>
          <a:p>
            <a:r>
              <a:rPr lang="de-DE"/>
              <a:t>1x 33 Schlafzimmer bei nur 1620 </a:t>
            </a:r>
            <a:r>
              <a:rPr lang="de-DE" err="1"/>
              <a:t>sqft</a:t>
            </a:r>
            <a:endParaRPr lang="de-DE"/>
          </a:p>
          <a:p>
            <a:r>
              <a:rPr lang="de-DE"/>
              <a:t>13x ohne Schlafzimmer</a:t>
            </a:r>
          </a:p>
          <a:p>
            <a:r>
              <a:rPr lang="de-DE"/>
              <a:t>10x ohne Badezimmer</a:t>
            </a:r>
          </a:p>
          <a:p>
            <a:r>
              <a:rPr lang="de-DE"/>
              <a:t>177 Duplikate</a:t>
            </a:r>
          </a:p>
          <a:p>
            <a:endParaRPr lang="de-DE"/>
          </a:p>
        </p:txBody>
      </p:sp>
    </p:spTree>
    <p:extLst>
      <p:ext uri="{BB962C8B-B14F-4D97-AF65-F5344CB8AC3E}">
        <p14:creationId xmlns:p14="http://schemas.microsoft.com/office/powerpoint/2010/main" val="28578853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E7A16-30E1-61EE-1A81-FBDE3A2D86B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234782A-CFA2-E090-86E5-B48EC66ACEE7}"/>
              </a:ext>
            </a:extLst>
          </p:cNvPr>
          <p:cNvSpPr>
            <a:spLocks noGrp="1"/>
          </p:cNvSpPr>
          <p:nvPr>
            <p:ph type="title"/>
          </p:nvPr>
        </p:nvSpPr>
        <p:spPr/>
        <p:txBody>
          <a:bodyPr/>
          <a:lstStyle/>
          <a:p>
            <a:r>
              <a:rPr lang="de-DE">
                <a:latin typeface="Georgia"/>
              </a:rPr>
              <a:t>Anomalien</a:t>
            </a:r>
            <a:endParaRPr lang="de-DE"/>
          </a:p>
        </p:txBody>
      </p:sp>
      <p:sp>
        <p:nvSpPr>
          <p:cNvPr id="3" name="Inhaltsplatzhalter 2">
            <a:extLst>
              <a:ext uri="{FF2B5EF4-FFF2-40B4-BE49-F238E27FC236}">
                <a16:creationId xmlns:a16="http://schemas.microsoft.com/office/drawing/2014/main" id="{989E2034-9502-AFDB-4412-3E4AD63684B2}"/>
              </a:ext>
            </a:extLst>
          </p:cNvPr>
          <p:cNvSpPr>
            <a:spLocks noGrp="1"/>
          </p:cNvSpPr>
          <p:nvPr>
            <p:ph idx="1"/>
          </p:nvPr>
        </p:nvSpPr>
        <p:spPr>
          <a:xfrm>
            <a:off x="838200" y="1568824"/>
            <a:ext cx="4314092" cy="4851641"/>
          </a:xfrm>
        </p:spPr>
        <p:txBody>
          <a:bodyPr anchor="ctr">
            <a:normAutofit/>
          </a:bodyPr>
          <a:lstStyle/>
          <a:p>
            <a:r>
              <a:rPr lang="de-DE" sz="2400" err="1">
                <a:latin typeface="Arial"/>
                <a:cs typeface="Arial"/>
              </a:rPr>
              <a:t>Bedrooms</a:t>
            </a:r>
            <a:r>
              <a:rPr lang="de-DE" sz="2400">
                <a:latin typeface="Arial"/>
                <a:cs typeface="Arial"/>
              </a:rPr>
              <a:t> 0 und 33</a:t>
            </a:r>
          </a:p>
          <a:p>
            <a:r>
              <a:rPr lang="de-DE" sz="2400" err="1">
                <a:latin typeface="Arial"/>
                <a:cs typeface="Arial"/>
              </a:rPr>
              <a:t>Bathrooms</a:t>
            </a:r>
            <a:r>
              <a:rPr lang="de-DE" sz="2400">
                <a:latin typeface="Arial"/>
                <a:cs typeface="Arial"/>
              </a:rPr>
              <a:t> 0 und 8</a:t>
            </a:r>
          </a:p>
          <a:p>
            <a:r>
              <a:rPr lang="de-DE" sz="2400" err="1">
                <a:latin typeface="Arial"/>
                <a:cs typeface="Arial"/>
              </a:rPr>
              <a:t>Sqft_lot</a:t>
            </a:r>
            <a:r>
              <a:rPr lang="de-DE" sz="2400">
                <a:latin typeface="Arial"/>
                <a:cs typeface="Arial"/>
              </a:rPr>
              <a:t> 520 bis 1.651.359</a:t>
            </a:r>
            <a:br>
              <a:rPr lang="de-DE" sz="2400"/>
            </a:br>
            <a:r>
              <a:rPr lang="de-DE" sz="2400" err="1">
                <a:latin typeface="Arial"/>
                <a:cs typeface="Arial"/>
              </a:rPr>
              <a:t>std</a:t>
            </a:r>
            <a:r>
              <a:rPr lang="de-DE" sz="2400">
                <a:latin typeface="Arial"/>
                <a:cs typeface="Arial"/>
              </a:rPr>
              <a:t> -&gt; 41.420</a:t>
            </a:r>
          </a:p>
          <a:p>
            <a:r>
              <a:rPr lang="de-DE" sz="2400" err="1">
                <a:latin typeface="Arial"/>
                <a:cs typeface="Arial"/>
              </a:rPr>
              <a:t>yr_renovated</a:t>
            </a:r>
            <a:r>
              <a:rPr lang="de-DE" sz="2400">
                <a:latin typeface="Arial"/>
                <a:cs typeface="Arial"/>
              </a:rPr>
              <a:t> = 0 (75%)</a:t>
            </a:r>
            <a:br>
              <a:rPr lang="de-DE" sz="2400"/>
            </a:br>
            <a:r>
              <a:rPr lang="de-DE" sz="2400">
                <a:latin typeface="Arial"/>
                <a:cs typeface="Arial"/>
              </a:rPr>
              <a:t>fast niemand hat renoviert</a:t>
            </a:r>
          </a:p>
          <a:p>
            <a:endParaRPr lang="de-DE"/>
          </a:p>
        </p:txBody>
      </p:sp>
      <p:pic>
        <p:nvPicPr>
          <p:cNvPr id="6" name="Grafik 5">
            <a:extLst>
              <a:ext uri="{FF2B5EF4-FFF2-40B4-BE49-F238E27FC236}">
                <a16:creationId xmlns:a16="http://schemas.microsoft.com/office/drawing/2014/main" id="{5D5ECBED-9170-5EB5-362B-30EF8B8F7211}"/>
              </a:ext>
            </a:extLst>
          </p:cNvPr>
          <p:cNvPicPr>
            <a:picLocks noChangeAspect="1"/>
          </p:cNvPicPr>
          <p:nvPr/>
        </p:nvPicPr>
        <p:blipFill>
          <a:blip r:embed="rId3"/>
          <a:stretch>
            <a:fillRect/>
          </a:stretch>
        </p:blipFill>
        <p:spPr>
          <a:xfrm>
            <a:off x="5152292" y="1568823"/>
            <a:ext cx="6722230" cy="4924052"/>
          </a:xfrm>
          <a:prstGeom prst="rect">
            <a:avLst/>
          </a:prstGeom>
        </p:spPr>
      </p:pic>
      <p:sp>
        <p:nvSpPr>
          <p:cNvPr id="7" name="Rechteck 6">
            <a:extLst>
              <a:ext uri="{FF2B5EF4-FFF2-40B4-BE49-F238E27FC236}">
                <a16:creationId xmlns:a16="http://schemas.microsoft.com/office/drawing/2014/main" id="{91DFBB57-E41C-5DC3-FD41-5960C06BE47C}"/>
              </a:ext>
            </a:extLst>
          </p:cNvPr>
          <p:cNvSpPr/>
          <p:nvPr/>
        </p:nvSpPr>
        <p:spPr>
          <a:xfrm>
            <a:off x="9168420" y="2463801"/>
            <a:ext cx="441247" cy="211666"/>
          </a:xfrm>
          <a:prstGeom prst="rect">
            <a:avLst/>
          </a:prstGeom>
          <a:solidFill>
            <a:srgbClr val="FFFF00">
              <a:alpha val="15000"/>
            </a:srgb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11">
            <a:extLst>
              <a:ext uri="{FF2B5EF4-FFF2-40B4-BE49-F238E27FC236}">
                <a16:creationId xmlns:a16="http://schemas.microsoft.com/office/drawing/2014/main" id="{7AD957F4-E549-63C0-514D-24820EB086CC}"/>
              </a:ext>
            </a:extLst>
          </p:cNvPr>
          <p:cNvSpPr/>
          <p:nvPr/>
        </p:nvSpPr>
        <p:spPr>
          <a:xfrm>
            <a:off x="11353800" y="2463801"/>
            <a:ext cx="441247" cy="211666"/>
          </a:xfrm>
          <a:prstGeom prst="rect">
            <a:avLst/>
          </a:prstGeom>
          <a:solidFill>
            <a:srgbClr val="FFFF00">
              <a:alpha val="15000"/>
            </a:srgb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hteck 12">
            <a:extLst>
              <a:ext uri="{FF2B5EF4-FFF2-40B4-BE49-F238E27FC236}">
                <a16:creationId xmlns:a16="http://schemas.microsoft.com/office/drawing/2014/main" id="{54063CA5-63EC-A675-F9F6-3D6C9488F810}"/>
              </a:ext>
            </a:extLst>
          </p:cNvPr>
          <p:cNvSpPr/>
          <p:nvPr/>
        </p:nvSpPr>
        <p:spPr>
          <a:xfrm>
            <a:off x="9168420" y="2674253"/>
            <a:ext cx="441247" cy="211666"/>
          </a:xfrm>
          <a:prstGeom prst="rect">
            <a:avLst/>
          </a:prstGeom>
          <a:solidFill>
            <a:srgbClr val="FFFF00">
              <a:alpha val="15000"/>
            </a:srgb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Rechteck 13">
            <a:extLst>
              <a:ext uri="{FF2B5EF4-FFF2-40B4-BE49-F238E27FC236}">
                <a16:creationId xmlns:a16="http://schemas.microsoft.com/office/drawing/2014/main" id="{67E781F9-4EDC-D192-1AFE-9F32E92B6F26}"/>
              </a:ext>
            </a:extLst>
          </p:cNvPr>
          <p:cNvSpPr/>
          <p:nvPr/>
        </p:nvSpPr>
        <p:spPr>
          <a:xfrm>
            <a:off x="11353800" y="2674253"/>
            <a:ext cx="441247" cy="211666"/>
          </a:xfrm>
          <a:prstGeom prst="rect">
            <a:avLst/>
          </a:prstGeom>
          <a:solidFill>
            <a:srgbClr val="FFFF00">
              <a:alpha val="15000"/>
            </a:srgb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Rechteck 14">
            <a:extLst>
              <a:ext uri="{FF2B5EF4-FFF2-40B4-BE49-F238E27FC236}">
                <a16:creationId xmlns:a16="http://schemas.microsoft.com/office/drawing/2014/main" id="{E49982C7-44B1-A81A-9545-659A8A2E3FB4}"/>
              </a:ext>
            </a:extLst>
          </p:cNvPr>
          <p:cNvSpPr/>
          <p:nvPr/>
        </p:nvSpPr>
        <p:spPr>
          <a:xfrm>
            <a:off x="11336865" y="3104838"/>
            <a:ext cx="441247" cy="211666"/>
          </a:xfrm>
          <a:prstGeom prst="rect">
            <a:avLst/>
          </a:prstGeom>
          <a:solidFill>
            <a:srgbClr val="FFFF00">
              <a:alpha val="15000"/>
            </a:srgb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Rechteck 15">
            <a:extLst>
              <a:ext uri="{FF2B5EF4-FFF2-40B4-BE49-F238E27FC236}">
                <a16:creationId xmlns:a16="http://schemas.microsoft.com/office/drawing/2014/main" id="{1D6D7406-2EA8-ED04-A2D6-14F2E98DEA8D}"/>
              </a:ext>
            </a:extLst>
          </p:cNvPr>
          <p:cNvSpPr/>
          <p:nvPr/>
        </p:nvSpPr>
        <p:spPr>
          <a:xfrm>
            <a:off x="8488006" y="3104838"/>
            <a:ext cx="537461" cy="211666"/>
          </a:xfrm>
          <a:prstGeom prst="rect">
            <a:avLst/>
          </a:prstGeom>
          <a:solidFill>
            <a:srgbClr val="FFFF00">
              <a:alpha val="15000"/>
            </a:srgb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D66D7690-EB12-29C3-28B9-376A0DCC4B7F}"/>
              </a:ext>
            </a:extLst>
          </p:cNvPr>
          <p:cNvSpPr/>
          <p:nvPr/>
        </p:nvSpPr>
        <p:spPr>
          <a:xfrm>
            <a:off x="9173634" y="3553572"/>
            <a:ext cx="2163231" cy="450260"/>
          </a:xfrm>
          <a:prstGeom prst="rect">
            <a:avLst/>
          </a:prstGeom>
          <a:solidFill>
            <a:srgbClr val="FFFF00">
              <a:alpha val="15000"/>
            </a:srgb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Rechteck 17">
            <a:extLst>
              <a:ext uri="{FF2B5EF4-FFF2-40B4-BE49-F238E27FC236}">
                <a16:creationId xmlns:a16="http://schemas.microsoft.com/office/drawing/2014/main" id="{79B8E9DE-FD22-175C-2961-4A4B3ADB2358}"/>
              </a:ext>
            </a:extLst>
          </p:cNvPr>
          <p:cNvSpPr/>
          <p:nvPr/>
        </p:nvSpPr>
        <p:spPr>
          <a:xfrm>
            <a:off x="9168420" y="5079922"/>
            <a:ext cx="2083780" cy="209255"/>
          </a:xfrm>
          <a:prstGeom prst="rect">
            <a:avLst/>
          </a:prstGeom>
          <a:solidFill>
            <a:srgbClr val="FFFF00">
              <a:alpha val="15000"/>
            </a:srgb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203789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79040-238D-08EC-6554-129A222A82C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0C0CC6F-60A0-B2A7-182D-3CE861C3BF7C}"/>
              </a:ext>
            </a:extLst>
          </p:cNvPr>
          <p:cNvSpPr>
            <a:spLocks noGrp="1"/>
          </p:cNvSpPr>
          <p:nvPr>
            <p:ph type="title"/>
          </p:nvPr>
        </p:nvSpPr>
        <p:spPr/>
        <p:txBody>
          <a:bodyPr/>
          <a:lstStyle/>
          <a:p>
            <a:r>
              <a:rPr lang="de-DE"/>
              <a:t>Anomalien</a:t>
            </a:r>
          </a:p>
        </p:txBody>
      </p:sp>
      <p:pic>
        <p:nvPicPr>
          <p:cNvPr id="11" name="Grafik 10">
            <a:extLst>
              <a:ext uri="{FF2B5EF4-FFF2-40B4-BE49-F238E27FC236}">
                <a16:creationId xmlns:a16="http://schemas.microsoft.com/office/drawing/2014/main" id="{223AD8CB-2206-8A9F-2C2E-A52D8A369D08}"/>
              </a:ext>
            </a:extLst>
          </p:cNvPr>
          <p:cNvPicPr>
            <a:picLocks noChangeAspect="1"/>
          </p:cNvPicPr>
          <p:nvPr/>
        </p:nvPicPr>
        <p:blipFill>
          <a:blip r:embed="rId3"/>
          <a:stretch>
            <a:fillRect/>
          </a:stretch>
        </p:blipFill>
        <p:spPr>
          <a:xfrm>
            <a:off x="550333" y="1955241"/>
            <a:ext cx="11243733" cy="3421092"/>
          </a:xfrm>
          <a:prstGeom prst="rect">
            <a:avLst/>
          </a:prstGeom>
        </p:spPr>
      </p:pic>
      <p:sp>
        <p:nvSpPr>
          <p:cNvPr id="25" name="Inhaltsplatzhalter 2">
            <a:extLst>
              <a:ext uri="{FF2B5EF4-FFF2-40B4-BE49-F238E27FC236}">
                <a16:creationId xmlns:a16="http://schemas.microsoft.com/office/drawing/2014/main" id="{2012123C-B372-071E-BDEC-DD7C2D8D61CB}"/>
              </a:ext>
            </a:extLst>
          </p:cNvPr>
          <p:cNvSpPr>
            <a:spLocks noGrp="1"/>
          </p:cNvSpPr>
          <p:nvPr>
            <p:ph idx="1"/>
          </p:nvPr>
        </p:nvSpPr>
        <p:spPr>
          <a:xfrm>
            <a:off x="750147" y="1389331"/>
            <a:ext cx="4314092" cy="598643"/>
          </a:xfrm>
        </p:spPr>
        <p:txBody>
          <a:bodyPr anchor="ctr">
            <a:normAutofit/>
          </a:bodyPr>
          <a:lstStyle/>
          <a:p>
            <a:r>
              <a:rPr lang="de-DE" sz="2400" err="1"/>
              <a:t>Bedrooms</a:t>
            </a:r>
            <a:r>
              <a:rPr lang="de-DE" sz="2400"/>
              <a:t> 0 und 33</a:t>
            </a:r>
          </a:p>
        </p:txBody>
      </p:sp>
      <p:pic>
        <p:nvPicPr>
          <p:cNvPr id="29" name="Grafik 28">
            <a:extLst>
              <a:ext uri="{FF2B5EF4-FFF2-40B4-BE49-F238E27FC236}">
                <a16:creationId xmlns:a16="http://schemas.microsoft.com/office/drawing/2014/main" id="{3D334408-7AC9-21B7-B6E1-0FC8C53B478A}"/>
              </a:ext>
            </a:extLst>
          </p:cNvPr>
          <p:cNvPicPr>
            <a:picLocks noChangeAspect="1"/>
          </p:cNvPicPr>
          <p:nvPr/>
        </p:nvPicPr>
        <p:blipFill>
          <a:blip r:embed="rId4"/>
          <a:stretch>
            <a:fillRect/>
          </a:stretch>
        </p:blipFill>
        <p:spPr>
          <a:xfrm>
            <a:off x="550333" y="5496000"/>
            <a:ext cx="11243733" cy="798050"/>
          </a:xfrm>
          <a:prstGeom prst="rect">
            <a:avLst/>
          </a:prstGeom>
        </p:spPr>
      </p:pic>
      <p:sp>
        <p:nvSpPr>
          <p:cNvPr id="4" name="Rechteck 3">
            <a:extLst>
              <a:ext uri="{FF2B5EF4-FFF2-40B4-BE49-F238E27FC236}">
                <a16:creationId xmlns:a16="http://schemas.microsoft.com/office/drawing/2014/main" id="{6D2CEB46-5FDA-C0D7-E5ED-C0199FBC948B}"/>
              </a:ext>
            </a:extLst>
          </p:cNvPr>
          <p:cNvSpPr/>
          <p:nvPr/>
        </p:nvSpPr>
        <p:spPr>
          <a:xfrm>
            <a:off x="3242293" y="4640255"/>
            <a:ext cx="4178567" cy="251496"/>
          </a:xfrm>
          <a:prstGeom prst="rect">
            <a:avLst/>
          </a:prstGeom>
          <a:solidFill>
            <a:srgbClr val="FFFF00">
              <a:alpha val="15000"/>
            </a:srgb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341806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90308-C63D-8BB8-C563-AF9DC906D7B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382215B-E181-1688-5337-30157A7871E2}"/>
              </a:ext>
            </a:extLst>
          </p:cNvPr>
          <p:cNvSpPr>
            <a:spLocks noGrp="1"/>
          </p:cNvSpPr>
          <p:nvPr>
            <p:ph type="title"/>
          </p:nvPr>
        </p:nvSpPr>
        <p:spPr/>
        <p:txBody>
          <a:bodyPr/>
          <a:lstStyle/>
          <a:p>
            <a:r>
              <a:rPr lang="de-DE"/>
              <a:t>Anomalien</a:t>
            </a:r>
          </a:p>
        </p:txBody>
      </p:sp>
      <p:sp>
        <p:nvSpPr>
          <p:cNvPr id="25" name="Inhaltsplatzhalter 2">
            <a:extLst>
              <a:ext uri="{FF2B5EF4-FFF2-40B4-BE49-F238E27FC236}">
                <a16:creationId xmlns:a16="http://schemas.microsoft.com/office/drawing/2014/main" id="{B6B7C445-72AC-559C-AF66-B56FAA973348}"/>
              </a:ext>
            </a:extLst>
          </p:cNvPr>
          <p:cNvSpPr>
            <a:spLocks noGrp="1"/>
          </p:cNvSpPr>
          <p:nvPr>
            <p:ph idx="1"/>
          </p:nvPr>
        </p:nvSpPr>
        <p:spPr>
          <a:xfrm>
            <a:off x="770467" y="1602691"/>
            <a:ext cx="4314092" cy="598643"/>
          </a:xfrm>
        </p:spPr>
        <p:txBody>
          <a:bodyPr anchor="ctr">
            <a:normAutofit/>
          </a:bodyPr>
          <a:lstStyle/>
          <a:p>
            <a:r>
              <a:rPr lang="de-DE" sz="2400" err="1"/>
              <a:t>Bathrooms</a:t>
            </a:r>
            <a:r>
              <a:rPr lang="de-DE" sz="2400"/>
              <a:t> 0 und 8</a:t>
            </a:r>
          </a:p>
        </p:txBody>
      </p:sp>
      <p:pic>
        <p:nvPicPr>
          <p:cNvPr id="6" name="Grafik 5">
            <a:extLst>
              <a:ext uri="{FF2B5EF4-FFF2-40B4-BE49-F238E27FC236}">
                <a16:creationId xmlns:a16="http://schemas.microsoft.com/office/drawing/2014/main" id="{A86927A6-8DC8-33EB-764A-AB006F766176}"/>
              </a:ext>
            </a:extLst>
          </p:cNvPr>
          <p:cNvPicPr>
            <a:picLocks noChangeAspect="1"/>
          </p:cNvPicPr>
          <p:nvPr/>
        </p:nvPicPr>
        <p:blipFill>
          <a:blip r:embed="rId3"/>
          <a:stretch>
            <a:fillRect/>
          </a:stretch>
        </p:blipFill>
        <p:spPr>
          <a:xfrm>
            <a:off x="537632" y="5249332"/>
            <a:ext cx="11260665" cy="998176"/>
          </a:xfrm>
          <a:prstGeom prst="rect">
            <a:avLst/>
          </a:prstGeom>
        </p:spPr>
      </p:pic>
      <p:pic>
        <p:nvPicPr>
          <p:cNvPr id="8" name="Grafik 7">
            <a:extLst>
              <a:ext uri="{FF2B5EF4-FFF2-40B4-BE49-F238E27FC236}">
                <a16:creationId xmlns:a16="http://schemas.microsoft.com/office/drawing/2014/main" id="{67FD257E-A3D3-3889-A4CA-E4E36D8AE8E4}"/>
              </a:ext>
            </a:extLst>
          </p:cNvPr>
          <p:cNvPicPr>
            <a:picLocks noChangeAspect="1"/>
          </p:cNvPicPr>
          <p:nvPr/>
        </p:nvPicPr>
        <p:blipFill>
          <a:blip r:embed="rId4"/>
          <a:stretch>
            <a:fillRect/>
          </a:stretch>
        </p:blipFill>
        <p:spPr>
          <a:xfrm>
            <a:off x="537632" y="2278665"/>
            <a:ext cx="11260665" cy="2893336"/>
          </a:xfrm>
          <a:prstGeom prst="rect">
            <a:avLst/>
          </a:prstGeom>
        </p:spPr>
      </p:pic>
      <p:sp>
        <p:nvSpPr>
          <p:cNvPr id="4" name="Rechteck 3">
            <a:extLst>
              <a:ext uri="{FF2B5EF4-FFF2-40B4-BE49-F238E27FC236}">
                <a16:creationId xmlns:a16="http://schemas.microsoft.com/office/drawing/2014/main" id="{08C91A5D-E1ED-5450-89A2-89AA8875E70B}"/>
              </a:ext>
            </a:extLst>
          </p:cNvPr>
          <p:cNvSpPr/>
          <p:nvPr/>
        </p:nvSpPr>
        <p:spPr>
          <a:xfrm>
            <a:off x="3211632" y="3500339"/>
            <a:ext cx="4178567" cy="221016"/>
          </a:xfrm>
          <a:prstGeom prst="rect">
            <a:avLst/>
          </a:prstGeom>
          <a:solidFill>
            <a:srgbClr val="FFFF00">
              <a:alpha val="15000"/>
            </a:srgb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42022055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277B7-1FDA-7D75-315E-D58EF6B7DE2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7FD0658-3E15-22A6-E5B8-8244BC4CA51F}"/>
              </a:ext>
            </a:extLst>
          </p:cNvPr>
          <p:cNvSpPr>
            <a:spLocks noGrp="1"/>
          </p:cNvSpPr>
          <p:nvPr>
            <p:ph type="title"/>
          </p:nvPr>
        </p:nvSpPr>
        <p:spPr/>
        <p:txBody>
          <a:bodyPr/>
          <a:lstStyle/>
          <a:p>
            <a:r>
              <a:rPr lang="de-DE"/>
              <a:t>Anomalien</a:t>
            </a:r>
          </a:p>
        </p:txBody>
      </p:sp>
      <p:sp>
        <p:nvSpPr>
          <p:cNvPr id="3" name="Inhaltsplatzhalter 2">
            <a:extLst>
              <a:ext uri="{FF2B5EF4-FFF2-40B4-BE49-F238E27FC236}">
                <a16:creationId xmlns:a16="http://schemas.microsoft.com/office/drawing/2014/main" id="{B681E806-5CC0-E350-254E-D639AD7D92F1}"/>
              </a:ext>
            </a:extLst>
          </p:cNvPr>
          <p:cNvSpPr>
            <a:spLocks noGrp="1"/>
          </p:cNvSpPr>
          <p:nvPr>
            <p:ph idx="1"/>
          </p:nvPr>
        </p:nvSpPr>
        <p:spPr>
          <a:xfrm>
            <a:off x="838200" y="1825625"/>
            <a:ext cx="4665133" cy="4351338"/>
          </a:xfrm>
        </p:spPr>
        <p:txBody>
          <a:bodyPr anchor="ctr"/>
          <a:lstStyle/>
          <a:p>
            <a:r>
              <a:rPr lang="de-DE"/>
              <a:t>1x 33 Schlafzimmer bei nur 1620 </a:t>
            </a:r>
            <a:r>
              <a:rPr lang="de-DE" err="1"/>
              <a:t>sqft</a:t>
            </a:r>
            <a:endParaRPr lang="de-DE"/>
          </a:p>
          <a:p>
            <a:r>
              <a:rPr lang="de-DE"/>
              <a:t>Viele Häuser wurden nie renoviert</a:t>
            </a:r>
          </a:p>
          <a:p>
            <a:r>
              <a:rPr lang="de-DE"/>
              <a:t>Waterfront und View </a:t>
            </a:r>
            <a:r>
              <a:rPr lang="de-DE" err="1"/>
              <a:t>unbalanciert</a:t>
            </a:r>
            <a:endParaRPr lang="de-DE"/>
          </a:p>
          <a:p>
            <a:r>
              <a:rPr lang="de-DE"/>
              <a:t>177 Duplikate</a:t>
            </a:r>
          </a:p>
          <a:p>
            <a:r>
              <a:rPr lang="de-DE"/>
              <a:t>13x ohne Schlafzimmer</a:t>
            </a:r>
          </a:p>
          <a:p>
            <a:r>
              <a:rPr lang="de-DE"/>
              <a:t>10x ohne Badezimmer</a:t>
            </a:r>
          </a:p>
          <a:p>
            <a:endParaRPr lang="de-DE"/>
          </a:p>
        </p:txBody>
      </p:sp>
      <p:pic>
        <p:nvPicPr>
          <p:cNvPr id="4" name="Grafik 3">
            <a:extLst>
              <a:ext uri="{FF2B5EF4-FFF2-40B4-BE49-F238E27FC236}">
                <a16:creationId xmlns:a16="http://schemas.microsoft.com/office/drawing/2014/main" id="{2A61CF49-1C26-48E0-12A9-2C63FF01AA03}"/>
              </a:ext>
            </a:extLst>
          </p:cNvPr>
          <p:cNvPicPr>
            <a:picLocks noChangeAspect="1"/>
          </p:cNvPicPr>
          <p:nvPr/>
        </p:nvPicPr>
        <p:blipFill>
          <a:blip r:embed="rId3"/>
          <a:stretch>
            <a:fillRect/>
          </a:stretch>
        </p:blipFill>
        <p:spPr>
          <a:xfrm>
            <a:off x="5723466" y="2604294"/>
            <a:ext cx="6032459" cy="2272505"/>
          </a:xfrm>
          <a:prstGeom prst="rect">
            <a:avLst/>
          </a:prstGeom>
        </p:spPr>
      </p:pic>
    </p:spTree>
    <p:extLst>
      <p:ext uri="{BB962C8B-B14F-4D97-AF65-F5344CB8AC3E}">
        <p14:creationId xmlns:p14="http://schemas.microsoft.com/office/powerpoint/2010/main" val="953072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32C3116F-4A2F-43A0-E696-C1F925F677A0}"/>
              </a:ext>
            </a:extLst>
          </p:cNvPr>
          <p:cNvSpPr>
            <a:spLocks noGrp="1"/>
          </p:cNvSpPr>
          <p:nvPr>
            <p:ph type="title"/>
          </p:nvPr>
        </p:nvSpPr>
        <p:spPr/>
        <p:txBody>
          <a:bodyPr>
            <a:normAutofit/>
          </a:bodyPr>
          <a:lstStyle/>
          <a:p>
            <a:pPr algn="ctr"/>
            <a:r>
              <a:rPr lang="de-DE" sz="3200"/>
              <a:t>Histogramme und Boxplots relevanter Features</a:t>
            </a:r>
          </a:p>
        </p:txBody>
      </p:sp>
      <p:pic>
        <p:nvPicPr>
          <p:cNvPr id="10" name="Grafik 9">
            <a:extLst>
              <a:ext uri="{FF2B5EF4-FFF2-40B4-BE49-F238E27FC236}">
                <a16:creationId xmlns:a16="http://schemas.microsoft.com/office/drawing/2014/main" id="{473B4BF0-64D6-4A2B-D632-5D69B5654142}"/>
              </a:ext>
            </a:extLst>
          </p:cNvPr>
          <p:cNvPicPr>
            <a:picLocks noChangeAspect="1"/>
          </p:cNvPicPr>
          <p:nvPr/>
        </p:nvPicPr>
        <p:blipFill>
          <a:blip r:embed="rId2"/>
          <a:stretch>
            <a:fillRect/>
          </a:stretch>
        </p:blipFill>
        <p:spPr>
          <a:xfrm>
            <a:off x="934505" y="1459552"/>
            <a:ext cx="10322730" cy="4873256"/>
          </a:xfrm>
          <a:prstGeom prst="rect">
            <a:avLst/>
          </a:prstGeom>
        </p:spPr>
      </p:pic>
    </p:spTree>
    <p:extLst>
      <p:ext uri="{BB962C8B-B14F-4D97-AF65-F5344CB8AC3E}">
        <p14:creationId xmlns:p14="http://schemas.microsoft.com/office/powerpoint/2010/main" val="2795956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7E902-6C25-3E0B-0ECF-DFDF4B26279A}"/>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3974E4AE-DCBE-0C42-B218-54C98C2B860A}"/>
              </a:ext>
            </a:extLst>
          </p:cNvPr>
          <p:cNvSpPr>
            <a:spLocks noGrp="1"/>
          </p:cNvSpPr>
          <p:nvPr>
            <p:ph type="title"/>
          </p:nvPr>
        </p:nvSpPr>
        <p:spPr/>
        <p:txBody>
          <a:bodyPr>
            <a:normAutofit/>
          </a:bodyPr>
          <a:lstStyle/>
          <a:p>
            <a:pPr algn="ctr"/>
            <a:r>
              <a:rPr lang="de-DE" sz="3200"/>
              <a:t>Histogramme und Boxplots relevanter Features</a:t>
            </a:r>
          </a:p>
        </p:txBody>
      </p:sp>
      <p:pic>
        <p:nvPicPr>
          <p:cNvPr id="12" name="Grafik 11">
            <a:extLst>
              <a:ext uri="{FF2B5EF4-FFF2-40B4-BE49-F238E27FC236}">
                <a16:creationId xmlns:a16="http://schemas.microsoft.com/office/drawing/2014/main" id="{C61CD747-9D92-34AD-D6E5-E23040C7C9D5}"/>
              </a:ext>
            </a:extLst>
          </p:cNvPr>
          <p:cNvPicPr>
            <a:picLocks noChangeAspect="1"/>
          </p:cNvPicPr>
          <p:nvPr/>
        </p:nvPicPr>
        <p:blipFill>
          <a:blip r:embed="rId2"/>
          <a:stretch>
            <a:fillRect/>
          </a:stretch>
        </p:blipFill>
        <p:spPr>
          <a:xfrm>
            <a:off x="837172" y="1435630"/>
            <a:ext cx="10518646" cy="4873256"/>
          </a:xfrm>
          <a:prstGeom prst="rect">
            <a:avLst/>
          </a:prstGeom>
        </p:spPr>
      </p:pic>
    </p:spTree>
    <p:extLst>
      <p:ext uri="{BB962C8B-B14F-4D97-AF65-F5344CB8AC3E}">
        <p14:creationId xmlns:p14="http://schemas.microsoft.com/office/powerpoint/2010/main" val="29010873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80C8B87F-BAFA-6082-A2BA-DD93420A0948}"/>
              </a:ext>
            </a:extLst>
          </p:cNvPr>
          <p:cNvSpPr>
            <a:spLocks noGrp="1"/>
          </p:cNvSpPr>
          <p:nvPr>
            <p:ph type="title"/>
          </p:nvPr>
        </p:nvSpPr>
        <p:spPr>
          <a:xfrm>
            <a:off x="7066118" y="100413"/>
            <a:ext cx="4181314" cy="1704941"/>
          </a:xfrm>
        </p:spPr>
        <p:txBody>
          <a:bodyPr>
            <a:normAutofit/>
          </a:bodyPr>
          <a:lstStyle/>
          <a:p>
            <a:r>
              <a:rPr lang="de-DE" sz="3600"/>
              <a:t>Korrelations-Matrix</a:t>
            </a:r>
          </a:p>
        </p:txBody>
      </p:sp>
      <p:pic>
        <p:nvPicPr>
          <p:cNvPr id="7" name="Grafik 6">
            <a:extLst>
              <a:ext uri="{FF2B5EF4-FFF2-40B4-BE49-F238E27FC236}">
                <a16:creationId xmlns:a16="http://schemas.microsoft.com/office/drawing/2014/main" id="{FEF3096E-4830-4817-399B-D6966DD29D76}"/>
              </a:ext>
            </a:extLst>
          </p:cNvPr>
          <p:cNvPicPr>
            <a:picLocks noChangeAspect="1"/>
          </p:cNvPicPr>
          <p:nvPr/>
        </p:nvPicPr>
        <p:blipFill>
          <a:blip r:embed="rId2"/>
          <a:stretch>
            <a:fillRect/>
          </a:stretch>
        </p:blipFill>
        <p:spPr>
          <a:xfrm>
            <a:off x="-1" y="0"/>
            <a:ext cx="6902825" cy="6858000"/>
          </a:xfrm>
          <a:prstGeom prst="rect">
            <a:avLst/>
          </a:prstGeom>
        </p:spPr>
      </p:pic>
      <p:sp>
        <p:nvSpPr>
          <p:cNvPr id="3" name="Rechteck 2">
            <a:extLst>
              <a:ext uri="{FF2B5EF4-FFF2-40B4-BE49-F238E27FC236}">
                <a16:creationId xmlns:a16="http://schemas.microsoft.com/office/drawing/2014/main" id="{12B28979-DC86-67B0-2AAA-2015873ED2F7}"/>
              </a:ext>
            </a:extLst>
          </p:cNvPr>
          <p:cNvSpPr/>
          <p:nvPr/>
        </p:nvSpPr>
        <p:spPr>
          <a:xfrm>
            <a:off x="3131603" y="4811333"/>
            <a:ext cx="675476" cy="401053"/>
          </a:xfrm>
          <a:prstGeom prst="rect">
            <a:avLst/>
          </a:prstGeom>
          <a:solidFill>
            <a:srgbClr val="FFFF00">
              <a:alpha val="30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a:extLst>
              <a:ext uri="{FF2B5EF4-FFF2-40B4-BE49-F238E27FC236}">
                <a16:creationId xmlns:a16="http://schemas.microsoft.com/office/drawing/2014/main" id="{0B3CC15E-ECD3-0E67-F570-32BA2CF029AB}"/>
              </a:ext>
            </a:extLst>
          </p:cNvPr>
          <p:cNvSpPr/>
          <p:nvPr/>
        </p:nvSpPr>
        <p:spPr>
          <a:xfrm>
            <a:off x="1499817" y="4820298"/>
            <a:ext cx="334822" cy="401053"/>
          </a:xfrm>
          <a:prstGeom prst="rect">
            <a:avLst/>
          </a:prstGeom>
          <a:solidFill>
            <a:srgbClr val="FFFF00">
              <a:alpha val="30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55F44E9D-5CBB-260D-1C6B-B7E889E0C406}"/>
              </a:ext>
            </a:extLst>
          </p:cNvPr>
          <p:cNvSpPr/>
          <p:nvPr/>
        </p:nvSpPr>
        <p:spPr>
          <a:xfrm>
            <a:off x="1783769" y="5116723"/>
            <a:ext cx="334822" cy="401053"/>
          </a:xfrm>
          <a:prstGeom prst="rect">
            <a:avLst/>
          </a:prstGeom>
          <a:solidFill>
            <a:srgbClr val="FFFF00">
              <a:alpha val="30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11">
            <a:extLst>
              <a:ext uri="{FF2B5EF4-FFF2-40B4-BE49-F238E27FC236}">
                <a16:creationId xmlns:a16="http://schemas.microsoft.com/office/drawing/2014/main" id="{8E8F630D-3A46-26C2-DD40-0EA789858D5A}"/>
              </a:ext>
            </a:extLst>
          </p:cNvPr>
          <p:cNvSpPr/>
          <p:nvPr/>
        </p:nvSpPr>
        <p:spPr>
          <a:xfrm>
            <a:off x="1499817" y="2983122"/>
            <a:ext cx="334822" cy="656549"/>
          </a:xfrm>
          <a:prstGeom prst="rect">
            <a:avLst/>
          </a:prstGeom>
          <a:solidFill>
            <a:srgbClr val="FFFF00">
              <a:alpha val="30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hteck 12">
            <a:extLst>
              <a:ext uri="{FF2B5EF4-FFF2-40B4-BE49-F238E27FC236}">
                <a16:creationId xmlns:a16="http://schemas.microsoft.com/office/drawing/2014/main" id="{0D6A8725-5F4C-75F2-7155-DE0E7FF8A7F9}"/>
              </a:ext>
            </a:extLst>
          </p:cNvPr>
          <p:cNvSpPr/>
          <p:nvPr/>
        </p:nvSpPr>
        <p:spPr>
          <a:xfrm>
            <a:off x="670789" y="1109497"/>
            <a:ext cx="334822" cy="360713"/>
          </a:xfrm>
          <a:prstGeom prst="rect">
            <a:avLst/>
          </a:prstGeom>
          <a:solidFill>
            <a:srgbClr val="FFFF00">
              <a:alpha val="30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Rechteck 13">
            <a:extLst>
              <a:ext uri="{FF2B5EF4-FFF2-40B4-BE49-F238E27FC236}">
                <a16:creationId xmlns:a16="http://schemas.microsoft.com/office/drawing/2014/main" id="{22616A57-CB18-7FE9-AA73-2B89F1425931}"/>
              </a:ext>
            </a:extLst>
          </p:cNvPr>
          <p:cNvSpPr/>
          <p:nvPr/>
        </p:nvSpPr>
        <p:spPr>
          <a:xfrm>
            <a:off x="1228880" y="1109497"/>
            <a:ext cx="334822" cy="360713"/>
          </a:xfrm>
          <a:prstGeom prst="rect">
            <a:avLst/>
          </a:prstGeom>
          <a:solidFill>
            <a:srgbClr val="FFFF00">
              <a:alpha val="30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Rechteck 15">
            <a:extLst>
              <a:ext uri="{FF2B5EF4-FFF2-40B4-BE49-F238E27FC236}">
                <a16:creationId xmlns:a16="http://schemas.microsoft.com/office/drawing/2014/main" id="{C674108D-845D-EA0D-2B43-E6E84B78E656}"/>
              </a:ext>
            </a:extLst>
          </p:cNvPr>
          <p:cNvSpPr/>
          <p:nvPr/>
        </p:nvSpPr>
        <p:spPr>
          <a:xfrm>
            <a:off x="3179343" y="3251475"/>
            <a:ext cx="334822" cy="401053"/>
          </a:xfrm>
          <a:prstGeom prst="rect">
            <a:avLst/>
          </a:prstGeom>
          <a:solidFill>
            <a:srgbClr val="FFFF00">
              <a:alpha val="30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Rechteck 22">
            <a:extLst>
              <a:ext uri="{FF2B5EF4-FFF2-40B4-BE49-F238E27FC236}">
                <a16:creationId xmlns:a16="http://schemas.microsoft.com/office/drawing/2014/main" id="{E804114C-2CC0-1B6E-5040-F7ED26045705}"/>
              </a:ext>
            </a:extLst>
          </p:cNvPr>
          <p:cNvSpPr/>
          <p:nvPr/>
        </p:nvSpPr>
        <p:spPr>
          <a:xfrm>
            <a:off x="955100" y="1426153"/>
            <a:ext cx="334822" cy="343551"/>
          </a:xfrm>
          <a:prstGeom prst="rect">
            <a:avLst/>
          </a:prstGeom>
          <a:solidFill>
            <a:srgbClr val="FFFF00">
              <a:alpha val="30000"/>
            </a:srgb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4" name="Rechteck 23">
            <a:extLst>
              <a:ext uri="{FF2B5EF4-FFF2-40B4-BE49-F238E27FC236}">
                <a16:creationId xmlns:a16="http://schemas.microsoft.com/office/drawing/2014/main" id="{F2290394-EC3A-54F8-C312-17D72F34169B}"/>
              </a:ext>
            </a:extLst>
          </p:cNvPr>
          <p:cNvSpPr/>
          <p:nvPr/>
        </p:nvSpPr>
        <p:spPr>
          <a:xfrm>
            <a:off x="660054" y="2983122"/>
            <a:ext cx="334822" cy="343551"/>
          </a:xfrm>
          <a:prstGeom prst="rect">
            <a:avLst/>
          </a:prstGeom>
          <a:solidFill>
            <a:srgbClr val="FFFF00">
              <a:alpha val="30000"/>
            </a:srgb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5" name="Rechteck 24">
            <a:extLst>
              <a:ext uri="{FF2B5EF4-FFF2-40B4-BE49-F238E27FC236}">
                <a16:creationId xmlns:a16="http://schemas.microsoft.com/office/drawing/2014/main" id="{D13A59E6-5AEA-775A-405A-013BE0811FA8}"/>
              </a:ext>
            </a:extLst>
          </p:cNvPr>
          <p:cNvSpPr/>
          <p:nvPr/>
        </p:nvSpPr>
        <p:spPr>
          <a:xfrm>
            <a:off x="667873" y="520275"/>
            <a:ext cx="334822" cy="343551"/>
          </a:xfrm>
          <a:prstGeom prst="rect">
            <a:avLst/>
          </a:prstGeom>
          <a:solidFill>
            <a:srgbClr val="FFFF00">
              <a:alpha val="30000"/>
            </a:srgb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6" name="Rechteck 25">
            <a:extLst>
              <a:ext uri="{FF2B5EF4-FFF2-40B4-BE49-F238E27FC236}">
                <a16:creationId xmlns:a16="http://schemas.microsoft.com/office/drawing/2014/main" id="{308AB015-A14A-FAE8-FF42-69FEA7F961AE}"/>
              </a:ext>
            </a:extLst>
          </p:cNvPr>
          <p:cNvSpPr/>
          <p:nvPr/>
        </p:nvSpPr>
        <p:spPr>
          <a:xfrm>
            <a:off x="660054" y="2049699"/>
            <a:ext cx="334822" cy="343551"/>
          </a:xfrm>
          <a:prstGeom prst="rect">
            <a:avLst/>
          </a:prstGeom>
          <a:solidFill>
            <a:srgbClr val="FFFF00">
              <a:alpha val="30000"/>
            </a:srgb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Text 2">
            <a:extLst>
              <a:ext uri="{FF2B5EF4-FFF2-40B4-BE49-F238E27FC236}">
                <a16:creationId xmlns:a16="http://schemas.microsoft.com/office/drawing/2014/main" id="{D07FD8B0-B391-9D2C-CA26-F41A8B0CD805}"/>
              </a:ext>
            </a:extLst>
          </p:cNvPr>
          <p:cNvSpPr/>
          <p:nvPr/>
        </p:nvSpPr>
        <p:spPr>
          <a:xfrm>
            <a:off x="9892707" y="117290"/>
            <a:ext cx="2438400" cy="792480"/>
          </a:xfrm>
          <a:prstGeom prst="rect">
            <a:avLst/>
          </a:prstGeom>
          <a:noFill/>
          <a:ln/>
        </p:spPr>
        <p:txBody>
          <a:bodyPr wrap="square" rtlCol="0" anchor="ct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3733" b="1">
                <a:solidFill>
                  <a:srgbClr val="FFFFFF"/>
                </a:solidFill>
                <a:latin typeface="Arial" panose="020B0604020202020204" pitchFamily="34" charset="0"/>
                <a:ea typeface="Georgia" pitchFamily="34" charset="-122"/>
                <a:cs typeface="Arial" panose="020B0604020202020204" pitchFamily="34" charset="0"/>
              </a:rPr>
              <a:t>21.613</a:t>
            </a:r>
            <a:endParaRPr lang="en-US" sz="3733">
              <a:latin typeface="Arial" panose="020B0604020202020204" pitchFamily="34" charset="0"/>
              <a:cs typeface="Arial" panose="020B0604020202020204" pitchFamily="34" charset="0"/>
            </a:endParaRPr>
          </a:p>
        </p:txBody>
      </p:sp>
      <p:sp>
        <p:nvSpPr>
          <p:cNvPr id="40" name="Rechteck: abgerundete Ecken 39">
            <a:extLst>
              <a:ext uri="{FF2B5EF4-FFF2-40B4-BE49-F238E27FC236}">
                <a16:creationId xmlns:a16="http://schemas.microsoft.com/office/drawing/2014/main" id="{A402039A-1612-5565-5AD5-36BC4C0890A8}"/>
              </a:ext>
            </a:extLst>
          </p:cNvPr>
          <p:cNvSpPr/>
          <p:nvPr/>
        </p:nvSpPr>
        <p:spPr>
          <a:xfrm>
            <a:off x="7762786" y="3391089"/>
            <a:ext cx="3809961" cy="512991"/>
          </a:xfrm>
          <a:prstGeom prst="roundRect">
            <a:avLst>
              <a:gd name="adj" fmla="val 0"/>
            </a:avLst>
          </a:prstGeom>
          <a:solidFill>
            <a:srgbClr val="21295C"/>
          </a:solidFill>
          <a:ln>
            <a:solidFill>
              <a:srgbClr val="002060"/>
            </a:solidFill>
          </a:ln>
        </p:spPr>
        <p:txBody>
          <a:bodyPr/>
          <a:lstStyle/>
          <a:p>
            <a:pPr defTabSz="1219170"/>
            <a:r>
              <a:rPr lang="de-DE" sz="1400" err="1">
                <a:solidFill>
                  <a:schemeClr val="bg1"/>
                </a:solidFill>
              </a:rPr>
              <a:t>lat</a:t>
            </a:r>
            <a:r>
              <a:rPr lang="de-DE" sz="1400">
                <a:solidFill>
                  <a:schemeClr val="bg1"/>
                </a:solidFill>
              </a:rPr>
              <a:t> ↔ </a:t>
            </a:r>
            <a:r>
              <a:rPr lang="de-DE" sz="1400" err="1">
                <a:solidFill>
                  <a:schemeClr val="bg1"/>
                </a:solidFill>
              </a:rPr>
              <a:t>price</a:t>
            </a:r>
            <a:r>
              <a:rPr lang="de-DE" sz="1400">
                <a:solidFill>
                  <a:schemeClr val="bg1"/>
                </a:solidFill>
              </a:rPr>
              <a:t> (r=0.31) </a:t>
            </a:r>
          </a:p>
          <a:p>
            <a:pPr defTabSz="1219170"/>
            <a:r>
              <a:rPr lang="de-DE" sz="1400">
                <a:solidFill>
                  <a:schemeClr val="bg1"/>
                </a:solidFill>
              </a:rPr>
              <a:t>= nördlichere Lagen tendenziell teure</a:t>
            </a:r>
            <a:r>
              <a:rPr lang="en-US" sz="1400">
                <a:solidFill>
                  <a:schemeClr val="bg1"/>
                </a:solidFill>
              </a:rPr>
              <a:t>r</a:t>
            </a:r>
          </a:p>
        </p:txBody>
      </p:sp>
      <p:sp>
        <p:nvSpPr>
          <p:cNvPr id="41" name="Rechteck: abgerundete Ecken 40">
            <a:extLst>
              <a:ext uri="{FF2B5EF4-FFF2-40B4-BE49-F238E27FC236}">
                <a16:creationId xmlns:a16="http://schemas.microsoft.com/office/drawing/2014/main" id="{A7A90A61-AD0A-8E91-5FF3-5784A1DE64EF}"/>
              </a:ext>
            </a:extLst>
          </p:cNvPr>
          <p:cNvSpPr/>
          <p:nvPr/>
        </p:nvSpPr>
        <p:spPr>
          <a:xfrm>
            <a:off x="7762777" y="4867871"/>
            <a:ext cx="3809961" cy="934449"/>
          </a:xfrm>
          <a:prstGeom prst="roundRect">
            <a:avLst>
              <a:gd name="adj" fmla="val 0"/>
            </a:avLst>
          </a:prstGeom>
          <a:solidFill>
            <a:srgbClr val="21295C"/>
          </a:solidFill>
          <a:ln>
            <a:solidFill>
              <a:srgbClr val="002060"/>
            </a:solidFill>
          </a:ln>
        </p:spPr>
        <p:txBody>
          <a:bodyPr/>
          <a:lstStyle/>
          <a:p>
            <a:pPr defTabSz="1219170"/>
            <a:r>
              <a:rPr lang="de-DE" sz="1400">
                <a:solidFill>
                  <a:schemeClr val="bg1"/>
                </a:solidFill>
              </a:rPr>
              <a:t>H2 (Luxus): </a:t>
            </a:r>
            <a:br>
              <a:rPr lang="de-DE" sz="1400">
                <a:solidFill>
                  <a:schemeClr val="bg1"/>
                </a:solidFill>
              </a:rPr>
            </a:br>
            <a:r>
              <a:rPr lang="de-DE" sz="1400">
                <a:solidFill>
                  <a:schemeClr val="bg1"/>
                </a:solidFill>
              </a:rPr>
              <a:t>grade (r=0.67) bestätigt die Hypothese, </a:t>
            </a:r>
            <a:r>
              <a:rPr lang="de-DE" sz="1400" err="1">
                <a:solidFill>
                  <a:schemeClr val="bg1"/>
                </a:solidFill>
              </a:rPr>
              <a:t>waterfront</a:t>
            </a:r>
            <a:r>
              <a:rPr lang="de-DE" sz="1400">
                <a:solidFill>
                  <a:schemeClr val="bg1"/>
                </a:solidFill>
              </a:rPr>
              <a:t> (r=0.27) und </a:t>
            </a:r>
            <a:r>
              <a:rPr lang="de-DE" sz="1400" err="1">
                <a:solidFill>
                  <a:schemeClr val="bg1"/>
                </a:solidFill>
              </a:rPr>
              <a:t>bedrooms</a:t>
            </a:r>
            <a:r>
              <a:rPr lang="de-DE" sz="1400">
                <a:solidFill>
                  <a:schemeClr val="bg1"/>
                </a:solidFill>
              </a:rPr>
              <a:t> (r=0.31) sind schwächer</a:t>
            </a:r>
          </a:p>
        </p:txBody>
      </p:sp>
      <p:sp>
        <p:nvSpPr>
          <p:cNvPr id="42" name="Rechteck: abgerundete Ecken 41">
            <a:extLst>
              <a:ext uri="{FF2B5EF4-FFF2-40B4-BE49-F238E27FC236}">
                <a16:creationId xmlns:a16="http://schemas.microsoft.com/office/drawing/2014/main" id="{7CE58B20-5A07-6930-E750-B6A01EF0ABC7}"/>
              </a:ext>
            </a:extLst>
          </p:cNvPr>
          <p:cNvSpPr/>
          <p:nvPr/>
        </p:nvSpPr>
        <p:spPr>
          <a:xfrm>
            <a:off x="7762777" y="5802320"/>
            <a:ext cx="3809961" cy="730365"/>
          </a:xfrm>
          <a:prstGeom prst="roundRect">
            <a:avLst>
              <a:gd name="adj" fmla="val 0"/>
            </a:avLst>
          </a:prstGeom>
          <a:solidFill>
            <a:srgbClr val="21295C"/>
          </a:solidFill>
          <a:ln>
            <a:solidFill>
              <a:srgbClr val="002060"/>
            </a:solidFill>
          </a:ln>
        </p:spPr>
        <p:txBody>
          <a:bodyPr/>
          <a:lstStyle/>
          <a:p>
            <a:pPr defTabSz="1219170"/>
            <a:r>
              <a:rPr lang="de-DE" sz="1400">
                <a:solidFill>
                  <a:schemeClr val="bg1"/>
                </a:solidFill>
              </a:rPr>
              <a:t>H3 (Singles): </a:t>
            </a:r>
            <a:r>
              <a:rPr lang="de-DE" sz="1400" err="1">
                <a:solidFill>
                  <a:schemeClr val="bg1"/>
                </a:solidFill>
              </a:rPr>
              <a:t>bedrooms</a:t>
            </a:r>
            <a:r>
              <a:rPr lang="de-DE" sz="1400">
                <a:solidFill>
                  <a:schemeClr val="bg1"/>
                </a:solidFill>
              </a:rPr>
              <a:t> ↔ </a:t>
            </a:r>
            <a:r>
              <a:rPr lang="de-DE" sz="1400" err="1">
                <a:solidFill>
                  <a:schemeClr val="bg1"/>
                </a:solidFill>
              </a:rPr>
              <a:t>sqft_lot</a:t>
            </a:r>
            <a:r>
              <a:rPr lang="de-DE" sz="1400">
                <a:solidFill>
                  <a:schemeClr val="bg1"/>
                </a:solidFill>
              </a:rPr>
              <a:t>  r=0.03 </a:t>
            </a:r>
          </a:p>
          <a:p>
            <a:pPr defTabSz="1219170"/>
            <a:r>
              <a:rPr lang="de-DE" sz="1400" err="1">
                <a:solidFill>
                  <a:schemeClr val="bg1"/>
                </a:solidFill>
              </a:rPr>
              <a:t>bedrooms</a:t>
            </a:r>
            <a:r>
              <a:rPr lang="de-DE" sz="1400">
                <a:solidFill>
                  <a:schemeClr val="bg1"/>
                </a:solidFill>
              </a:rPr>
              <a:t> ↔ </a:t>
            </a:r>
            <a:r>
              <a:rPr lang="de-DE" sz="1400" err="1">
                <a:solidFill>
                  <a:schemeClr val="bg1"/>
                </a:solidFill>
              </a:rPr>
              <a:t>lat</a:t>
            </a:r>
            <a:r>
              <a:rPr lang="de-DE" sz="1400">
                <a:solidFill>
                  <a:schemeClr val="bg1"/>
                </a:solidFill>
              </a:rPr>
              <a:t> (r=-0.01) </a:t>
            </a:r>
            <a:br>
              <a:rPr lang="de-DE" sz="1400">
                <a:solidFill>
                  <a:schemeClr val="bg1"/>
                </a:solidFill>
              </a:rPr>
            </a:br>
            <a:r>
              <a:rPr lang="de-DE" sz="1400">
                <a:solidFill>
                  <a:schemeClr val="bg1"/>
                </a:solidFill>
              </a:rPr>
              <a:t>→ kein Hinweis auf geografische Konzentration</a:t>
            </a:r>
          </a:p>
        </p:txBody>
      </p:sp>
      <p:sp>
        <p:nvSpPr>
          <p:cNvPr id="43" name="Rechteck: abgerundete Ecken 42">
            <a:extLst>
              <a:ext uri="{FF2B5EF4-FFF2-40B4-BE49-F238E27FC236}">
                <a16:creationId xmlns:a16="http://schemas.microsoft.com/office/drawing/2014/main" id="{16DB70BE-DB35-881E-C7B2-9B489549B538}"/>
              </a:ext>
            </a:extLst>
          </p:cNvPr>
          <p:cNvSpPr/>
          <p:nvPr/>
        </p:nvSpPr>
        <p:spPr>
          <a:xfrm>
            <a:off x="7762792" y="1788749"/>
            <a:ext cx="3809961" cy="1151618"/>
          </a:xfrm>
          <a:prstGeom prst="roundRect">
            <a:avLst>
              <a:gd name="adj" fmla="val 0"/>
            </a:avLst>
          </a:prstGeom>
          <a:solidFill>
            <a:srgbClr val="21295C"/>
          </a:solidFill>
          <a:ln>
            <a:solidFill>
              <a:srgbClr val="002060"/>
            </a:solidFill>
          </a:ln>
        </p:spPr>
        <p:txBody>
          <a:bodyPr/>
          <a:lstStyle/>
          <a:p>
            <a:pPr defTabSz="1219170"/>
            <a:r>
              <a:rPr lang="en-US" sz="1400" err="1">
                <a:solidFill>
                  <a:schemeClr val="bg1"/>
                </a:solidFill>
              </a:rPr>
              <a:t>sqft_living</a:t>
            </a:r>
            <a:r>
              <a:rPr lang="en-US" sz="1400">
                <a:solidFill>
                  <a:schemeClr val="bg1"/>
                </a:solidFill>
              </a:rPr>
              <a:t> ↔ </a:t>
            </a:r>
            <a:r>
              <a:rPr lang="en-US" sz="1400" err="1">
                <a:solidFill>
                  <a:schemeClr val="bg1"/>
                </a:solidFill>
              </a:rPr>
              <a:t>sqft_above</a:t>
            </a:r>
            <a:r>
              <a:rPr lang="en-US" sz="1400">
                <a:solidFill>
                  <a:schemeClr val="bg1"/>
                </a:solidFill>
              </a:rPr>
              <a:t> 	(r=0.88)</a:t>
            </a:r>
            <a:br>
              <a:rPr lang="en-US" sz="1400">
                <a:solidFill>
                  <a:schemeClr val="bg1"/>
                </a:solidFill>
              </a:rPr>
            </a:br>
            <a:r>
              <a:rPr lang="en-US" sz="1400" err="1">
                <a:solidFill>
                  <a:schemeClr val="bg1"/>
                </a:solidFill>
              </a:rPr>
              <a:t>sqft_living</a:t>
            </a:r>
            <a:r>
              <a:rPr lang="en-US" sz="1400">
                <a:solidFill>
                  <a:schemeClr val="bg1"/>
                </a:solidFill>
              </a:rPr>
              <a:t> ↔ grade	(r=0.76) </a:t>
            </a:r>
            <a:br>
              <a:rPr lang="en-US" sz="1400">
                <a:solidFill>
                  <a:schemeClr val="bg1"/>
                </a:solidFill>
              </a:rPr>
            </a:br>
            <a:r>
              <a:rPr lang="en-US" sz="1400" err="1">
                <a:solidFill>
                  <a:schemeClr val="bg1"/>
                </a:solidFill>
              </a:rPr>
              <a:t>sqft_above</a:t>
            </a:r>
            <a:r>
              <a:rPr lang="en-US" sz="1400">
                <a:solidFill>
                  <a:schemeClr val="bg1"/>
                </a:solidFill>
              </a:rPr>
              <a:t> ↔ grade	(r=0.76)</a:t>
            </a:r>
            <a:br>
              <a:rPr lang="en-US" sz="1400">
                <a:solidFill>
                  <a:schemeClr val="bg1"/>
                </a:solidFill>
              </a:rPr>
            </a:br>
            <a:r>
              <a:rPr lang="en-US" sz="1400" err="1">
                <a:solidFill>
                  <a:schemeClr val="bg1"/>
                </a:solidFill>
              </a:rPr>
              <a:t>sqft_living</a:t>
            </a:r>
            <a:r>
              <a:rPr lang="en-US" sz="1400">
                <a:solidFill>
                  <a:schemeClr val="bg1"/>
                </a:solidFill>
              </a:rPr>
              <a:t> ↔ sqft_living15 	(r=0.76) </a:t>
            </a:r>
            <a:br>
              <a:rPr lang="en-US" sz="1400">
                <a:solidFill>
                  <a:schemeClr val="bg1"/>
                </a:solidFill>
              </a:rPr>
            </a:br>
            <a:r>
              <a:rPr lang="en-US" sz="1400" err="1">
                <a:solidFill>
                  <a:schemeClr val="bg1"/>
                </a:solidFill>
              </a:rPr>
              <a:t>sqft_lot</a:t>
            </a:r>
            <a:r>
              <a:rPr lang="en-US" sz="1400">
                <a:solidFill>
                  <a:schemeClr val="bg1"/>
                </a:solidFill>
              </a:rPr>
              <a:t> ↔ sqft_lot15 	(r=0.72)</a:t>
            </a:r>
          </a:p>
        </p:txBody>
      </p:sp>
      <p:sp>
        <p:nvSpPr>
          <p:cNvPr id="44" name="Shape 4">
            <a:extLst>
              <a:ext uri="{FF2B5EF4-FFF2-40B4-BE49-F238E27FC236}">
                <a16:creationId xmlns:a16="http://schemas.microsoft.com/office/drawing/2014/main" id="{E33819E0-1545-9327-7C7D-777A87326422}"/>
              </a:ext>
            </a:extLst>
          </p:cNvPr>
          <p:cNvSpPr/>
          <p:nvPr/>
        </p:nvSpPr>
        <p:spPr>
          <a:xfrm>
            <a:off x="7762789" y="1482213"/>
            <a:ext cx="3809967" cy="304503"/>
          </a:xfrm>
          <a:prstGeom prst="rect">
            <a:avLst/>
          </a:prstGeom>
          <a:solidFill>
            <a:srgbClr val="F2F7FA"/>
          </a:solidFill>
          <a:ln/>
        </p:spPr>
        <p:txBody>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de-DE" sz="3200"/>
          </a:p>
        </p:txBody>
      </p:sp>
      <p:sp>
        <p:nvSpPr>
          <p:cNvPr id="45" name="Textfeld 44">
            <a:extLst>
              <a:ext uri="{FF2B5EF4-FFF2-40B4-BE49-F238E27FC236}">
                <a16:creationId xmlns:a16="http://schemas.microsoft.com/office/drawing/2014/main" id="{EEB2A6C5-F834-9710-3FBD-D94B788190AE}"/>
              </a:ext>
            </a:extLst>
          </p:cNvPr>
          <p:cNvSpPr txBox="1"/>
          <p:nvPr/>
        </p:nvSpPr>
        <p:spPr>
          <a:xfrm>
            <a:off x="7762786" y="1472470"/>
            <a:ext cx="3809967" cy="307777"/>
          </a:xfrm>
          <a:prstGeom prst="rect">
            <a:avLst/>
          </a:prstGeom>
          <a:noFill/>
          <a:ln>
            <a:solidFill>
              <a:srgbClr val="002060"/>
            </a:solidFill>
          </a:ln>
        </p:spPr>
        <p:txBody>
          <a:bodyPr wrap="square">
            <a:spAutoFit/>
          </a:bodyPr>
          <a:lstStyle/>
          <a:p>
            <a:pPr marL="0" indent="0">
              <a:buNone/>
            </a:pPr>
            <a:r>
              <a:rPr lang="en-US" sz="1400" b="1" err="1">
                <a:solidFill>
                  <a:srgbClr val="21295C"/>
                </a:solidFill>
                <a:latin typeface="Arial" panose="020B0604020202020204" pitchFamily="34" charset="0"/>
                <a:cs typeface="Arial" panose="020B0604020202020204" pitchFamily="34" charset="0"/>
              </a:rPr>
              <a:t>Multikollinearität</a:t>
            </a:r>
            <a:r>
              <a:rPr lang="en-US" sz="1400" b="1"/>
              <a:t> </a:t>
            </a:r>
            <a:r>
              <a:rPr lang="en-US" sz="1400" b="1">
                <a:solidFill>
                  <a:srgbClr val="21295C"/>
                </a:solidFill>
                <a:latin typeface="Arial" panose="020B0604020202020204" pitchFamily="34" charset="0"/>
                <a:cs typeface="Arial" panose="020B0604020202020204" pitchFamily="34" charset="0"/>
              </a:rPr>
              <a:t>(</a:t>
            </a:r>
            <a:r>
              <a:rPr lang="en-US" sz="1400" b="1" err="1">
                <a:solidFill>
                  <a:srgbClr val="21295C"/>
                </a:solidFill>
                <a:latin typeface="Arial" panose="020B0604020202020204" pitchFamily="34" charset="0"/>
                <a:cs typeface="Arial" panose="020B0604020202020204" pitchFamily="34" charset="0"/>
              </a:rPr>
              <a:t>redundante</a:t>
            </a:r>
            <a:r>
              <a:rPr lang="en-US" sz="1400" b="1"/>
              <a:t> </a:t>
            </a:r>
            <a:r>
              <a:rPr lang="en-US" sz="1400" b="1">
                <a:solidFill>
                  <a:srgbClr val="21295C"/>
                </a:solidFill>
                <a:latin typeface="Arial" panose="020B0604020202020204" pitchFamily="34" charset="0"/>
                <a:cs typeface="Arial" panose="020B0604020202020204" pitchFamily="34" charset="0"/>
              </a:rPr>
              <a:t>Features):</a:t>
            </a:r>
          </a:p>
        </p:txBody>
      </p:sp>
      <p:sp>
        <p:nvSpPr>
          <p:cNvPr id="46" name="Rechteck 45">
            <a:extLst>
              <a:ext uri="{FF2B5EF4-FFF2-40B4-BE49-F238E27FC236}">
                <a16:creationId xmlns:a16="http://schemas.microsoft.com/office/drawing/2014/main" id="{CBC0BAA7-360C-4A82-A76E-3B082700FEF0}"/>
              </a:ext>
            </a:extLst>
          </p:cNvPr>
          <p:cNvSpPr/>
          <p:nvPr/>
        </p:nvSpPr>
        <p:spPr>
          <a:xfrm>
            <a:off x="7176603" y="1467168"/>
            <a:ext cx="463540" cy="1473199"/>
          </a:xfrm>
          <a:prstGeom prst="rect">
            <a:avLst/>
          </a:prstGeom>
          <a:solidFill>
            <a:srgbClr val="FFFF00">
              <a:alpha val="30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7" name="Shape 4">
            <a:extLst>
              <a:ext uri="{FF2B5EF4-FFF2-40B4-BE49-F238E27FC236}">
                <a16:creationId xmlns:a16="http://schemas.microsoft.com/office/drawing/2014/main" id="{A639FA33-9F59-0AAB-E944-4387085012FD}"/>
              </a:ext>
            </a:extLst>
          </p:cNvPr>
          <p:cNvSpPr/>
          <p:nvPr/>
        </p:nvSpPr>
        <p:spPr>
          <a:xfrm>
            <a:off x="7762789" y="3093616"/>
            <a:ext cx="3809967" cy="304503"/>
          </a:xfrm>
          <a:prstGeom prst="rect">
            <a:avLst/>
          </a:prstGeom>
          <a:solidFill>
            <a:srgbClr val="F2F7FA"/>
          </a:solidFill>
          <a:ln/>
        </p:spPr>
        <p:txBody>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de-DE" sz="3200"/>
          </a:p>
        </p:txBody>
      </p:sp>
      <p:sp>
        <p:nvSpPr>
          <p:cNvPr id="48" name="Textfeld 47">
            <a:extLst>
              <a:ext uri="{FF2B5EF4-FFF2-40B4-BE49-F238E27FC236}">
                <a16:creationId xmlns:a16="http://schemas.microsoft.com/office/drawing/2014/main" id="{0A7F737E-AE90-1670-2298-CBFC292F9EF3}"/>
              </a:ext>
            </a:extLst>
          </p:cNvPr>
          <p:cNvSpPr txBox="1"/>
          <p:nvPr/>
        </p:nvSpPr>
        <p:spPr>
          <a:xfrm>
            <a:off x="7762786" y="3083873"/>
            <a:ext cx="3809967" cy="307777"/>
          </a:xfrm>
          <a:prstGeom prst="rect">
            <a:avLst/>
          </a:prstGeom>
          <a:noFill/>
          <a:ln>
            <a:solidFill>
              <a:srgbClr val="002060"/>
            </a:solidFill>
          </a:ln>
        </p:spPr>
        <p:txBody>
          <a:bodyPr wrap="square">
            <a:spAutoFit/>
          </a:bodyPr>
          <a:lstStyle/>
          <a:p>
            <a:pPr marL="0" indent="0">
              <a:buNone/>
            </a:pPr>
            <a:r>
              <a:rPr lang="en-US" sz="1400" b="1" err="1">
                <a:solidFill>
                  <a:srgbClr val="21295C"/>
                </a:solidFill>
                <a:latin typeface="Arial" panose="020B0604020202020204" pitchFamily="34" charset="0"/>
                <a:cs typeface="Arial" panose="020B0604020202020204" pitchFamily="34" charset="0"/>
              </a:rPr>
              <a:t>Geografische</a:t>
            </a:r>
            <a:r>
              <a:rPr lang="en-US" sz="1400" b="1">
                <a:solidFill>
                  <a:srgbClr val="21295C"/>
                </a:solidFill>
                <a:latin typeface="Arial" panose="020B0604020202020204" pitchFamily="34" charset="0"/>
                <a:cs typeface="Arial" panose="020B0604020202020204" pitchFamily="34" charset="0"/>
              </a:rPr>
              <a:t> Muster</a:t>
            </a:r>
          </a:p>
        </p:txBody>
      </p:sp>
      <p:sp>
        <p:nvSpPr>
          <p:cNvPr id="49" name="Rechteck: abgerundete Ecken 48">
            <a:extLst>
              <a:ext uri="{FF2B5EF4-FFF2-40B4-BE49-F238E27FC236}">
                <a16:creationId xmlns:a16="http://schemas.microsoft.com/office/drawing/2014/main" id="{FFA13665-B43F-FB56-6B7F-BCBA53C5AD3A}"/>
              </a:ext>
            </a:extLst>
          </p:cNvPr>
          <p:cNvSpPr/>
          <p:nvPr/>
        </p:nvSpPr>
        <p:spPr>
          <a:xfrm>
            <a:off x="7762777" y="4354880"/>
            <a:ext cx="3809961" cy="512991"/>
          </a:xfrm>
          <a:prstGeom prst="roundRect">
            <a:avLst>
              <a:gd name="adj" fmla="val 0"/>
            </a:avLst>
          </a:prstGeom>
          <a:solidFill>
            <a:srgbClr val="21295C"/>
          </a:solidFill>
          <a:ln>
            <a:solidFill>
              <a:srgbClr val="002060"/>
            </a:solidFill>
          </a:ln>
        </p:spPr>
        <p:txBody>
          <a:bodyPr/>
          <a:lstStyle/>
          <a:p>
            <a:pPr defTabSz="1219170"/>
            <a:r>
              <a:rPr lang="de-DE" sz="1400">
                <a:solidFill>
                  <a:schemeClr val="bg1"/>
                </a:solidFill>
              </a:rPr>
              <a:t>H1 (Familien): </a:t>
            </a:r>
            <a:r>
              <a:rPr lang="de-DE" sz="1400" err="1">
                <a:solidFill>
                  <a:schemeClr val="bg1"/>
                </a:solidFill>
              </a:rPr>
              <a:t>bedrooms</a:t>
            </a:r>
            <a:r>
              <a:rPr lang="de-DE" sz="1400">
                <a:solidFill>
                  <a:schemeClr val="bg1"/>
                </a:solidFill>
              </a:rPr>
              <a:t> ↔ </a:t>
            </a:r>
            <a:r>
              <a:rPr lang="de-DE" sz="1400" err="1">
                <a:solidFill>
                  <a:schemeClr val="bg1"/>
                </a:solidFill>
              </a:rPr>
              <a:t>sqft_lot</a:t>
            </a:r>
            <a:r>
              <a:rPr lang="de-DE" sz="1400">
                <a:solidFill>
                  <a:schemeClr val="bg1"/>
                </a:solidFill>
              </a:rPr>
              <a:t>  r=0.03 </a:t>
            </a:r>
          </a:p>
          <a:p>
            <a:pPr defTabSz="1219170"/>
            <a:r>
              <a:rPr lang="de-DE" sz="1400">
                <a:solidFill>
                  <a:schemeClr val="bg1"/>
                </a:solidFill>
              </a:rPr>
              <a:t>→ starke Korrelation nicht bestätigt</a:t>
            </a:r>
          </a:p>
        </p:txBody>
      </p:sp>
      <p:sp>
        <p:nvSpPr>
          <p:cNvPr id="50" name="Shape 4">
            <a:extLst>
              <a:ext uri="{FF2B5EF4-FFF2-40B4-BE49-F238E27FC236}">
                <a16:creationId xmlns:a16="http://schemas.microsoft.com/office/drawing/2014/main" id="{2C5E0A4B-8B14-4A74-AA23-D3D0F9304D48}"/>
              </a:ext>
            </a:extLst>
          </p:cNvPr>
          <p:cNvSpPr/>
          <p:nvPr/>
        </p:nvSpPr>
        <p:spPr>
          <a:xfrm>
            <a:off x="7762780" y="4057407"/>
            <a:ext cx="3809967" cy="304503"/>
          </a:xfrm>
          <a:prstGeom prst="rect">
            <a:avLst/>
          </a:prstGeom>
          <a:solidFill>
            <a:srgbClr val="F2F7FA"/>
          </a:solidFill>
          <a:ln/>
        </p:spPr>
        <p:txBody>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de-DE" sz="3200"/>
          </a:p>
        </p:txBody>
      </p:sp>
      <p:sp>
        <p:nvSpPr>
          <p:cNvPr id="51" name="Textfeld 50">
            <a:extLst>
              <a:ext uri="{FF2B5EF4-FFF2-40B4-BE49-F238E27FC236}">
                <a16:creationId xmlns:a16="http://schemas.microsoft.com/office/drawing/2014/main" id="{E9876A63-D112-6E15-5087-386573FABDE2}"/>
              </a:ext>
            </a:extLst>
          </p:cNvPr>
          <p:cNvSpPr txBox="1"/>
          <p:nvPr/>
        </p:nvSpPr>
        <p:spPr>
          <a:xfrm>
            <a:off x="7762777" y="4047664"/>
            <a:ext cx="3809967" cy="307777"/>
          </a:xfrm>
          <a:prstGeom prst="rect">
            <a:avLst/>
          </a:prstGeom>
          <a:noFill/>
          <a:ln>
            <a:solidFill>
              <a:srgbClr val="002060"/>
            </a:solidFill>
          </a:ln>
        </p:spPr>
        <p:txBody>
          <a:bodyPr wrap="square">
            <a:spAutoFit/>
          </a:bodyPr>
          <a:lstStyle/>
          <a:p>
            <a:r>
              <a:rPr lang="de-DE" sz="1400" b="1"/>
              <a:t>Relevanz für unsere Hypothesen:</a:t>
            </a:r>
          </a:p>
        </p:txBody>
      </p:sp>
      <p:sp>
        <p:nvSpPr>
          <p:cNvPr id="52" name="Rechteck 51">
            <a:extLst>
              <a:ext uri="{FF2B5EF4-FFF2-40B4-BE49-F238E27FC236}">
                <a16:creationId xmlns:a16="http://schemas.microsoft.com/office/drawing/2014/main" id="{D41D8334-FBB9-FBC9-D5B4-7CCF82259C56}"/>
              </a:ext>
            </a:extLst>
          </p:cNvPr>
          <p:cNvSpPr/>
          <p:nvPr/>
        </p:nvSpPr>
        <p:spPr>
          <a:xfrm>
            <a:off x="7176603" y="3093617"/>
            <a:ext cx="457395" cy="824018"/>
          </a:xfrm>
          <a:prstGeom prst="rect">
            <a:avLst/>
          </a:prstGeom>
          <a:solidFill>
            <a:srgbClr val="FFFF00">
              <a:alpha val="3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3" name="Rechteck 52">
            <a:extLst>
              <a:ext uri="{FF2B5EF4-FFF2-40B4-BE49-F238E27FC236}">
                <a16:creationId xmlns:a16="http://schemas.microsoft.com/office/drawing/2014/main" id="{F8063168-59E2-57A2-BF73-9CC4079227D3}"/>
              </a:ext>
            </a:extLst>
          </p:cNvPr>
          <p:cNvSpPr/>
          <p:nvPr/>
        </p:nvSpPr>
        <p:spPr>
          <a:xfrm>
            <a:off x="695103" y="5445526"/>
            <a:ext cx="299773" cy="343551"/>
          </a:xfrm>
          <a:prstGeom prst="rect">
            <a:avLst/>
          </a:prstGeom>
          <a:solidFill>
            <a:srgbClr val="FFFF00">
              <a:alpha val="3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4" name="Rechteck 53">
            <a:extLst>
              <a:ext uri="{FF2B5EF4-FFF2-40B4-BE49-F238E27FC236}">
                <a16:creationId xmlns:a16="http://schemas.microsoft.com/office/drawing/2014/main" id="{EBF85432-A590-3374-1E45-4C00DE6345BC}"/>
              </a:ext>
            </a:extLst>
          </p:cNvPr>
          <p:cNvSpPr/>
          <p:nvPr/>
        </p:nvSpPr>
        <p:spPr>
          <a:xfrm>
            <a:off x="7176603" y="4059913"/>
            <a:ext cx="463539" cy="807958"/>
          </a:xfrm>
          <a:prstGeom prst="rect">
            <a:avLst/>
          </a:prstGeom>
          <a:solidFill>
            <a:srgbClr val="FFFF00">
              <a:alpha val="30000"/>
            </a:srgb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Rechteck 54">
            <a:extLst>
              <a:ext uri="{FF2B5EF4-FFF2-40B4-BE49-F238E27FC236}">
                <a16:creationId xmlns:a16="http://schemas.microsoft.com/office/drawing/2014/main" id="{ACD1CA53-C1A1-5121-B1BD-0F972A503809}"/>
              </a:ext>
            </a:extLst>
          </p:cNvPr>
          <p:cNvSpPr/>
          <p:nvPr/>
        </p:nvSpPr>
        <p:spPr>
          <a:xfrm>
            <a:off x="7177984" y="4906538"/>
            <a:ext cx="457394" cy="894829"/>
          </a:xfrm>
          <a:prstGeom prst="rect">
            <a:avLst/>
          </a:prstGeom>
          <a:solidFill>
            <a:srgbClr val="FFFF00">
              <a:alpha val="30000"/>
            </a:srgb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6" name="Rechteck 55">
            <a:extLst>
              <a:ext uri="{FF2B5EF4-FFF2-40B4-BE49-F238E27FC236}">
                <a16:creationId xmlns:a16="http://schemas.microsoft.com/office/drawing/2014/main" id="{202F63AC-23AC-56F8-1725-BC619C2DB5BB}"/>
              </a:ext>
            </a:extLst>
          </p:cNvPr>
          <p:cNvSpPr/>
          <p:nvPr/>
        </p:nvSpPr>
        <p:spPr>
          <a:xfrm>
            <a:off x="7176603" y="5844484"/>
            <a:ext cx="457394" cy="688201"/>
          </a:xfrm>
          <a:prstGeom prst="rect">
            <a:avLst/>
          </a:prstGeom>
          <a:solidFill>
            <a:srgbClr val="FFFF00">
              <a:alpha val="30000"/>
            </a:srgb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Rechteck 56">
            <a:extLst>
              <a:ext uri="{FF2B5EF4-FFF2-40B4-BE49-F238E27FC236}">
                <a16:creationId xmlns:a16="http://schemas.microsoft.com/office/drawing/2014/main" id="{C2C73F97-F74C-AB07-B2B1-4FD326BC1E3A}"/>
              </a:ext>
            </a:extLst>
          </p:cNvPr>
          <p:cNvSpPr/>
          <p:nvPr/>
        </p:nvSpPr>
        <p:spPr>
          <a:xfrm>
            <a:off x="994876" y="5444977"/>
            <a:ext cx="275160" cy="343552"/>
          </a:xfrm>
          <a:prstGeom prst="rect">
            <a:avLst/>
          </a:prstGeom>
          <a:solidFill>
            <a:srgbClr val="FFFF00">
              <a:alpha val="30000"/>
            </a:srgb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797093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abgerundete Ecken 5">
            <a:extLst>
              <a:ext uri="{FF2B5EF4-FFF2-40B4-BE49-F238E27FC236}">
                <a16:creationId xmlns:a16="http://schemas.microsoft.com/office/drawing/2014/main" id="{33464BC1-BA96-84D6-20E6-B4F45C0387B2}"/>
              </a:ext>
            </a:extLst>
          </p:cNvPr>
          <p:cNvSpPr/>
          <p:nvPr/>
        </p:nvSpPr>
        <p:spPr>
          <a:xfrm>
            <a:off x="7039681" y="1585147"/>
            <a:ext cx="4236318" cy="4944020"/>
          </a:xfrm>
          <a:prstGeom prst="roundRect">
            <a:avLst>
              <a:gd name="adj" fmla="val 0"/>
            </a:avLst>
          </a:prstGeom>
          <a:solidFill>
            <a:srgbClr val="21295C"/>
          </a:solidFill>
          <a:ln>
            <a:solidFill>
              <a:srgbClr val="002060"/>
            </a:solidFill>
          </a:ln>
        </p:spPr>
        <p:txBody>
          <a:bodyPr lIns="91440" tIns="45720" rIns="91440" bIns="45720" anchor="t"/>
          <a:lstStyle/>
          <a:p>
            <a:pPr defTabSz="1219170"/>
            <a:endParaRPr lang="de-DE" sz="1400" b="1">
              <a:solidFill>
                <a:schemeClr val="tx2">
                  <a:lumMod val="25000"/>
                  <a:lumOff val="75000"/>
                </a:schemeClr>
              </a:solidFill>
            </a:endParaRPr>
          </a:p>
        </p:txBody>
      </p:sp>
      <p:sp>
        <p:nvSpPr>
          <p:cNvPr id="4" name="Titel 3">
            <a:extLst>
              <a:ext uri="{FF2B5EF4-FFF2-40B4-BE49-F238E27FC236}">
                <a16:creationId xmlns:a16="http://schemas.microsoft.com/office/drawing/2014/main" id="{88385BD6-655B-30C2-CCAA-182564F1A3DF}"/>
              </a:ext>
            </a:extLst>
          </p:cNvPr>
          <p:cNvSpPr>
            <a:spLocks noGrp="1"/>
          </p:cNvSpPr>
          <p:nvPr>
            <p:ph type="title"/>
          </p:nvPr>
        </p:nvSpPr>
        <p:spPr/>
        <p:txBody>
          <a:bodyPr/>
          <a:lstStyle/>
          <a:p>
            <a:r>
              <a:rPr lang="de-DE" err="1"/>
              <a:t>Pairplot</a:t>
            </a:r>
            <a:r>
              <a:rPr lang="de-DE"/>
              <a:t> relevanter Features</a:t>
            </a:r>
          </a:p>
        </p:txBody>
      </p:sp>
      <p:pic>
        <p:nvPicPr>
          <p:cNvPr id="13" name="Grafik 12">
            <a:extLst>
              <a:ext uri="{FF2B5EF4-FFF2-40B4-BE49-F238E27FC236}">
                <a16:creationId xmlns:a16="http://schemas.microsoft.com/office/drawing/2014/main" id="{8E402225-0829-8F1E-0232-BB55AD84AA5B}"/>
              </a:ext>
            </a:extLst>
          </p:cNvPr>
          <p:cNvPicPr>
            <a:picLocks noChangeAspect="1"/>
          </p:cNvPicPr>
          <p:nvPr/>
        </p:nvPicPr>
        <p:blipFill>
          <a:blip r:embed="rId2"/>
          <a:stretch>
            <a:fillRect/>
          </a:stretch>
        </p:blipFill>
        <p:spPr>
          <a:xfrm>
            <a:off x="1553835" y="1585147"/>
            <a:ext cx="5083829" cy="5075583"/>
          </a:xfrm>
          <a:prstGeom prst="rect">
            <a:avLst/>
          </a:prstGeom>
        </p:spPr>
      </p:pic>
      <p:sp>
        <p:nvSpPr>
          <p:cNvPr id="11" name="Rechteck 10">
            <a:extLst>
              <a:ext uri="{FF2B5EF4-FFF2-40B4-BE49-F238E27FC236}">
                <a16:creationId xmlns:a16="http://schemas.microsoft.com/office/drawing/2014/main" id="{F58B1D35-CDCC-173E-D13C-8A86498CBA92}"/>
              </a:ext>
            </a:extLst>
          </p:cNvPr>
          <p:cNvSpPr/>
          <p:nvPr/>
        </p:nvSpPr>
        <p:spPr>
          <a:xfrm>
            <a:off x="3705580" y="2581234"/>
            <a:ext cx="965917" cy="953121"/>
          </a:xfrm>
          <a:prstGeom prst="rect">
            <a:avLst/>
          </a:prstGeom>
          <a:noFill/>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de-DE"/>
          </a:p>
        </p:txBody>
      </p:sp>
      <p:sp>
        <p:nvSpPr>
          <p:cNvPr id="14" name="Rechteck 13">
            <a:extLst>
              <a:ext uri="{FF2B5EF4-FFF2-40B4-BE49-F238E27FC236}">
                <a16:creationId xmlns:a16="http://schemas.microsoft.com/office/drawing/2014/main" id="{89662911-65DF-B30A-25F1-F25C59737129}"/>
              </a:ext>
            </a:extLst>
          </p:cNvPr>
          <p:cNvSpPr/>
          <p:nvPr/>
        </p:nvSpPr>
        <p:spPr>
          <a:xfrm>
            <a:off x="5671747" y="1648041"/>
            <a:ext cx="959050" cy="932157"/>
          </a:xfrm>
          <a:prstGeom prst="rect">
            <a:avLst/>
          </a:prstGeom>
          <a:noFill/>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de-DE"/>
          </a:p>
        </p:txBody>
      </p:sp>
      <p:sp>
        <p:nvSpPr>
          <p:cNvPr id="15" name="Rechteck 14">
            <a:extLst>
              <a:ext uri="{FF2B5EF4-FFF2-40B4-BE49-F238E27FC236}">
                <a16:creationId xmlns:a16="http://schemas.microsoft.com/office/drawing/2014/main" id="{B2B835A1-48FD-8AFB-D762-A80562C9415F}"/>
              </a:ext>
            </a:extLst>
          </p:cNvPr>
          <p:cNvSpPr/>
          <p:nvPr/>
        </p:nvSpPr>
        <p:spPr>
          <a:xfrm>
            <a:off x="4678363" y="1648041"/>
            <a:ext cx="993383" cy="932157"/>
          </a:xfrm>
          <a:prstGeom prst="rect">
            <a:avLst/>
          </a:prstGeom>
          <a:noFill/>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de-DE"/>
          </a:p>
        </p:txBody>
      </p:sp>
      <p:sp>
        <p:nvSpPr>
          <p:cNvPr id="16" name="Rechteck 15">
            <a:extLst>
              <a:ext uri="{FF2B5EF4-FFF2-40B4-BE49-F238E27FC236}">
                <a16:creationId xmlns:a16="http://schemas.microsoft.com/office/drawing/2014/main" id="{74BB7796-E5DF-AC2F-1D35-1F2A5342BDC0}"/>
              </a:ext>
            </a:extLst>
          </p:cNvPr>
          <p:cNvSpPr/>
          <p:nvPr/>
        </p:nvSpPr>
        <p:spPr>
          <a:xfrm>
            <a:off x="2719063" y="1627077"/>
            <a:ext cx="986517" cy="953121"/>
          </a:xfrm>
          <a:prstGeom prst="rect">
            <a:avLst/>
          </a:prstGeom>
          <a:noFill/>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de-DE"/>
          </a:p>
        </p:txBody>
      </p:sp>
      <p:sp>
        <p:nvSpPr>
          <p:cNvPr id="7" name="Text 5">
            <a:extLst>
              <a:ext uri="{FF2B5EF4-FFF2-40B4-BE49-F238E27FC236}">
                <a16:creationId xmlns:a16="http://schemas.microsoft.com/office/drawing/2014/main" id="{2A1BD157-C5AE-ACF2-228F-48A4C652EC3D}"/>
              </a:ext>
            </a:extLst>
          </p:cNvPr>
          <p:cNvSpPr/>
          <p:nvPr/>
        </p:nvSpPr>
        <p:spPr>
          <a:xfrm>
            <a:off x="7548033" y="1915367"/>
            <a:ext cx="3413760" cy="4389120"/>
          </a:xfrm>
          <a:prstGeom prst="rect">
            <a:avLst/>
          </a:prstGeom>
          <a:noFill/>
          <a:ln/>
        </p:spPr>
        <p:txBody>
          <a:bodyPr wrap="square" rtlCol="0" anchor="t"/>
          <a:lstStyle/>
          <a:p>
            <a:r>
              <a:rPr lang="en-US" sz="1600" b="1">
                <a:solidFill>
                  <a:srgbClr val="2EC4B6"/>
                </a:solidFill>
                <a:latin typeface="Calibri" pitchFamily="34" charset="0"/>
                <a:ea typeface="Calibri" pitchFamily="34" charset="-122"/>
                <a:cs typeface="Calibri" pitchFamily="34" charset="-120"/>
              </a:rPr>
              <a:t>Rot markierte Bereiche:</a:t>
            </a:r>
            <a:endParaRPr lang="en-US" sz="1600"/>
          </a:p>
          <a:p>
            <a:endParaRPr lang="en-US" sz="1600"/>
          </a:p>
          <a:p>
            <a:r>
              <a:rPr lang="en-US" sz="1600" b="1">
                <a:solidFill>
                  <a:srgbClr val="FFFFFF"/>
                </a:solidFill>
                <a:latin typeface="Calibri" pitchFamily="34" charset="0"/>
                <a:ea typeface="Calibri" pitchFamily="34" charset="-122"/>
                <a:cs typeface="Calibri" pitchFamily="34" charset="-120"/>
              </a:rPr>
              <a:t>price vs. bedrooms:</a:t>
            </a:r>
            <a:endParaRPr lang="en-US" sz="1600"/>
          </a:p>
          <a:p>
            <a:r>
              <a:rPr lang="en-US" sz="1600">
                <a:solidFill>
                  <a:schemeClr val="tx2">
                    <a:lumMod val="10000"/>
                    <a:lumOff val="90000"/>
                  </a:schemeClr>
                </a:solidFill>
                <a:latin typeface="Calibri" pitchFamily="34" charset="0"/>
                <a:ea typeface="Calibri" pitchFamily="34" charset="-122"/>
                <a:cs typeface="Calibri" pitchFamily="34" charset="-120"/>
              </a:rPr>
              <a:t>Kein linearer Zusammenhang, Preisstreuung bei 3-4 Bedrooms am </a:t>
            </a:r>
            <a:r>
              <a:rPr lang="en-US" sz="1600" err="1">
                <a:solidFill>
                  <a:schemeClr val="tx2">
                    <a:lumMod val="10000"/>
                    <a:lumOff val="90000"/>
                  </a:schemeClr>
                </a:solidFill>
                <a:latin typeface="Calibri" pitchFamily="34" charset="0"/>
                <a:ea typeface="Calibri" pitchFamily="34" charset="-122"/>
                <a:cs typeface="Calibri" pitchFamily="34" charset="-120"/>
              </a:rPr>
              <a:t>größten</a:t>
            </a:r>
            <a:endParaRPr lang="en-US" sz="1600">
              <a:solidFill>
                <a:schemeClr val="tx2">
                  <a:lumMod val="10000"/>
                  <a:lumOff val="90000"/>
                </a:schemeClr>
              </a:solidFill>
            </a:endParaRPr>
          </a:p>
          <a:p>
            <a:endParaRPr lang="en-US" sz="1600"/>
          </a:p>
          <a:p>
            <a:r>
              <a:rPr lang="en-US" sz="1600" b="1">
                <a:solidFill>
                  <a:srgbClr val="FFFFFF"/>
                </a:solidFill>
                <a:latin typeface="Calibri" pitchFamily="34" charset="0"/>
                <a:ea typeface="Calibri" pitchFamily="34" charset="-122"/>
                <a:cs typeface="Calibri" pitchFamily="34" charset="-120"/>
              </a:rPr>
              <a:t>price vs. grade:</a:t>
            </a:r>
            <a:endParaRPr lang="en-US" sz="1600"/>
          </a:p>
          <a:p>
            <a:r>
              <a:rPr lang="en-US" sz="1600">
                <a:solidFill>
                  <a:schemeClr val="tx2">
                    <a:lumMod val="10000"/>
                    <a:lumOff val="90000"/>
                  </a:schemeClr>
                </a:solidFill>
                <a:latin typeface="Calibri" pitchFamily="34" charset="0"/>
                <a:ea typeface="Calibri" pitchFamily="34" charset="-122"/>
                <a:cs typeface="Calibri" pitchFamily="34" charset="-120"/>
              </a:rPr>
              <a:t>Klare positive Tendenz - hoehere Grade = hoehere Preise</a:t>
            </a:r>
            <a:endParaRPr lang="en-US" sz="1600">
              <a:solidFill>
                <a:schemeClr val="tx2">
                  <a:lumMod val="10000"/>
                  <a:lumOff val="90000"/>
                </a:schemeClr>
              </a:solidFill>
            </a:endParaRPr>
          </a:p>
          <a:p>
            <a:endParaRPr lang="en-US" sz="1600"/>
          </a:p>
          <a:p>
            <a:r>
              <a:rPr lang="en-US" sz="1600" b="1">
                <a:solidFill>
                  <a:srgbClr val="FFFFFF"/>
                </a:solidFill>
                <a:latin typeface="Calibri" pitchFamily="34" charset="0"/>
                <a:ea typeface="Calibri" pitchFamily="34" charset="-122"/>
                <a:cs typeface="Calibri" pitchFamily="34" charset="-120"/>
              </a:rPr>
              <a:t>bedrooms vs. sqft_lot:</a:t>
            </a:r>
            <a:endParaRPr lang="en-US" sz="1600"/>
          </a:p>
          <a:p>
            <a:r>
              <a:rPr lang="en-US" sz="1600">
                <a:solidFill>
                  <a:schemeClr val="tx2">
                    <a:lumMod val="10000"/>
                    <a:lumOff val="90000"/>
                  </a:schemeClr>
                </a:solidFill>
                <a:latin typeface="Calibri" pitchFamily="34" charset="0"/>
                <a:ea typeface="Calibri" pitchFamily="34" charset="-122"/>
                <a:cs typeface="Calibri" pitchFamily="34" charset="-120"/>
              </a:rPr>
              <a:t>Kaum Zusammenhang sichtbar, bestaetigt r = 0.03</a:t>
            </a:r>
            <a:endParaRPr lang="en-US" sz="1600">
              <a:solidFill>
                <a:schemeClr val="tx2">
                  <a:lumMod val="10000"/>
                  <a:lumOff val="90000"/>
                </a:schemeClr>
              </a:solidFill>
            </a:endParaRPr>
          </a:p>
        </p:txBody>
      </p:sp>
    </p:spTree>
    <p:extLst>
      <p:ext uri="{BB962C8B-B14F-4D97-AF65-F5344CB8AC3E}">
        <p14:creationId xmlns:p14="http://schemas.microsoft.com/office/powerpoint/2010/main" val="31591450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C138A61-8536-7BAD-DD69-A9EDD3E43FF3}"/>
              </a:ext>
            </a:extLst>
          </p:cNvPr>
          <p:cNvSpPr>
            <a:spLocks noGrp="1"/>
          </p:cNvSpPr>
          <p:nvPr>
            <p:ph type="title"/>
          </p:nvPr>
        </p:nvSpPr>
        <p:spPr/>
        <p:txBody>
          <a:bodyPr/>
          <a:lstStyle/>
          <a:p>
            <a:r>
              <a:rPr lang="de-DE"/>
              <a:t>Referenzen</a:t>
            </a:r>
          </a:p>
        </p:txBody>
      </p:sp>
      <p:sp>
        <p:nvSpPr>
          <p:cNvPr id="3" name="Inhaltsplatzhalter 2">
            <a:extLst>
              <a:ext uri="{FF2B5EF4-FFF2-40B4-BE49-F238E27FC236}">
                <a16:creationId xmlns:a16="http://schemas.microsoft.com/office/drawing/2014/main" id="{BE31D206-B37B-3448-22D6-CAF55E6791D5}"/>
              </a:ext>
            </a:extLst>
          </p:cNvPr>
          <p:cNvSpPr>
            <a:spLocks noGrp="1"/>
          </p:cNvSpPr>
          <p:nvPr>
            <p:ph idx="1"/>
          </p:nvPr>
        </p:nvSpPr>
        <p:spPr/>
        <p:txBody>
          <a:bodyPr vert="horz" lIns="91440" tIns="45720" rIns="91440" bIns="45720" rtlCol="0" anchor="t">
            <a:normAutofit/>
          </a:bodyPr>
          <a:lstStyle/>
          <a:p>
            <a:pPr marL="0" indent="0">
              <a:buNone/>
            </a:pPr>
            <a:r>
              <a:rPr lang="de-DE" sz="1800" b="1">
                <a:latin typeface="Aptos"/>
                <a:cs typeface="Arial"/>
              </a:rPr>
              <a:t>Seattle Public Schools Sites 2023-2024</a:t>
            </a:r>
            <a:endParaRPr lang="de-DE" sz="1800">
              <a:latin typeface="Aptos"/>
            </a:endParaRPr>
          </a:p>
          <a:p>
            <a:pPr marL="0" indent="0">
              <a:buNone/>
            </a:pPr>
            <a:r>
              <a:rPr lang="de-DE" sz="1800">
                <a:solidFill>
                  <a:srgbClr val="607D8B"/>
                </a:solidFill>
                <a:latin typeface="Aptos"/>
                <a:ea typeface="Open Sans"/>
                <a:cs typeface="Open Sans"/>
                <a:hlinkClick r:id="rId2"/>
              </a:rPr>
              <a:t>https://data.seattle.gov/dataset/Seattle-Public-Schools-Sites-2023-2024/j4ay-9bja/about_data</a:t>
            </a:r>
            <a:endParaRPr lang="de-DE" sz="1800">
              <a:latin typeface="Aptos"/>
            </a:endParaRPr>
          </a:p>
          <a:p>
            <a:pPr marL="0" indent="0">
              <a:buNone/>
            </a:pPr>
            <a:r>
              <a:rPr lang="de-DE" sz="1800">
                <a:solidFill>
                  <a:srgbClr val="607D8B"/>
                </a:solidFill>
                <a:latin typeface="Aptos"/>
                <a:ea typeface="Open Sans"/>
                <a:cs typeface="Open Sans"/>
                <a:hlinkClick r:id="rId3"/>
              </a:rPr>
              <a:t>https://data-seattlecitygis.opendata.arcgis.com/datasets/seattle-public-schools-sites-2023-2024/about</a:t>
            </a:r>
            <a:endParaRPr lang="de-DE" sz="1800">
              <a:latin typeface="Aptos"/>
            </a:endParaRPr>
          </a:p>
          <a:p>
            <a:pPr marL="0" indent="0">
              <a:buNone/>
            </a:pPr>
            <a:r>
              <a:rPr lang="de-DE" sz="1800" b="1">
                <a:latin typeface="Aptos"/>
                <a:cs typeface="Arial"/>
              </a:rPr>
              <a:t>Park </a:t>
            </a:r>
            <a:r>
              <a:rPr lang="de-DE" sz="1800" b="1" err="1">
                <a:latin typeface="Aptos"/>
                <a:cs typeface="Arial"/>
              </a:rPr>
              <a:t>Boundaries</a:t>
            </a:r>
            <a:endParaRPr lang="de-DE" sz="1800">
              <a:latin typeface="Aptos"/>
            </a:endParaRPr>
          </a:p>
          <a:p>
            <a:pPr marL="0" indent="0">
              <a:buNone/>
            </a:pPr>
            <a:r>
              <a:rPr lang="de-DE" sz="1800">
                <a:solidFill>
                  <a:srgbClr val="607D8B"/>
                </a:solidFill>
                <a:latin typeface="Aptos"/>
                <a:ea typeface="Open Sans"/>
                <a:cs typeface="Open Sans"/>
                <a:hlinkClick r:id="rId4"/>
              </a:rPr>
              <a:t>https://data-seattlecitygis.opendata.arcgis.com/maps/9baab63b52df417a9b2a168e3f288b1b/about</a:t>
            </a:r>
            <a:endParaRPr lang="de-DE" sz="1800">
              <a:latin typeface="Aptos"/>
            </a:endParaRPr>
          </a:p>
          <a:p>
            <a:pPr marL="0" indent="0">
              <a:buNone/>
            </a:pPr>
            <a:r>
              <a:rPr lang="de-DE" sz="1800" b="1">
                <a:latin typeface="Aptos"/>
                <a:cs typeface="Arial"/>
              </a:rPr>
              <a:t>OCCUPATION BY MEDIAN EARNINGS</a:t>
            </a:r>
            <a:endParaRPr lang="de-DE" sz="1800">
              <a:latin typeface="Aptos"/>
            </a:endParaRPr>
          </a:p>
          <a:p>
            <a:pPr marL="0" indent="0">
              <a:buNone/>
            </a:pPr>
            <a:r>
              <a:rPr lang="de-DE" sz="1800">
                <a:solidFill>
                  <a:srgbClr val="607D8B"/>
                </a:solidFill>
                <a:latin typeface="Aptos"/>
                <a:ea typeface="Open Sans"/>
                <a:cs typeface="Open Sans"/>
                <a:hlinkClick r:id="rId5"/>
              </a:rPr>
              <a:t>https://data-seattlecitygis.opendata.arcgis.com/datasets/cfa4fba5776f4ade891e3e477dda638a_0/explore</a:t>
            </a:r>
            <a:endParaRPr lang="de-DE" sz="1800">
              <a:latin typeface="Aptos"/>
            </a:endParaRPr>
          </a:p>
          <a:p>
            <a:pPr marL="0" indent="0">
              <a:buNone/>
            </a:pPr>
            <a:r>
              <a:rPr lang="de-DE" sz="1800" b="1">
                <a:latin typeface="Aptos"/>
                <a:cs typeface="Arial"/>
              </a:rPr>
              <a:t>Community Centers</a:t>
            </a:r>
            <a:endParaRPr lang="de-DE" sz="1800">
              <a:latin typeface="Aptos"/>
            </a:endParaRPr>
          </a:p>
          <a:p>
            <a:pPr marL="0" indent="0">
              <a:buNone/>
            </a:pPr>
            <a:r>
              <a:rPr lang="de-DE" sz="1800">
                <a:latin typeface="Aptos"/>
                <a:ea typeface="Open Sans"/>
                <a:cs typeface="Open Sans"/>
                <a:hlinkClick r:id="rId6"/>
              </a:rPr>
              <a:t>https://data-seattlecitygis.opendata.arcgis.com/datasets/0a0850f5dec54679b970c4dede080d6b_0/explore?location=47.619138%2C-122.334237%2C11</a:t>
            </a:r>
            <a:endParaRPr lang="de-DE" sz="1800">
              <a:latin typeface="Aptos"/>
            </a:endParaRPr>
          </a:p>
          <a:p>
            <a:endParaRPr lang="de-DE"/>
          </a:p>
        </p:txBody>
      </p:sp>
    </p:spTree>
    <p:extLst>
      <p:ext uri="{BB962C8B-B14F-4D97-AF65-F5344CB8AC3E}">
        <p14:creationId xmlns:p14="http://schemas.microsoft.com/office/powerpoint/2010/main" val="1495253550"/>
      </p:ext>
    </p:extLst>
  </p:cSld>
  <p:clrMapOvr>
    <a:masterClrMapping/>
  </p:clrMapOvr>
</p:sld>
</file>

<file path=ppt/theme/theme1.xml><?xml version="1.0" encoding="utf-8"?>
<a:theme xmlns:a="http://schemas.openxmlformats.org/drawingml/2006/main" name="Lariss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arissa">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18</Slides>
  <Notes>6</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Larissa</vt:lpstr>
      <vt:lpstr>DDM Meilenstein 2</vt:lpstr>
      <vt:lpstr>Hypothesen</vt:lpstr>
      <vt:lpstr>PowerPoint Presentation</vt:lpstr>
      <vt:lpstr>Stakeholder</vt:lpstr>
      <vt:lpstr>Quantity</vt:lpstr>
      <vt:lpstr>Quality</vt:lpstr>
      <vt:lpstr>Quality</vt:lpstr>
      <vt:lpstr>Data Quality Dashboard</vt:lpstr>
      <vt:lpstr>Anomalien</vt:lpstr>
      <vt:lpstr>Anomalien</vt:lpstr>
      <vt:lpstr>Anomalien</vt:lpstr>
      <vt:lpstr>Anomalien</vt:lpstr>
      <vt:lpstr>Anomalien</vt:lpstr>
      <vt:lpstr>Histogramme und Boxplots relevanter Features</vt:lpstr>
      <vt:lpstr>Histogramme und Boxplots relevanter Features</vt:lpstr>
      <vt:lpstr>Korrelations-Matrix</vt:lpstr>
      <vt:lpstr>Pairplot relevanter Features</vt:lpstr>
      <vt:lpstr>Referenzen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cp:revision>
  <dcterms:created xsi:type="dcterms:W3CDTF">2026-05-23T08:09:55Z</dcterms:created>
  <dcterms:modified xsi:type="dcterms:W3CDTF">2026-05-26T10:23:20Z</dcterms:modified>
</cp:coreProperties>
</file>