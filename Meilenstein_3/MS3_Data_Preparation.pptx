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sldIdLst>
    <p:sldId id="257" r:id="rId2"/>
    <p:sldId id="271" r:id="rId3"/>
    <p:sldId id="272" r:id="rId4"/>
    <p:sldId id="285" r:id="rId5"/>
    <p:sldId id="273" r:id="rId6"/>
    <p:sldId id="274" r:id="rId7"/>
    <p:sldId id="275" r:id="rId8"/>
    <p:sldId id="287" r:id="rId9"/>
    <p:sldId id="276" r:id="rId10"/>
    <p:sldId id="277" r:id="rId11"/>
    <p:sldId id="278" r:id="rId12"/>
    <p:sldId id="263" r:id="rId13"/>
    <p:sldId id="286" r:id="rId14"/>
    <p:sldId id="279" r:id="rId15"/>
    <p:sldId id="280" r:id="rId16"/>
    <p:sldId id="281" r:id="rId17"/>
    <p:sldId id="268" r:id="rId18"/>
    <p:sldId id="269" r:id="rId19"/>
    <p:sldId id="282" r:id="rId20"/>
    <p:sldId id="2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ufgabenstellung und Rest" id="{8557A43F-0555-416C-B12F-1CE1AEC694A0}">
          <p14:sldIdLst>
            <p14:sldId id="257"/>
            <p14:sldId id="271"/>
            <p14:sldId id="272"/>
            <p14:sldId id="285"/>
            <p14:sldId id="273"/>
            <p14:sldId id="274"/>
            <p14:sldId id="275"/>
            <p14:sldId id="287"/>
            <p14:sldId id="276"/>
            <p14:sldId id="277"/>
            <p14:sldId id="278"/>
            <p14:sldId id="263"/>
            <p14:sldId id="286"/>
            <p14:sldId id="279"/>
            <p14:sldId id="280"/>
            <p14:sldId id="281"/>
            <p14:sldId id="268"/>
            <p14:sldId id="269"/>
            <p14:sldId id="282"/>
            <p14:sldId id="28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1277CF-1967-E720-8AEF-463883558506}" v="1" dt="2026-07-05T15:04:01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5E17A-51AF-4DB0-9164-0F1D64FC47E7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2B10B-78D9-48C1-9ACE-767B3AACD8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4634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EF30-CCB2-FE1C-5F16-55EDAF04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B82C7-52AA-9F9B-15D3-9906C243F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E6696-D1AB-8CFE-EC61-66E7AB02F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577D3-910A-051D-CF90-0DC30047BB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23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01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65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385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468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765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09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23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93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164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426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217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25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38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ECD1A6-02A4-FD2E-979A-5AAE41845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78AE9D52-937E-CD67-80FD-FA3715F206B3}"/>
              </a:ext>
            </a:extLst>
          </p:cNvPr>
          <p:cNvSpPr txBox="1"/>
          <p:nvPr/>
        </p:nvSpPr>
        <p:spPr>
          <a:xfrm>
            <a:off x="1188357" y="816428"/>
            <a:ext cx="898978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für den Meilenstein nächste Woche bereiten Sie bitte Folgendes vor:</a:t>
            </a:r>
            <a:br>
              <a:rPr lang="en-US"/>
            </a:br>
            <a:r>
              <a:rPr lang="en-US"/>
              <a:t>1) Grenzen Sie die von Ihnen gewählte Fragestellung etwas weiter ein oder stellen zugeordnete Fragen / Hypothesen</a:t>
            </a:r>
            <a:br>
              <a:rPr lang="en-US"/>
            </a:br>
            <a:r>
              <a:rPr lang="en-US"/>
              <a:t>2) Wählen Sie aus den vorgegebenen Features / Attributen aus, welche Sie weiterverarbeiten wollen</a:t>
            </a:r>
            <a:r>
              <a:rPr lang="en-US">
                <a:solidFill>
                  <a:srgbClr val="00B050"/>
                </a:solidFill>
              </a:rPr>
              <a:t> (x)</a:t>
            </a:r>
            <a:br>
              <a:rPr lang="en-US"/>
            </a:br>
            <a:r>
              <a:rPr lang="en-US"/>
              <a:t>3) Bilden Sie ggf. neue Attribute aus den gegebenen Daten oder fügen Sie neue Attribute durch weitere Datensätze hinzu </a:t>
            </a:r>
            <a:r>
              <a:rPr lang="en-US">
                <a:solidFill>
                  <a:srgbClr val="00B050"/>
                </a:solidFill>
              </a:rPr>
              <a:t>(x)</a:t>
            </a:r>
            <a:br>
              <a:rPr lang="en-US"/>
            </a:br>
            <a:r>
              <a:rPr lang="en-US"/>
              <a:t>4) Für alle gewählten und neuen Attribute schauen Sie sich die Verteilung der Werte an und überlegen Sie, ob Sie diese so nutzen können oder transformieren müssen </a:t>
            </a:r>
            <a:r>
              <a:rPr lang="en-US">
                <a:solidFill>
                  <a:srgbClr val="00B050"/>
                </a:solidFill>
              </a:rPr>
              <a:t>(x)</a:t>
            </a:r>
            <a:br>
              <a:rPr lang="en-US"/>
            </a:br>
            <a:r>
              <a:rPr lang="en-US"/>
              <a:t>5) Wo Sie Transformationen für sinnvoll halten, wenden Sie diese an </a:t>
            </a:r>
            <a:r>
              <a:rPr lang="en-US">
                <a:solidFill>
                  <a:srgbClr val="00B050"/>
                </a:solidFill>
              </a:rPr>
              <a:t>(x)</a:t>
            </a:r>
            <a:br>
              <a:rPr lang="en-US"/>
            </a:br>
            <a:r>
              <a:rPr lang="en-US"/>
              <a:t>6) Analysieren Sie Ihre gewählten und transformierten Daten nochmal (wie bei der EDA) bezüglich Ihrer Fragen / Hypothesen, vor </a:t>
            </a:r>
            <a:r>
              <a:rPr lang="en-US" err="1"/>
              <a:t>allem</a:t>
            </a:r>
            <a:r>
              <a:rPr lang="en-US"/>
              <a:t> </a:t>
            </a:r>
            <a:r>
              <a:rPr lang="en-US" err="1"/>
              <a:t>durch</a:t>
            </a:r>
            <a:r>
              <a:rPr lang="en-US"/>
              <a:t> </a:t>
            </a:r>
            <a:r>
              <a:rPr lang="en-US" err="1"/>
              <a:t>Visualisierungen</a:t>
            </a:r>
            <a:r>
              <a:rPr lang="en-US"/>
              <a:t> </a:t>
            </a:r>
            <a:r>
              <a:rPr lang="en-US">
                <a:solidFill>
                  <a:srgbClr val="00B050"/>
                </a:solidFill>
              </a:rPr>
              <a:t>(x)</a:t>
            </a:r>
            <a:br>
              <a:rPr lang="en-US"/>
            </a:br>
            <a:br>
              <a:rPr lang="en-US"/>
            </a:br>
            <a:r>
              <a:rPr lang="en-US"/>
              <a:t>Ziel </a:t>
            </a:r>
            <a:r>
              <a:rPr lang="en-US" err="1"/>
              <a:t>ist</a:t>
            </a:r>
            <a:r>
              <a:rPr lang="en-US"/>
              <a:t>, </a:t>
            </a:r>
            <a:r>
              <a:rPr lang="en-US" err="1"/>
              <a:t>dass</a:t>
            </a:r>
            <a:r>
              <a:rPr lang="en-US"/>
              <a:t> Sie </a:t>
            </a:r>
            <a:r>
              <a:rPr lang="en-US" err="1"/>
              <a:t>nach</a:t>
            </a:r>
            <a:r>
              <a:rPr lang="en-US"/>
              <a:t> dem </a:t>
            </a:r>
            <a:r>
              <a:rPr lang="en-US" err="1"/>
              <a:t>Meilenstein</a:t>
            </a:r>
            <a:r>
              <a:rPr lang="en-US"/>
              <a:t> </a:t>
            </a:r>
            <a:r>
              <a:rPr lang="en-US" err="1"/>
              <a:t>einen</a:t>
            </a:r>
            <a:r>
              <a:rPr lang="en-US"/>
              <a:t> </a:t>
            </a:r>
            <a:r>
              <a:rPr lang="en-US" err="1"/>
              <a:t>Datensatz</a:t>
            </a:r>
            <a:r>
              <a:rPr lang="en-US"/>
              <a:t> </a:t>
            </a:r>
            <a:r>
              <a:rPr lang="en-US" err="1"/>
              <a:t>haben</a:t>
            </a:r>
            <a:r>
              <a:rPr lang="en-US"/>
              <a:t>, der </a:t>
            </a:r>
            <a:r>
              <a:rPr lang="en-US" err="1"/>
              <a:t>direkt</a:t>
            </a:r>
            <a:r>
              <a:rPr lang="en-US"/>
              <a:t> in der </a:t>
            </a:r>
            <a:r>
              <a:rPr lang="en-US" err="1"/>
              <a:t>Modellierung</a:t>
            </a:r>
            <a:r>
              <a:rPr lang="en-US"/>
              <a:t> </a:t>
            </a:r>
            <a:r>
              <a:rPr lang="en-US" err="1"/>
              <a:t>genutzt</a:t>
            </a:r>
            <a:r>
              <a:rPr lang="en-US"/>
              <a:t> </a:t>
            </a:r>
            <a:r>
              <a:rPr lang="en-US" err="1"/>
              <a:t>werden</a:t>
            </a:r>
            <a:r>
              <a:rPr lang="en-US"/>
              <a:t> </a:t>
            </a:r>
            <a:r>
              <a:rPr lang="en-US" err="1"/>
              <a:t>kann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 err="1"/>
              <a:t>Idealerweise</a:t>
            </a:r>
            <a:r>
              <a:rPr lang="en-US"/>
              <a:t> </a:t>
            </a:r>
            <a:r>
              <a:rPr lang="en-US" err="1"/>
              <a:t>präsentieren</a:t>
            </a:r>
            <a:r>
              <a:rPr lang="en-US"/>
              <a:t> Sie </a:t>
            </a:r>
            <a:r>
              <a:rPr lang="en-US" err="1"/>
              <a:t>uns</a:t>
            </a:r>
            <a:r>
              <a:rPr lang="en-US"/>
              <a:t> </a:t>
            </a:r>
            <a:r>
              <a:rPr lang="en-US" err="1"/>
              <a:t>Ihre</a:t>
            </a:r>
            <a:r>
              <a:rPr lang="en-US"/>
              <a:t> Arbeit </a:t>
            </a:r>
            <a:r>
              <a:rPr lang="en-US" err="1"/>
              <a:t>zum</a:t>
            </a:r>
            <a:r>
              <a:rPr lang="en-US"/>
              <a:t> </a:t>
            </a:r>
            <a:r>
              <a:rPr lang="en-US" err="1"/>
              <a:t>Meilenstein</a:t>
            </a:r>
            <a:r>
              <a:rPr lang="en-US"/>
              <a:t> in </a:t>
            </a:r>
            <a:r>
              <a:rPr lang="en-US" err="1"/>
              <a:t>einer</a:t>
            </a:r>
            <a:r>
              <a:rPr lang="en-US"/>
              <a:t> PowerPoint-</a:t>
            </a:r>
            <a:r>
              <a:rPr lang="en-US" err="1"/>
              <a:t>Präsentation</a:t>
            </a:r>
            <a:r>
              <a:rPr lang="en-US"/>
              <a:t>. </a:t>
            </a:r>
            <a:r>
              <a:rPr lang="en-US" err="1"/>
              <a:t>Beantworten</a:t>
            </a:r>
            <a:r>
              <a:rPr lang="en-US"/>
              <a:t> Sie </a:t>
            </a:r>
            <a:r>
              <a:rPr lang="en-US" err="1"/>
              <a:t>dabei</a:t>
            </a:r>
            <a:r>
              <a:rPr lang="en-US"/>
              <a:t> </a:t>
            </a:r>
            <a:r>
              <a:rPr lang="en-US" err="1"/>
              <a:t>gern</a:t>
            </a:r>
            <a:r>
              <a:rPr lang="en-US"/>
              <a:t> </a:t>
            </a:r>
            <a:r>
              <a:rPr lang="en-US" err="1"/>
              <a:t>auch</a:t>
            </a:r>
            <a:r>
              <a:rPr lang="en-US"/>
              <a:t> die </a:t>
            </a:r>
            <a:r>
              <a:rPr lang="en-US" err="1"/>
              <a:t>Fragen</a:t>
            </a:r>
            <a:r>
              <a:rPr lang="en-US"/>
              <a:t> </a:t>
            </a:r>
            <a:r>
              <a:rPr lang="en-US" err="1"/>
              <a:t>aus</a:t>
            </a:r>
            <a:r>
              <a:rPr lang="en-US"/>
              <a:t> der Excel-</a:t>
            </a:r>
            <a:r>
              <a:rPr lang="en-US" err="1"/>
              <a:t>Datei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Data Preparation. </a:t>
            </a:r>
          </a:p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8419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· MEILENSTEIN </a:t>
            </a:r>
            <a:r>
              <a:rPr lang="en-US" b="1" kern="0" spc="3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für die</a:t>
            </a:r>
            <a:endParaRPr lang="en-US" sz="440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err="1">
                <a:latin typeface="Cambria" pitchFamily="34" charset="0"/>
                <a:ea typeface="Cambria" pitchFamily="34" charset="-122"/>
                <a:cs typeface="Cambria" pitchFamily="34" charset="-120"/>
              </a:rPr>
              <a:t>Käufersegmentierung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822960" y="39547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 House Sales Dataset.</a:t>
            </a:r>
            <a:b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Vorbereitung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Zuordnung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</a:t>
            </a: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Immobilien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Käufer-</a:t>
            </a: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Zielgruppen</a:t>
            </a:r>
            <a:endParaRPr lang="en-US" sz="16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2743200" cy="0"/>
          </a:xfrm>
          <a:prstGeom prst="line">
            <a:avLst/>
          </a:prstGeom>
          <a:noFill/>
          <a:ln w="12700">
            <a:solidFill>
              <a:srgbClr val="4F6FA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Gruppe: </a:t>
            </a:r>
            <a:r>
              <a:rPr lang="en-US" sz="1300">
                <a:latin typeface="Calibri" pitchFamily="34" charset="0"/>
                <a:ea typeface="Calibri" pitchFamily="34" charset="-122"/>
                <a:cs typeface="Calibri" pitchFamily="34" charset="-120"/>
              </a:rPr>
              <a:t>Joshua Schulz-Andres · Marian Kästner · David Schneider 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606040" y="2125980"/>
            <a:ext cx="164592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2770632" y="1691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2770632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828032" y="2125980"/>
            <a:ext cx="164592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992624" y="1691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992624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7050024" y="2125980"/>
            <a:ext cx="164592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7214616" y="1691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214616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(Clustering)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9272016" y="2125980"/>
            <a:ext cx="164592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9436608" y="16916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9436608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 dieser Präsentation – Data Preparation im Detail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777240" y="3566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/>
          </a:p>
        </p:txBody>
      </p:sp>
      <p:sp>
        <p:nvSpPr>
          <p:cNvPr id="21" name="Text 19"/>
          <p:cNvSpPr/>
          <p:nvPr/>
        </p:nvSpPr>
        <p:spPr>
          <a:xfrm>
            <a:off x="192024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700"/>
          </a:p>
        </p:txBody>
      </p:sp>
      <p:sp>
        <p:nvSpPr>
          <p:cNvPr id="22" name="Text 20"/>
          <p:cNvSpPr/>
          <p:nvPr/>
        </p:nvSpPr>
        <p:spPr>
          <a:xfrm>
            <a:off x="192024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Werte, Duplikate, Wiederverkäufe – inkl. Code &amp; Wirkung</a:t>
            </a:r>
            <a:endParaRPr lang="en-US" sz="1250"/>
          </a:p>
        </p:txBody>
      </p:sp>
      <p:sp>
        <p:nvSpPr>
          <p:cNvPr id="23" name="Shape 21"/>
          <p:cNvSpPr/>
          <p:nvPr/>
        </p:nvSpPr>
        <p:spPr>
          <a:xfrm>
            <a:off x="6400800" y="33832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6629400" y="3566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/>
          </a:p>
        </p:txBody>
      </p:sp>
      <p:sp>
        <p:nvSpPr>
          <p:cNvPr id="25" name="Text 23"/>
          <p:cNvSpPr/>
          <p:nvPr/>
        </p:nvSpPr>
        <p:spPr>
          <a:xfrm>
            <a:off x="777240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700"/>
          </a:p>
        </p:txBody>
      </p:sp>
      <p:sp>
        <p:nvSpPr>
          <p:cNvPr id="26" name="Text 24"/>
          <p:cNvSpPr/>
          <p:nvPr/>
        </p:nvSpPr>
        <p:spPr>
          <a:xfrm>
            <a:off x="777240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Neue, aussagekräftige Attribute aus den Rohdaten ableiten</a:t>
            </a:r>
            <a:endParaRPr lang="en-US" sz="125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777240" y="5212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/>
          </a:p>
        </p:txBody>
      </p:sp>
      <p:sp>
        <p:nvSpPr>
          <p:cNvPr id="29" name="Text 27"/>
          <p:cNvSpPr/>
          <p:nvPr/>
        </p:nvSpPr>
        <p:spPr>
          <a:xfrm>
            <a:off x="1920240" y="5212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Feature-Reduktion</a:t>
            </a:r>
            <a:endParaRPr lang="en-US" sz="1700"/>
          </a:p>
        </p:txBody>
      </p:sp>
      <p:sp>
        <p:nvSpPr>
          <p:cNvPr id="30" name="Text 28"/>
          <p:cNvSpPr/>
          <p:nvPr/>
        </p:nvSpPr>
        <p:spPr>
          <a:xfrm>
            <a:off x="1920240" y="5715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Auswahl &amp; Korrelationen der Segmentierungs-Features</a:t>
            </a:r>
            <a:endParaRPr lang="en-US" sz="1250"/>
          </a:p>
        </p:txBody>
      </p:sp>
      <p:sp>
        <p:nvSpPr>
          <p:cNvPr id="31" name="Shape 29"/>
          <p:cNvSpPr/>
          <p:nvPr/>
        </p:nvSpPr>
        <p:spPr>
          <a:xfrm>
            <a:off x="6400800" y="5029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6629400" y="5212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/>
          </a:p>
        </p:txBody>
      </p:sp>
      <p:sp>
        <p:nvSpPr>
          <p:cNvPr id="33" name="Text 31"/>
          <p:cNvSpPr/>
          <p:nvPr/>
        </p:nvSpPr>
        <p:spPr>
          <a:xfrm>
            <a:off x="7772400" y="5212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Verteilungen &amp; Transformationen</a:t>
            </a:r>
            <a:endParaRPr lang="en-US" sz="1700"/>
          </a:p>
        </p:txBody>
      </p:sp>
      <p:sp>
        <p:nvSpPr>
          <p:cNvPr id="34" name="Text 32"/>
          <p:cNvSpPr/>
          <p:nvPr/>
        </p:nvSpPr>
        <p:spPr>
          <a:xfrm>
            <a:off x="7772400" y="5715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Schiefe erkennen, Log-Transformation, Standardisierung</a:t>
            </a:r>
            <a:endParaRPr lang="en-US" sz="125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F386D20D-DE56-17B5-3B10-0317EF8F5031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</a:t>
            </a:r>
            <a:r>
              <a:rPr lang="en-US" sz="9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 |  </a:t>
            </a:r>
            <a:r>
              <a:rPr lang="en-US" sz="9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Käufersegmentierung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King County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FRAGESTELLUNG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Eingegrenzte Fragestellung &amp; Hypothesen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9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lassen sich Immobilien im King County Datensatz mittels Clustering zu sinnvollen Käufer-Zielgruppen zusammenfassen – und welche Eigenschaften charakterisieren diese Gruppen?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9" name="Image 0" descr="icons/tre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3147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9319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– Familien</a:t>
            </a:r>
            <a:endParaRPr lang="en-US" sz="1800"/>
          </a:p>
        </p:txBody>
      </p:sp>
      <p:sp>
        <p:nvSpPr>
          <p:cNvPr id="11" name="Text 8"/>
          <p:cNvSpPr/>
          <p:nvPr/>
        </p:nvSpPr>
        <p:spPr>
          <a:xfrm>
            <a:off x="822960" y="443484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Größere Wohnflächen, mehr Schlafzimmer und mehr Gartenfläche (yard_space_approx) bilden ein eigenständiges Cluster „Familienkäufer“.</a:t>
            </a:r>
            <a:endParaRPr lang="en-US" sz="1300"/>
          </a:p>
        </p:txBody>
      </p:sp>
      <p:sp>
        <p:nvSpPr>
          <p:cNvPr id="12" name="Shape 9"/>
          <p:cNvSpPr/>
          <p:nvPr/>
        </p:nvSpPr>
        <p:spPr>
          <a:xfrm>
            <a:off x="4288536" y="288036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4562856" y="31546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4" name="Image 1" descr="icons/m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6" y="33147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62856" y="39319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– Singles / Urban</a:t>
            </a:r>
            <a:endParaRPr lang="en-US" sz="1800"/>
          </a:p>
        </p:txBody>
      </p:sp>
      <p:sp>
        <p:nvSpPr>
          <p:cNvPr id="16" name="Text 12"/>
          <p:cNvSpPr/>
          <p:nvPr/>
        </p:nvSpPr>
        <p:spPr>
          <a:xfrm>
            <a:off x="4562856" y="443484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Geringe Distanz zum Stadtzentrum (distance_to_center) und kompakte Wohnflächen bilden ein Cluster „Urbane Singles“.</a:t>
            </a:r>
            <a:endParaRPr lang="en-US" sz="1300"/>
          </a:p>
        </p:txBody>
      </p:sp>
      <p:sp>
        <p:nvSpPr>
          <p:cNvPr id="17" name="Shape 13"/>
          <p:cNvSpPr/>
          <p:nvPr/>
        </p:nvSpPr>
        <p:spPr>
          <a:xfrm>
            <a:off x="8028432" y="288036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4"/>
          <p:cNvSpPr/>
          <p:nvPr/>
        </p:nvSpPr>
        <p:spPr>
          <a:xfrm>
            <a:off x="8302752" y="31546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2" descr="icons/gem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2" y="33147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39319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 – Luxuskäufer</a:t>
            </a:r>
            <a:endParaRPr lang="en-US" sz="1800"/>
          </a:p>
        </p:txBody>
      </p:sp>
      <p:sp>
        <p:nvSpPr>
          <p:cNvPr id="21" name="Text 16"/>
          <p:cNvSpPr/>
          <p:nvPr/>
        </p:nvSpPr>
        <p:spPr>
          <a:xfrm>
            <a:off x="8302752" y="443484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Hoher luxury_score (Zustand, Aussicht, Wasserlage) und hoher Preis bilden ein eigenständiges, klar abgrenzbares Premium-Cluster.</a:t>
            </a:r>
            <a:endParaRPr lang="en-US" sz="130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</a:t>
            </a:r>
            <a:r>
              <a:rPr lang="en-US" sz="9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 |  </a:t>
            </a:r>
            <a:r>
              <a:rPr lang="en-US" sz="9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Käufersegmentierung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King County</a:t>
            </a:r>
            <a:endParaRPr lang="en-US" sz="900"/>
          </a:p>
        </p:txBody>
      </p:sp>
      <p:sp>
        <p:nvSpPr>
          <p:cNvPr id="23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CLEANING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Fehlerhafte Werte &amp; Ausreißer behandeln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5" name="Image 0" descr="icons/war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7452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r>
              <a:rPr lang="en-US" sz="1600" b="1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Badezimmer</a:t>
            </a: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600" b="1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Schlafzimmer</a:t>
            </a: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Datensätze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bathrooms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bedrooms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wurden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physikalisch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unplausibel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Wohnimmobilien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4288536" y="1691640"/>
            <a:ext cx="3593592" cy="201168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9" name="Image 1" descr="icons/war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9202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74336" y="187452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</a:t>
            </a:r>
            <a:r>
              <a:rPr lang="en-US" sz="1600" b="1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Schlafzimmer</a:t>
            </a:r>
            <a:endParaRPr lang="en-US" sz="1600"/>
          </a:p>
        </p:txBody>
      </p:sp>
      <p:sp>
        <p:nvSpPr>
          <p:cNvPr id="11" name="Text 7"/>
          <p:cNvSpPr/>
          <p:nvPr/>
        </p:nvSpPr>
        <p:spPr>
          <a:xfrm>
            <a:off x="4517136" y="2423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Offensichtlicher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Tippfehler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Plausibilitätsabgleich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sqft_living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weiteren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Variablen</a:t>
            </a:r>
            <a:endParaRPr lang="en-US" sz="1400"/>
          </a:p>
        </p:txBody>
      </p:sp>
      <p:sp>
        <p:nvSpPr>
          <p:cNvPr id="12" name="Shape 8"/>
          <p:cNvSpPr/>
          <p:nvPr/>
        </p:nvSpPr>
        <p:spPr>
          <a:xfrm>
            <a:off x="8028432" y="1691640"/>
            <a:ext cx="3593592" cy="201168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13" name="Image 2" descr="icons/war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9202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14232" y="187452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Duplikate</a:t>
            </a:r>
            <a:endParaRPr lang="en-US" sz="1600" b="1">
              <a:solidFill>
                <a:srgbClr val="2129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257032" y="2423160"/>
            <a:ext cx="3136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identische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Zeilen (</a:t>
            </a:r>
            <a:r>
              <a:rPr lang="en-US" sz="14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</a:t>
            </a: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id/date)</a:t>
            </a:r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17" name="Image 3" descr="icons/histor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062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Wiederverkäufe</a:t>
            </a:r>
            <a:endParaRPr lang="en-US" sz="1800"/>
          </a:p>
        </p:txBody>
      </p:sp>
      <p:sp>
        <p:nvSpPr>
          <p:cNvPr id="19" name="Text 13"/>
          <p:cNvSpPr/>
          <p:nvPr/>
        </p:nvSpPr>
        <p:spPr>
          <a:xfrm>
            <a:off x="1463040" y="461772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Mehrfachverkäufe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derselben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 (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Wiederverkauf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innerhalb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Zeitraums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b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id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jüngste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Verkauf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behalten</a:t>
            </a:r>
            <a:endParaRPr lang="en-US" sz="140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Grund: </a:t>
            </a:r>
            <a:b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Vermeidung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Redundanz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Autokorrelation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Haus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seinem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aktuellsten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das Clustering </a:t>
            </a:r>
            <a:r>
              <a:rPr lang="en-US" sz="140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eingehen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21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CLEANING – UMSETZUNG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Schlafzimmer-Fehler in Code &amp; Ergebnis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48640" y="157300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Tippfehler korrigieren: 33 → 3 Schlafzimmer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1957052"/>
            <a:ext cx="5440680" cy="1919769"/>
          </a:xfrm>
          <a:prstGeom prst="roundRect">
            <a:avLst>
              <a:gd name="adj" fmla="val 2273"/>
            </a:avLst>
          </a:prstGeom>
          <a:solidFill>
            <a:srgbClr val="1E223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713232" y="2066780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Cleaning: </a:t>
            </a:r>
            <a:r>
              <a:rPr lang="en-US" sz="1100" err="1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offensichtlicher</a:t>
            </a: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Tippfehler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(33 </a:t>
            </a:r>
            <a:r>
              <a:rPr lang="en-US" sz="1100" err="1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Schlafzimmer</a:t>
            </a: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3) </a:t>
            </a:r>
            <a:r>
              <a:rPr lang="en-US" sz="1100" err="1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korrigieren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</a:t>
            </a: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Vorher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:",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["bedrooms"] == 33, "bedrooms"].values)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["bedrooms"] == 33, "bedrooms"] = 3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print("Zeilen </a:t>
            </a: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33 </a:t>
            </a: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Schlafzimmern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danach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:",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</a:t>
            </a:r>
            <a:r>
              <a:rPr lang="en-US" sz="1100" err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["bedrooms"] == 33).sum())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3954780"/>
            <a:ext cx="5440680" cy="484632"/>
          </a:xfrm>
          <a:prstGeom prst="roundRect">
            <a:avLst>
              <a:gd name="adj" fmla="val 4688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43712" y="3954780"/>
            <a:ext cx="5111496" cy="42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Vorher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[33]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Zeilen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33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Schlafzimmern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danach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172200" y="157300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Häuser mit 0 Schlafzimmern entfernen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6172200" y="1957052"/>
            <a:ext cx="5440680" cy="1919769"/>
          </a:xfrm>
          <a:prstGeom prst="roundRect">
            <a:avLst>
              <a:gd name="adj" fmla="val 2273"/>
            </a:avLst>
          </a:prstGeom>
          <a:solidFill>
            <a:srgbClr val="1E223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336792" y="2066780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Cleaning: Häuser mit 0 Schlafzimmern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entfernen (fehlerhafte Datensätze)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print(f"Vorher: {len(df)} Zeilen")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df[df["bedrooms"] &gt; 0].reset_index(drop=True)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print(f"Nachher: {len(df)} Zeilen "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f"({(df['bedrooms'] == 0).sum()} mit 0 "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f"Schlafzimmern verbleibend)")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172200" y="3954780"/>
            <a:ext cx="5440680" cy="484632"/>
          </a:xfrm>
          <a:prstGeom prst="roundRect">
            <a:avLst>
              <a:gd name="adj" fmla="val 4688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367272" y="3954780"/>
            <a:ext cx="5111496" cy="343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Vorher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6 Zeilen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Schlafzimmern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Nachher: 0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Schlafzimmern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verbleibend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</a:t>
            </a:r>
            <a:r>
              <a:rPr lang="en-US" sz="9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 |  </a:t>
            </a:r>
            <a:r>
              <a:rPr lang="en-US" sz="9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Käufersegmentierung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King County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641DFED2-C710-0170-E38A-6EE41B6B3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743" y="4517371"/>
            <a:ext cx="3677163" cy="1845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44BC8CAF-316D-B393-83E7-40EC2E1C89D4}"/>
              </a:ext>
            </a:extLst>
          </p:cNvPr>
          <p:cNvSpPr/>
          <p:nvPr/>
        </p:nvSpPr>
        <p:spPr>
          <a:xfrm>
            <a:off x="4723262" y="5367528"/>
            <a:ext cx="414779" cy="274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8B07B067-3660-8669-A40F-B6F8FDCD4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284" y="4517371"/>
            <a:ext cx="3677163" cy="1845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47579B24-58DD-F3A2-9570-0D2A169C1698}"/>
              </a:ext>
            </a:extLst>
          </p:cNvPr>
          <p:cNvSpPr/>
          <p:nvPr/>
        </p:nvSpPr>
        <p:spPr>
          <a:xfrm>
            <a:off x="7055846" y="5367528"/>
            <a:ext cx="214931" cy="274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CLEANING – UMSETZUNG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Badezimmer-Ausreißer &amp; Wiederverkäufe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Häuser mit 0 Badezimmern entfernen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2414016"/>
          </a:xfrm>
          <a:prstGeom prst="roundRect">
            <a:avLst>
              <a:gd name="adj" fmla="val 2273"/>
            </a:avLst>
          </a:prstGeom>
          <a:solidFill>
            <a:srgbClr val="1E223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713232" y="2029968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Cleaning: Häuser mit 0 Badezimmern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entfernen (fehlerhafte Datensätze)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print(f"Vorher: {len(df)} Zeilen")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df[df["bathrooms"] &gt; 0].reset_index(drop=True)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print(f"Nachher: {len(df)} Zeilen "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f"({(df['bathrooms'] == 0).sum()} mit 0 "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f"Badezimmern verbleibend)")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48640" y="4407408"/>
            <a:ext cx="5440680" cy="469549"/>
          </a:xfrm>
          <a:prstGeom prst="roundRect">
            <a:avLst>
              <a:gd name="adj" fmla="val 4688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13232" y="4480560"/>
            <a:ext cx="5111496" cy="396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Vorher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 Zeilen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Nachher: 0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Badezimmern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verbleibend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6172200" y="153619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Wiederverkäufe: nur jüngsten Verkauf behalten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6172200" y="1920240"/>
            <a:ext cx="5440680" cy="2414016"/>
          </a:xfrm>
          <a:prstGeom prst="roundRect">
            <a:avLst>
              <a:gd name="adj" fmla="val 2273"/>
            </a:avLst>
          </a:prstGeom>
          <a:solidFill>
            <a:srgbClr val="1E223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336792" y="2029968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Wiederverkäufe: pro id nur den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jüngsten Verkauf behalten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n_before = len(df)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(df.sort_values("date")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.drop_duplicates(subset="id", keep="last")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.reset_index(drop=True))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print(f"Vorher: {n_before} Zeilen -&gt; "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f"Nachher: {len(df)} Zeilen ...")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print("Verbleibende doppelte ids:",</a:t>
            </a:r>
            <a:endParaRPr lang="en-US" sz="1100"/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df["id"].duplicated().sum())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172200" y="4407408"/>
            <a:ext cx="5440680" cy="469549"/>
          </a:xfrm>
          <a:prstGeom prst="roundRect">
            <a:avLst>
              <a:gd name="adj" fmla="val 4688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336792" y="4480560"/>
            <a:ext cx="5111496" cy="396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Vorher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177 Zeilen </a:t>
            </a:r>
          </a:p>
          <a:p>
            <a:pPr>
              <a:lnSpc>
                <a:spcPct val="110000"/>
              </a:lnSpc>
            </a:pP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Nachher: 0 Zeilen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gleicher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(177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Wiederverkäufe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err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entfernt</a:t>
            </a:r>
            <a:r>
              <a:rPr lang="en-US" sz="1100" b="1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BC5C7FF-34C7-DEBB-7B79-5B9EDA8B2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008" y="5071639"/>
            <a:ext cx="5361872" cy="682211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C487C73A-64F1-3E6A-BF22-038EDEE64833}"/>
              </a:ext>
            </a:extLst>
          </p:cNvPr>
          <p:cNvSpPr txBox="1"/>
          <p:nvPr/>
        </p:nvSpPr>
        <p:spPr>
          <a:xfrm>
            <a:off x="8675063" y="5555366"/>
            <a:ext cx="513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/>
              <a:t>…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757A5A85-9BAC-EDEF-8CF4-8BAC91D71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008" y="6059732"/>
            <a:ext cx="5361872" cy="386788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9CDC69D2-57C6-CE1D-0A25-403D0380A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765" y="4950109"/>
            <a:ext cx="3696216" cy="1423259"/>
          </a:xfrm>
          <a:prstGeom prst="rect">
            <a:avLst/>
          </a:prstGeom>
        </p:spPr>
      </p:pic>
      <p:sp>
        <p:nvSpPr>
          <p:cNvPr id="29" name="Ellipse 28">
            <a:extLst>
              <a:ext uri="{FF2B5EF4-FFF2-40B4-BE49-F238E27FC236}">
                <a16:creationId xmlns:a16="http://schemas.microsoft.com/office/drawing/2014/main" id="{07F43A76-5730-630B-3328-C8C8422BC869}"/>
              </a:ext>
            </a:extLst>
          </p:cNvPr>
          <p:cNvSpPr/>
          <p:nvPr/>
        </p:nvSpPr>
        <p:spPr>
          <a:xfrm>
            <a:off x="1342765" y="5542656"/>
            <a:ext cx="316785" cy="274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060AA-DE63-956C-EFF9-7A791A27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965C41-B1B6-5A92-9DD9-E21026C9C69D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CLEANING – UMSETZUNG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98D196-A9E6-9E35-10EA-C16FDDA28E57}"/>
              </a:ext>
            </a:extLst>
          </p:cNvPr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Badezimmer-Ausreißer &amp; Wiederverkäufe</a:t>
            </a:r>
            <a:endParaRPr lang="en-US"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D3DDC4-7F9D-CA15-5722-47766462A0D4}"/>
              </a:ext>
            </a:extLst>
          </p:cNvPr>
          <p:cNvSpPr/>
          <p:nvPr/>
        </p:nvSpPr>
        <p:spPr>
          <a:xfrm>
            <a:off x="548640" y="153619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Doppelte</a:t>
            </a: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Häuser</a:t>
            </a: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</a:t>
            </a: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</a:t>
            </a:r>
            <a:endParaRPr lang="en-US" sz="14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0123284-9B55-EE73-005E-D8A6BA5E61EB}"/>
              </a:ext>
            </a:extLst>
          </p:cNvPr>
          <p:cNvSpPr/>
          <p:nvPr/>
        </p:nvSpPr>
        <p:spPr>
          <a:xfrm>
            <a:off x="548640" y="1920240"/>
            <a:ext cx="6182098" cy="859984"/>
          </a:xfrm>
          <a:prstGeom prst="roundRect">
            <a:avLst>
              <a:gd name="adj" fmla="val 2273"/>
            </a:avLst>
          </a:prstGeom>
          <a:solidFill>
            <a:srgbClr val="1E223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D41F67-62BF-9143-5AB8-BF4DF5DB10A9}"/>
              </a:ext>
            </a:extLst>
          </p:cNvPr>
          <p:cNvSpPr/>
          <p:nvPr/>
        </p:nvSpPr>
        <p:spPr>
          <a:xfrm>
            <a:off x="713232" y="2029968"/>
            <a:ext cx="6017506" cy="12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# 2. Gleiches Haus, ohne 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id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/date (dieselbe Immobilie ggf. doppelt erfasst)</a:t>
            </a:r>
            <a:br>
              <a:rPr lang="de-DE" sz="1100">
                <a:solidFill>
                  <a:srgbClr val="9FB6E0"/>
                </a:solidFill>
                <a:latin typeface="Consolas" pitchFamily="34" charset="0"/>
              </a:rPr>
            </a:b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cols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 = 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df.columns.difference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(["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id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", "date"])</a:t>
            </a:r>
            <a:br>
              <a:rPr lang="de-DE" sz="1100">
                <a:solidFill>
                  <a:srgbClr val="9FB6E0"/>
                </a:solidFill>
                <a:latin typeface="Consolas" pitchFamily="34" charset="0"/>
              </a:rPr>
            </a:b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df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[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df.duplicated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(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subset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=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cols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, 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keep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=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False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)].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sort_values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(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by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=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list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(</a:t>
            </a:r>
            <a:r>
              <a:rPr lang="de-DE" sz="1100" err="1">
                <a:solidFill>
                  <a:srgbClr val="9FB6E0"/>
                </a:solidFill>
                <a:latin typeface="Consolas" pitchFamily="34" charset="0"/>
              </a:rPr>
              <a:t>cols</a:t>
            </a:r>
            <a:r>
              <a:rPr lang="de-DE" sz="1100">
                <a:solidFill>
                  <a:srgbClr val="9FB6E0"/>
                </a:solidFill>
                <a:latin typeface="Consolas" pitchFamily="34" charset="0"/>
              </a:rPr>
              <a:t>))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97C4522-F511-7A1B-3BE2-F697571FE4C3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7B8F1E8-B701-6C67-B4F6-A613FBB2A20C}"/>
              </a:ext>
            </a:extLst>
          </p:cNvPr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2A1C2E2-DE4D-938C-04FD-3E848AD3A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5857"/>
            <a:ext cx="10435625" cy="117528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4BB44AB-88D5-1B5C-3D76-B6DF4AD46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3164272"/>
            <a:ext cx="10435626" cy="296205"/>
          </a:xfrm>
          <a:prstGeom prst="rect">
            <a:avLst/>
          </a:prstGeom>
        </p:spPr>
      </p:pic>
      <p:sp>
        <p:nvSpPr>
          <p:cNvPr id="28" name="Shape 19">
            <a:extLst>
              <a:ext uri="{FF2B5EF4-FFF2-40B4-BE49-F238E27FC236}">
                <a16:creationId xmlns:a16="http://schemas.microsoft.com/office/drawing/2014/main" id="{8A2BEB00-87A2-C00E-9E8F-DA1718445871}"/>
              </a:ext>
            </a:extLst>
          </p:cNvPr>
          <p:cNvSpPr/>
          <p:nvPr/>
        </p:nvSpPr>
        <p:spPr>
          <a:xfrm>
            <a:off x="548640" y="4928616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EEF0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E72AF3AE-93BC-1045-8EA0-70BEABDE126C}"/>
              </a:ext>
            </a:extLst>
          </p:cNvPr>
          <p:cNvSpPr/>
          <p:nvPr/>
        </p:nvSpPr>
        <p:spPr>
          <a:xfrm>
            <a:off x="731520" y="4928616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r>
              <a:rPr lang="en-US" sz="17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21.613  →  </a:t>
            </a:r>
            <a:r>
              <a:rPr lang="en-US" sz="17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</a:t>
            </a:r>
            <a:r>
              <a:rPr lang="en-US" sz="1700" b="1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21.420 </a:t>
            </a:r>
            <a:r>
              <a:rPr lang="en-US" sz="17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</a:t>
            </a:r>
            <a:r>
              <a:rPr lang="en-US" sz="17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(−193)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53529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CLEANING-WIRKUNG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Impact: Boxplots im Vergleich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vs. bereinigte Daten für die direkt betroffenen Features bedrooms, bathrooms und grade.</a:t>
            </a:r>
            <a:endParaRPr lang="en-US" sz="1400"/>
          </a:p>
        </p:txBody>
      </p:sp>
      <p:pic>
        <p:nvPicPr>
          <p:cNvPr id="5" name="Image 0" descr="assets/clean_box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110642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extremen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Ausreißer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(33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Schlafzimmer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0 Bade-/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Schlafzimmer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verschwunden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die Boxplots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zeigen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plausible,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kompaktere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Verteilungen</a:t>
            </a: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CLEANING-WIRKUNG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Impact: Histogramme im Vergleich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Dieselben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 </a:t>
            </a:r>
            <a:r>
              <a:rPr lang="en-US" sz="14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Verteilungen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Mittelwert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(rot) und Median (</a:t>
            </a:r>
            <a:r>
              <a:rPr lang="en-US" sz="14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gestrichelt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4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rücken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 Cleaning näher </a:t>
            </a:r>
            <a:r>
              <a:rPr lang="en-US" sz="14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/>
          </a:p>
        </p:txBody>
      </p:sp>
      <p:pic>
        <p:nvPicPr>
          <p:cNvPr id="5" name="Image 0" descr="assets/clean_hist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011680"/>
            <a:ext cx="96012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FEATURE ENGINEERING – UMSETZUNG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Umsetzung im Code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Implementierung aller 13 neuen Features in einem Schritt – direkt auf dem bereinigten DataFrame df.</a:t>
            </a:r>
            <a:endParaRPr lang="en-US" sz="1400"/>
          </a:p>
        </p:txBody>
      </p:sp>
      <p:pic>
        <p:nvPicPr>
          <p:cNvPr id="5" name="Image 0" descr="assets/f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2011680"/>
            <a:ext cx="60807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FEATURE ENGINEERING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 Attribute aus den Rohdaten ableiten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Domänenwissen wird genutzt, um Rohdaten in Merkmale zu überführen, die unsere Zielgruppen-Hypothesen direkt abbilden.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7" name="Image 0" descr="icons/m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4003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2128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distance_to_center</a:t>
            </a:r>
            <a:endParaRPr lang="en-US" sz="1450"/>
          </a:p>
        </p:txBody>
      </p:sp>
      <p:sp>
        <p:nvSpPr>
          <p:cNvPr id="9" name="Text 6"/>
          <p:cNvSpPr/>
          <p:nvPr/>
        </p:nvSpPr>
        <p:spPr>
          <a:xfrm>
            <a:off x="1371600" y="25328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Euklidische Distanz (lat/long) zum Seattle-Zentrum (Space Needle)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1371600" y="2944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Urbanisierungsgrad für Singles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6172200" y="2103120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6355080" y="22860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3" name="Image 1" descr="icons/tre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24003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2128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yard_space_approx</a:t>
            </a:r>
            <a:endParaRPr lang="en-US" sz="1450"/>
          </a:p>
        </p:txBody>
      </p:sp>
      <p:sp>
        <p:nvSpPr>
          <p:cNvPr id="15" name="Text 11"/>
          <p:cNvSpPr/>
          <p:nvPr/>
        </p:nvSpPr>
        <p:spPr>
          <a:xfrm>
            <a:off x="6995160" y="25328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sqft_lot − (sqft_living / floors), negative Werte auf 0 gesetzt</a:t>
            </a:r>
            <a:endParaRPr lang="en-US" sz="1100"/>
          </a:p>
        </p:txBody>
      </p:sp>
      <p:sp>
        <p:nvSpPr>
          <p:cNvPr id="16" name="Text 12"/>
          <p:cNvSpPr/>
          <p:nvPr/>
        </p:nvSpPr>
        <p:spPr>
          <a:xfrm>
            <a:off x="6995160" y="2944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Gartenfläche – relevant für Familien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548640" y="3593592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4"/>
          <p:cNvSpPr/>
          <p:nvPr/>
        </p:nvSpPr>
        <p:spPr>
          <a:xfrm>
            <a:off x="731520" y="3776472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9" name="Image 2" descr="icons/gem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8907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7033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luxury_score</a:t>
            </a:r>
            <a:endParaRPr lang="en-US" sz="1450"/>
          </a:p>
        </p:txBody>
      </p:sp>
      <p:sp>
        <p:nvSpPr>
          <p:cNvPr id="21" name="Text 16"/>
          <p:cNvSpPr/>
          <p:nvPr/>
        </p:nvSpPr>
        <p:spPr>
          <a:xfrm>
            <a:off x="1371600" y="4023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(grade/13) + (condition/5) + (waterfront/3) + (view/4)</a:t>
            </a:r>
            <a:endParaRPr lang="en-US" sz="1100"/>
          </a:p>
        </p:txBody>
      </p:sp>
      <p:sp>
        <p:nvSpPr>
          <p:cNvPr id="22" name="Text 17"/>
          <p:cNvSpPr/>
          <p:nvPr/>
        </p:nvSpPr>
        <p:spPr>
          <a:xfrm>
            <a:off x="1371600" y="4434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Kombinierter Premium-Indikator</a:t>
            </a:r>
            <a:endParaRPr lang="en-US" sz="1200"/>
          </a:p>
        </p:txBody>
      </p:sp>
      <p:sp>
        <p:nvSpPr>
          <p:cNvPr id="23" name="Shape 18"/>
          <p:cNvSpPr/>
          <p:nvPr/>
        </p:nvSpPr>
        <p:spPr>
          <a:xfrm>
            <a:off x="6172200" y="3593592"/>
            <a:ext cx="5440680" cy="1325880"/>
          </a:xfrm>
          <a:prstGeom prst="roundRect">
            <a:avLst>
              <a:gd name="adj" fmla="val 4828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19"/>
          <p:cNvSpPr/>
          <p:nvPr/>
        </p:nvSpPr>
        <p:spPr>
          <a:xfrm>
            <a:off x="6355080" y="3776472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5" name="Image 3" descr="icons/histo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89077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37033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years_since_renovation</a:t>
            </a:r>
            <a:endParaRPr lang="en-US" sz="1450"/>
          </a:p>
        </p:txBody>
      </p:sp>
      <p:sp>
        <p:nvSpPr>
          <p:cNvPr id="27" name="Text 21"/>
          <p:cNvSpPr/>
          <p:nvPr/>
        </p:nvSpPr>
        <p:spPr>
          <a:xfrm>
            <a:off x="6995160" y="4023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2015 − yr_renovated, sonst house_age als Fallback</a:t>
            </a:r>
            <a:endParaRPr lang="en-US" sz="1100"/>
          </a:p>
        </p:txBody>
      </p:sp>
      <p:sp>
        <p:nvSpPr>
          <p:cNvPr id="28" name="Text 22"/>
          <p:cNvSpPr/>
          <p:nvPr/>
        </p:nvSpPr>
        <p:spPr>
          <a:xfrm>
            <a:off x="6995160" y="4434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Sanierungsbedarf / Erstkäufer-Potenzial</a:t>
            </a:r>
            <a:endParaRPr lang="en-US" sz="1200"/>
          </a:p>
        </p:txBody>
      </p:sp>
      <p:sp>
        <p:nvSpPr>
          <p:cNvPr id="41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42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9241199D-ADF0-2D6E-5710-C095E41A3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039469"/>
              </p:ext>
            </p:extLst>
          </p:nvPr>
        </p:nvGraphicFramePr>
        <p:xfrm>
          <a:off x="367284" y="1458704"/>
          <a:ext cx="11457432" cy="4755681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Skalenniveau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Entscheidung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Begründung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price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 (Verhältnis)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F46E5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behalten (→ log)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wichtiger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Größentreiber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zu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H3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sqft_living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 (Verhältnis)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F46E5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behalten (→ log)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wichtiger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Größentreiber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zu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H1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bedrooms / bathrooms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 (diskret)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F46E5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behalten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Trennt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H1 / H2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grade, condition, view, waterfront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ordinal / binär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→ </a:t>
                      </a:r>
                      <a:r>
                        <a:rPr lang="en-US" sz="1000" b="1" err="1">
                          <a:solidFill>
                            <a:srgbClr val="10B981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luxury_score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Qualitätsbündel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,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aus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mehreren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eins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lat, long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→ </a:t>
                      </a:r>
                      <a:r>
                        <a:rPr lang="en-US" sz="1000" b="1" err="1">
                          <a:solidFill>
                            <a:srgbClr val="10B981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distance_to_center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fachliche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Lage-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Kennzahl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zu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H2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sqft_lot, floors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→ </a:t>
                      </a:r>
                      <a:r>
                        <a:rPr lang="en-US" sz="1000" b="1" err="1">
                          <a:solidFill>
                            <a:srgbClr val="10B981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yard_space_approx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Gartenfläche (→ log) für H1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yr_built, yr_renovated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Intervall (Zeit)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→ </a:t>
                      </a:r>
                      <a:r>
                        <a:rPr lang="en-US" sz="1000" b="1" err="1">
                          <a:solidFill>
                            <a:srgbClr val="10B981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Altersfeatures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house_age, years_since_renovation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sqft_above, sqft_basement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err="1">
                          <a:solidFill>
                            <a:srgbClr val="C44E52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entfernt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redundant zu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sqft_living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, nicht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notwendig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für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Hypothesen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sqft_living15, sqft_lot15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err="1">
                          <a:solidFill>
                            <a:srgbClr val="C44E52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entfernt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Nachbarschaftsflächen, ungenutzt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zipcode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nominal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err="1">
                          <a:solidFill>
                            <a:srgbClr val="C44E52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entfernt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Lage via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Distanz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to center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id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nominal (Schlüssel)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err="1">
                          <a:solidFill>
                            <a:srgbClr val="C44E52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entfernt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kein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Informationsgehalt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1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date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Intervall (Zeit)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err="1">
                          <a:solidFill>
                            <a:srgbClr val="C44E52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entfernt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jüngster Verkauf je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Objekt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bei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Wiederverkäufen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bereits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clean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distance_to_center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F46E5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behalten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H2 (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abgeleitet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luxury_score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F46E5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behalten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H3 (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abgeleitet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yard_space_approx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F46E5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behalten (→ log)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H1  (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abgeleitet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) 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years_since_renovation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metrisch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F46E5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behalten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Renovierungs-Aktualität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 (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abgeleitet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)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price_per_sqft, avg_room_size, has_basement, is_renovated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abgeleitet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err="1">
                          <a:solidFill>
                            <a:srgbClr val="64748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nur</a:t>
                      </a:r>
                      <a:r>
                        <a:rPr lang="en-US" sz="1000" b="1">
                          <a:solidFill>
                            <a:srgbClr val="64748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Info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nicht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im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Set -&gt;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folgende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</a:t>
                      </a:r>
                      <a:r>
                        <a:rPr lang="en-US" sz="1000" err="1">
                          <a:solidFill>
                            <a:srgbClr val="1E293B"/>
                          </a:solidFill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Folien</a:t>
                      </a:r>
                      <a:endParaRPr lang="en-US" sz="100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08831FBF-D604-FC8F-BFAE-E2498EF6704B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FEATURE-REDUKTION</a:t>
            </a:r>
            <a:endParaRPr lang="en-US" sz="12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12C6CE-561F-FAA2-8A57-9BADB41ED945}"/>
              </a:ext>
            </a:extLst>
          </p:cNvPr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</a:t>
            </a:r>
            <a:r>
              <a:rPr lang="en-US" sz="3200" b="1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Auswahl</a:t>
            </a: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Übersicht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631975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FEATURE-REDUKTION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 Feature-</a:t>
            </a:r>
            <a:r>
              <a:rPr lang="en-US" sz="3200" b="1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Auswahl</a:t>
            </a: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für das Clustering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13 neuen + bestehenden Features auf 8 zielgruppenrelevante, möglichst unabhängige Attribute reduziert (Feature Subset Selection).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70048" cy="777240"/>
          </a:xfrm>
          <a:prstGeom prst="roundRect">
            <a:avLst>
              <a:gd name="adj" fmla="val 52941"/>
            </a:avLst>
          </a:prstGeom>
          <a:solidFill>
            <a:srgbClr val="4F46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3355848" y="2103120"/>
            <a:ext cx="2670048" cy="777240"/>
          </a:xfrm>
          <a:prstGeom prst="roundRect">
            <a:avLst>
              <a:gd name="adj" fmla="val 52941"/>
            </a:avLst>
          </a:prstGeom>
          <a:solidFill>
            <a:srgbClr val="4F46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3355848" y="210312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sqft_living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6163056" y="2103120"/>
            <a:ext cx="2670048" cy="777240"/>
          </a:xfrm>
          <a:prstGeom prst="roundRect">
            <a:avLst>
              <a:gd name="adj" fmla="val 52941"/>
            </a:avLst>
          </a:prstGeom>
          <a:solidFill>
            <a:srgbClr val="4F46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163056" y="210312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8970264" y="2103120"/>
            <a:ext cx="2670048" cy="777240"/>
          </a:xfrm>
          <a:prstGeom prst="roundRect">
            <a:avLst>
              <a:gd name="adj" fmla="val 52941"/>
            </a:avLst>
          </a:prstGeom>
          <a:solidFill>
            <a:srgbClr val="4F46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8970264" y="210312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548640" y="3044952"/>
            <a:ext cx="2670048" cy="777240"/>
          </a:xfrm>
          <a:prstGeom prst="roundRect">
            <a:avLst>
              <a:gd name="adj" fmla="val 52941"/>
            </a:avLst>
          </a:prstGeom>
          <a:solidFill>
            <a:srgbClr val="4F46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548640" y="3044952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luxury_score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3355848" y="3044952"/>
            <a:ext cx="2670048" cy="777240"/>
          </a:xfrm>
          <a:prstGeom prst="roundRect">
            <a:avLst>
              <a:gd name="adj" fmla="val 52941"/>
            </a:avLst>
          </a:prstGeom>
          <a:solidFill>
            <a:srgbClr val="4F46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3355848" y="3044952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distance_to_center</a:t>
            </a:r>
            <a:endParaRPr lang="en-US" sz="1500"/>
          </a:p>
        </p:txBody>
      </p:sp>
      <p:sp>
        <p:nvSpPr>
          <p:cNvPr id="17" name="Shape 15"/>
          <p:cNvSpPr/>
          <p:nvPr/>
        </p:nvSpPr>
        <p:spPr>
          <a:xfrm>
            <a:off x="6163056" y="3044952"/>
            <a:ext cx="2670048" cy="777240"/>
          </a:xfrm>
          <a:prstGeom prst="roundRect">
            <a:avLst>
              <a:gd name="adj" fmla="val 52941"/>
            </a:avLst>
          </a:prstGeom>
          <a:solidFill>
            <a:srgbClr val="4F46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163056" y="3044952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yard_space_approx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8970264" y="3044952"/>
            <a:ext cx="2670048" cy="777240"/>
          </a:xfrm>
          <a:prstGeom prst="roundRect">
            <a:avLst>
              <a:gd name="adj" fmla="val 52941"/>
            </a:avLst>
          </a:prstGeom>
          <a:solidFill>
            <a:srgbClr val="4F46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8970264" y="3044952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years_since_renovation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Begründung der Auswahl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sqft_living: zentrale Größen- und Wertdimensionen, in jeder Segmentierung relevant</a:t>
            </a:r>
            <a:endParaRPr lang="en-US" sz="13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&amp; bathrooms: direkter Bezug zur Haushaltsgröße (Familien vs. Singles)</a:t>
            </a:r>
            <a:endParaRPr lang="en-US" sz="13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luxury_score, distance_to_center, yard_space_approx, years_since_renovation: kondensieren je 2–4 Rohmerkmale in ein zielgruppenrelevantes Signal</a:t>
            </a:r>
            <a:endParaRPr lang="en-US" sz="13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Ausgeschlossen: redundante / abgeleitete Hilfsgrößen (price_per_sqft_*, bedrooms_per_sqft_living, has_basement, is_renovated, grid_cell_id) – Information bereits in obigen Features enthalten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FEATURE-REDUKTION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Korrelationen der finalen Features</a:t>
            </a:r>
            <a:endParaRPr lang="en-US" sz="3200"/>
          </a:p>
        </p:txBody>
      </p:sp>
      <p:pic>
        <p:nvPicPr>
          <p:cNvPr id="4" name="Image 0" descr="assets/final_cor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35508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600200"/>
            <a:ext cx="4526280" cy="4892040"/>
          </a:xfrm>
          <a:prstGeom prst="roundRect">
            <a:avLst>
              <a:gd name="adj" fmla="val 1616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736092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7360920" y="228600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korreliert stark positiv mit sqft_living, bathrooms und luxury_score – größere, hochwertigere Häuser sind teurer.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distance_to_center korreliert negativ mit price – zentrumsnahe Lagen sind tendenziell teurer (Stichwort Singles/Urban).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years_since_renovation korreliert negativ mit bathrooms und sqft_living – ältere, unrenovierte Häuser sind oft kleiner ausgestattet.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yard_space_approx zeigt nur schwache Korrelationen zu den übrigen Features – eigenständige Information für das Familien-Segment.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Korrelation übersteigt kritische Werte (&gt; 0.9) – keine vollständige Redundanz, alle 8 Features liefern eigenständigen Beitrag.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FEATURE-REDUKTION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Verteilungen der finalen Features vor Transformation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und Histogramme der 8 finalen Features im Rohzustand – Basis für die Entscheidung über Transformationen.</a:t>
            </a:r>
            <a:endParaRPr lang="en-US" sz="1400"/>
          </a:p>
        </p:txBody>
      </p:sp>
      <p:pic>
        <p:nvPicPr>
          <p:cNvPr id="5" name="Image 0" descr="assets/reduced_box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5303520" cy="3931920"/>
          </a:xfrm>
          <a:prstGeom prst="rect">
            <a:avLst/>
          </a:prstGeom>
        </p:spPr>
      </p:pic>
      <p:pic>
        <p:nvPicPr>
          <p:cNvPr id="6" name="Image 1" descr="assets/reduced_hist_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011680"/>
            <a:ext cx="4379976" cy="3931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price, sqft_living und yard_space_approx sind stark rechtsschief mit extremen Ausreißern – Kandidaten für eine Log-Transformation (nächste Folie).</a:t>
            </a:r>
            <a:endParaRPr lang="en-US" sz="120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9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TRANSFORMATION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Schiefe Verteilungen: Log-Transformation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sqft_living und yard_space_approx sind rechtsschief → Log-Transformation reduziert den Einfluss extremer Werte.</a:t>
            </a:r>
            <a:endParaRPr lang="en-US" sz="1400"/>
          </a:p>
        </p:txBody>
      </p:sp>
      <p:pic>
        <p:nvPicPr>
          <p:cNvPr id="5" name="Image 0" descr="assets/skew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6949440" cy="3483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2057400"/>
            <a:ext cx="3977640" cy="4297680"/>
          </a:xfrm>
          <a:prstGeom prst="roundRect">
            <a:avLst>
              <a:gd name="adj" fmla="val 1839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/>
          <p:nvPr/>
        </p:nvSpPr>
        <p:spPr>
          <a:xfrm>
            <a:off x="790956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Schiefe vorher → nachher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790956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79095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4A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4.04</a:t>
            </a:r>
            <a:r>
              <a:rPr lang="en-US" sz="1800">
                <a:solidFill>
                  <a:srgbClr val="C9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r>
              <a:rPr lang="en-US" sz="1800" b="1">
                <a:solidFill>
                  <a:srgbClr val="9CDC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9095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sqft_living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790956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4A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1.47</a:t>
            </a:r>
            <a:r>
              <a:rPr lang="en-US" sz="1800">
                <a:solidFill>
                  <a:srgbClr val="C9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r>
              <a:rPr lang="en-US" sz="1800" b="1">
                <a:solidFill>
                  <a:srgbClr val="9CDC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−0.03</a:t>
            </a:r>
            <a:endParaRPr lang="en-US" sz="1800"/>
          </a:p>
        </p:txBody>
      </p:sp>
      <p:sp>
        <p:nvSpPr>
          <p:cNvPr id="12" name="Text 9"/>
          <p:cNvSpPr/>
          <p:nvPr/>
        </p:nvSpPr>
        <p:spPr>
          <a:xfrm>
            <a:off x="790956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F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yard_space_approx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790956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4A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13.12</a:t>
            </a:r>
            <a:r>
              <a:rPr lang="en-US" sz="1800">
                <a:solidFill>
                  <a:srgbClr val="C9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r>
              <a:rPr lang="en-US" sz="1800" b="1">
                <a:solidFill>
                  <a:srgbClr val="9CDC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0.26</a:t>
            </a:r>
            <a:endParaRPr lang="en-US" sz="1800"/>
          </a:p>
        </p:txBody>
      </p:sp>
      <p:sp>
        <p:nvSpPr>
          <p:cNvPr id="14" name="Text 11"/>
          <p:cNvSpPr/>
          <p:nvPr/>
        </p:nvSpPr>
        <p:spPr>
          <a:xfrm>
            <a:off x="7909560" y="5212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Features sind nach der Log-Transformation nahezu normalverteilt – die für K-Means erwartete Voraussetzung für stabile euklidische Distanzen.</a:t>
            </a:r>
            <a:endParaRPr lang="en-US" sz="125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TRANSFORMATION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Skalierung: Standardisierung (Z-Transformation)</a:t>
            </a:r>
            <a:endParaRPr lang="en-US" sz="3200"/>
          </a:p>
        </p:txBody>
      </p:sp>
      <p:pic>
        <p:nvPicPr>
          <p:cNvPr id="4" name="Image 0" descr="assets/scaled_box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766560" cy="3831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691640"/>
            <a:ext cx="4114800" cy="3831336"/>
          </a:xfrm>
          <a:prstGeom prst="roundRect">
            <a:avLst>
              <a:gd name="adj" fmla="val 1909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3"/>
          <p:cNvSpPr/>
          <p:nvPr/>
        </p:nvSpPr>
        <p:spPr>
          <a:xfrm>
            <a:off x="777240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statt Min-Max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7772400" y="23774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8 finalen Features werden z-transformiert: Mittelwert = 0, Standardabweichung = 1.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Notwendig, da K-Means und PCA auf euklidischen Distanzen basieren – ohne Skalierung würde price jedes andere Merkmal überlagern.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Min-Max-Scaling bewusst nicht gewählt: Luxus-Ausreißer würden den Wertebereich extrem stauchen und die Spreizung der „normalen“ Häuser verlieren.</a:t>
            </a:r>
            <a:endParaRPr lang="en-US" sz="125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868680" y="566928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Alle Features liegen jetzt auf vergleichbarer Skala (z-Scores) – Boxplots zeigen ähnliche Streubreiten, Ausreißer bleiben sichtbar, aber dominieren nicht mehr die Distanzberechnung.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TRANSFORMATION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 Verteilungen nach Log- &amp; Z-Transformation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97680" cy="4709160"/>
          </a:xfrm>
          <a:prstGeom prst="roundRect">
            <a:avLst>
              <a:gd name="adj" fmla="val 1702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Angewendete Transformationen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log_price = log(price)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log_sqft_living = log(sqft_living)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log_yard_space_approx = log1p(yard_space_approx)  (log1p wegen Werten = 0)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Effekt: Verteilungen werden deutlich symmetrischer und näher an einer Normalverteilung – Voraussetzung für stabile euklidische Distanzen im K-Means.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bedrooms, bathrooms, distance_to_center und years_since_renovation behalten ihre ursprüngliche Skala – ihre Verteilungen sind moderat genug und tragen relevante Information in Originalform. Anschließend werden alle 8 Features mit dem StandardScaler z-transformiert.</a:t>
            </a:r>
            <a:endParaRPr lang="en-US" sz="1200"/>
          </a:p>
        </p:txBody>
      </p:sp>
      <p:pic>
        <p:nvPicPr>
          <p:cNvPr id="8" name="Image 0" descr="assets/scaled_hist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63040"/>
            <a:ext cx="6629400" cy="4983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– Meilenstein 3  |  Käufersegmentierung King County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9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Bereit für die Modellierung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9F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Datensatz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21.420 </a:t>
            </a:r>
            <a:r>
              <a:rPr lang="en-US" sz="14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bereinigte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Verkäufe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8 finale, z-</a:t>
            </a:r>
            <a:r>
              <a:rPr lang="en-US" sz="14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transformierte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99432" y="228600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4873752" y="25603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9F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Methodik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873752" y="315468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→ Feature Engineering → Reduktion → Log-Transformation → Standardisierung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8375904" y="228600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2E3A6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8650224" y="25603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9F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Nächster Schritt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8650224" y="315468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</a:t>
            </a:r>
            <a:r>
              <a:rPr lang="en-US" sz="14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Identifikation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</a:t>
            </a:r>
            <a:r>
              <a:rPr lang="en-US" sz="14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Käufersegmente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Singles, </a:t>
            </a:r>
            <a:r>
              <a:rPr lang="en-US" sz="14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Luxuskäufer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die Aufmerksamkeit!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Microsoft Office PowerPoint</Application>
  <PresentationFormat>Widescreen</PresentationFormat>
  <Slides>20</Slides>
  <Notes>18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2026-06-13T08:18:14Z</dcterms:created>
  <dcterms:modified xsi:type="dcterms:W3CDTF">2026-07-21T10:48:58Z</dcterms:modified>
</cp:coreProperties>
</file>